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6400800" cy="6400800"/>
          </a:xfrm>
          <a:prstGeom prst="ellipse">
            <a:avLst/>
          </a:prstGeom>
          <a:solidFill>
            <a:srgbClr val="16213E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50" kern="0" dirty="0">
                <a:solidFill>
                  <a:srgbClr val="A9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جامعة دمشق  —  كلية الهندسة المعلوماتية  —  قسم هندسة البرمجيات ونظم المعلومات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نظام إدارة الشحن الذكي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76148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spc="150" kern="0" dirty="0">
                <a:solidFill>
                  <a:srgbClr val="B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Freight Management System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31012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أفضل سائق لأفضل شحنة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169768" y="4160520"/>
            <a:ext cx="5852160" cy="1234440"/>
          </a:xfrm>
          <a:prstGeom prst="roundRect">
            <a:avLst>
              <a:gd name="adj" fmla="val 5926"/>
            </a:avLst>
          </a:prstGeom>
          <a:solidFill>
            <a:srgbClr val="16213E">
              <a:alpha val="80000"/>
            </a:srgbClr>
          </a:solidFill>
          <a:ln w="12700">
            <a:solidFill>
              <a:srgbClr val="1F2E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69768" y="42885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إعداد الطلاب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69768" y="4544568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محمد نورالدين الحموي   —   محمد مصطفى الزعبي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169768" y="498348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بإشراف أعضاء الهيئة التدريسية — قسم هندسة البرمجيات ونظم المعلومات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58064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آب 2026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81248" y="6419088"/>
            <a:ext cx="-2834640" cy="420624"/>
          </a:xfrm>
          <a:prstGeom prst="line">
            <a:avLst/>
          </a:prstGeom>
          <a:noFill/>
          <a:ln w="12700">
            <a:solidFill>
              <a:srgbClr val="1F2E52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84168" y="6419088"/>
            <a:ext cx="-2267712" cy="420624"/>
          </a:xfrm>
          <a:prstGeom prst="line">
            <a:avLst/>
          </a:prstGeom>
          <a:noFill/>
          <a:ln w="12700">
            <a:solidFill>
              <a:srgbClr val="1F2E52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87088" y="6419088"/>
            <a:ext cx="-1700784" cy="420624"/>
          </a:xfrm>
          <a:prstGeom prst="line">
            <a:avLst/>
          </a:prstGeom>
          <a:noFill/>
          <a:ln w="12700">
            <a:solidFill>
              <a:srgbClr val="1F2E52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90008" y="6419088"/>
            <a:ext cx="-1133856" cy="420624"/>
          </a:xfrm>
          <a:prstGeom prst="line">
            <a:avLst/>
          </a:prstGeom>
          <a:noFill/>
          <a:ln w="12700">
            <a:solidFill>
              <a:srgbClr val="1F2E52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92928" y="6419088"/>
            <a:ext cx="-566928" cy="420624"/>
          </a:xfrm>
          <a:prstGeom prst="line">
            <a:avLst/>
          </a:prstGeom>
          <a:noFill/>
          <a:ln w="12700">
            <a:solidFill>
              <a:srgbClr val="1F2E52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5848" y="6419088"/>
            <a:ext cx="0" cy="420624"/>
          </a:xfrm>
          <a:prstGeom prst="line">
            <a:avLst/>
          </a:prstGeom>
          <a:noFill/>
          <a:ln w="12700">
            <a:solidFill>
              <a:srgbClr val="1F2E52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98768" y="6419088"/>
            <a:ext cx="566928" cy="420624"/>
          </a:xfrm>
          <a:prstGeom prst="line">
            <a:avLst/>
          </a:prstGeom>
          <a:noFill/>
          <a:ln w="12700">
            <a:solidFill>
              <a:srgbClr val="1F2E52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01688" y="6419088"/>
            <a:ext cx="1133856" cy="420624"/>
          </a:xfrm>
          <a:prstGeom prst="line">
            <a:avLst/>
          </a:prstGeom>
          <a:noFill/>
          <a:ln w="12700">
            <a:solidFill>
              <a:srgbClr val="1F2E52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04608" y="6419088"/>
            <a:ext cx="1700784" cy="420624"/>
          </a:xfrm>
          <a:prstGeom prst="line">
            <a:avLst/>
          </a:prstGeom>
          <a:noFill/>
          <a:ln w="12700">
            <a:solidFill>
              <a:srgbClr val="1F2E52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07528" y="6419088"/>
            <a:ext cx="2267712" cy="420624"/>
          </a:xfrm>
          <a:prstGeom prst="line">
            <a:avLst/>
          </a:prstGeom>
          <a:noFill/>
          <a:ln w="12700">
            <a:solidFill>
              <a:srgbClr val="1F2E52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10448" y="6419088"/>
            <a:ext cx="2834640" cy="420624"/>
          </a:xfrm>
          <a:prstGeom prst="line">
            <a:avLst/>
          </a:prstGeom>
          <a:noFill/>
          <a:ln w="12700">
            <a:solidFill>
              <a:srgbClr val="1F2E52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7470" y="6152083"/>
            <a:ext cx="816102" cy="388620"/>
          </a:xfrm>
          <a:prstGeom prst="roundRect">
            <a:avLst>
              <a:gd name="adj" fmla="val 9412"/>
            </a:avLst>
          </a:prstGeom>
          <a:solidFill>
            <a:srgbClr val="B8962E"/>
          </a:solidFill>
          <a:ln/>
        </p:spPr>
      </p:sp>
      <p:sp>
        <p:nvSpPr>
          <p:cNvPr id="24" name="Shape 22"/>
          <p:cNvSpPr/>
          <p:nvPr/>
        </p:nvSpPr>
        <p:spPr>
          <a:xfrm>
            <a:off x="6134710" y="6012180"/>
            <a:ext cx="427482" cy="528523"/>
          </a:xfrm>
          <a:prstGeom prst="roundRect">
            <a:avLst>
              <a:gd name="adj" fmla="val 8556"/>
            </a:avLst>
          </a:prstGeom>
          <a:solidFill>
            <a:srgbClr val="D4AF37"/>
          </a:solidFill>
          <a:ln/>
        </p:spPr>
      </p:sp>
      <p:sp>
        <p:nvSpPr>
          <p:cNvPr id="25" name="Shape 23"/>
          <p:cNvSpPr/>
          <p:nvPr/>
        </p:nvSpPr>
        <p:spPr>
          <a:xfrm>
            <a:off x="5497373" y="6509614"/>
            <a:ext cx="186538" cy="18653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6" name="Shape 24"/>
          <p:cNvSpPr/>
          <p:nvPr/>
        </p:nvSpPr>
        <p:spPr>
          <a:xfrm>
            <a:off x="5547893" y="6560134"/>
            <a:ext cx="85496" cy="85496"/>
          </a:xfrm>
          <a:prstGeom prst="ellipse">
            <a:avLst/>
          </a:prstGeom>
          <a:solidFill>
            <a:srgbClr val="B8962E"/>
          </a:solidFill>
          <a:ln/>
        </p:spPr>
      </p:sp>
      <p:sp>
        <p:nvSpPr>
          <p:cNvPr id="27" name="Shape 25"/>
          <p:cNvSpPr/>
          <p:nvPr/>
        </p:nvSpPr>
        <p:spPr>
          <a:xfrm>
            <a:off x="6274613" y="6509614"/>
            <a:ext cx="186538" cy="18653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8" name="Shape 26"/>
          <p:cNvSpPr/>
          <p:nvPr/>
        </p:nvSpPr>
        <p:spPr>
          <a:xfrm>
            <a:off x="6325133" y="6560134"/>
            <a:ext cx="85496" cy="85496"/>
          </a:xfrm>
          <a:prstGeom prst="ellipse">
            <a:avLst/>
          </a:prstGeom>
          <a:solidFill>
            <a:srgbClr val="B8962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الدافع وراء المشروع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تحديات النقل التقليدي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4297680" cy="434340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039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نقطة الانطلاق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03320" y="2350008"/>
            <a:ext cx="777240" cy="777240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7" name="Shape 5"/>
          <p:cNvSpPr/>
          <p:nvPr/>
        </p:nvSpPr>
        <p:spPr>
          <a:xfrm>
            <a:off x="3830787" y="2396642"/>
            <a:ext cx="522305" cy="683971"/>
          </a:xfrm>
          <a:prstGeom prst="roundRect">
            <a:avLst>
              <a:gd name="adj" fmla="val 525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67582" y="2564526"/>
            <a:ext cx="87051" cy="87051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Shape 7"/>
          <p:cNvSpPr/>
          <p:nvPr/>
        </p:nvSpPr>
        <p:spPr>
          <a:xfrm>
            <a:off x="4141683" y="2564526"/>
            <a:ext cx="87051" cy="87051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Shape 8"/>
          <p:cNvSpPr/>
          <p:nvPr/>
        </p:nvSpPr>
        <p:spPr>
          <a:xfrm>
            <a:off x="3967582" y="2751064"/>
            <a:ext cx="87051" cy="87051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1" name="Shape 9"/>
          <p:cNvSpPr/>
          <p:nvPr/>
        </p:nvSpPr>
        <p:spPr>
          <a:xfrm>
            <a:off x="4141683" y="2751064"/>
            <a:ext cx="87051" cy="87051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2" name="Shape 10"/>
          <p:cNvSpPr/>
          <p:nvPr/>
        </p:nvSpPr>
        <p:spPr>
          <a:xfrm>
            <a:off x="3967582" y="2937601"/>
            <a:ext cx="87051" cy="87051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141683" y="2937601"/>
            <a:ext cx="87051" cy="87051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3317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شركة الباترانس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31520" y="27523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نقل برّي — الإمارات العربية المتحدة  ·  منذ 2003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33375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انطلق المشروع من مشكلة تشغيلية حقيقية عاشها أحد أعضاء الفريق (محمد الزعبي) عن قرب، خلال 13 عامًا من العمل في الشركة — وليس من فكرة نظرية.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97680" y="4636008"/>
            <a:ext cx="118872" cy="118872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4805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مشاركة مباشرة في التواصل مع العملاء والسائقين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97680" y="5074920"/>
            <a:ext cx="118872" cy="118872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91947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متابعة يومية للشحنات والأسعار والمستندات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97680" y="5513832"/>
            <a:ext cx="118872" cy="118872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35838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مسارات داخل الإمارات وأخرى عابرة للحدود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534095" y="1783080"/>
            <a:ext cx="457200" cy="457200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24" name="Shape 22"/>
          <p:cNvSpPr/>
          <p:nvPr/>
        </p:nvSpPr>
        <p:spPr>
          <a:xfrm>
            <a:off x="8662843" y="1833372"/>
            <a:ext cx="199705" cy="356616"/>
          </a:xfrm>
          <a:prstGeom prst="roundRect">
            <a:avLst>
              <a:gd name="adj" fmla="val 54945"/>
            </a:avLst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12769" y="2125797"/>
            <a:ext cx="99852" cy="0"/>
          </a:xfrm>
          <a:prstGeom prst="line">
            <a:avLst/>
          </a:prstGeom>
          <a:noFill/>
          <a:ln w="2540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55887" y="178308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تشتّت التواصل وغياب سجل مركزي للقرارات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379415" y="1783080"/>
            <a:ext cx="457200" cy="457200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28" name="Shape 26"/>
          <p:cNvSpPr/>
          <p:nvPr/>
        </p:nvSpPr>
        <p:spPr>
          <a:xfrm>
            <a:off x="5465369" y="1815541"/>
            <a:ext cx="267462" cy="267462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72206" y="2075871"/>
            <a:ext cx="106985" cy="106985"/>
          </a:xfrm>
          <a:prstGeom prst="line">
            <a:avLst/>
          </a:prstGeom>
          <a:noFill/>
          <a:ln w="31750">
            <a:solidFill>
              <a:srgbClr val="0B1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01207" y="1783080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اختيار السائق يعتمد على خبرة موظف لا على قواعد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534095" y="2862072"/>
            <a:ext cx="457200" cy="457200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32" name="Shape 30"/>
          <p:cNvSpPr/>
          <p:nvPr/>
        </p:nvSpPr>
        <p:spPr>
          <a:xfrm rot="2700000">
            <a:off x="8566556" y="2894533"/>
            <a:ext cx="392278" cy="392278"/>
          </a:xfrm>
          <a:prstGeom prst="roundRect">
            <a:avLst>
              <a:gd name="adj" fmla="val 6993"/>
            </a:avLst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34166" y="2940893"/>
            <a:ext cx="57059" cy="57059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4" name="Text 32"/>
          <p:cNvSpPr/>
          <p:nvPr/>
        </p:nvSpPr>
        <p:spPr>
          <a:xfrm>
            <a:off x="9155887" y="2862072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تسعير متغيّر لا تكفيه قائمة أسعار ثابتة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379415" y="2862072"/>
            <a:ext cx="457200" cy="457200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36" name="Shape 34"/>
          <p:cNvSpPr/>
          <p:nvPr/>
        </p:nvSpPr>
        <p:spPr>
          <a:xfrm rot="10800000">
            <a:off x="5447538" y="2894533"/>
            <a:ext cx="320954" cy="374447"/>
          </a:xfrm>
          <a:prstGeom prst="pentagon">
            <a:avLst/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16200000">
            <a:off x="5543824" y="3072841"/>
            <a:ext cx="128382" cy="78456"/>
          </a:xfrm>
          <a:prstGeom prst="chevron">
            <a:avLst/>
          </a:prstGeom>
          <a:solidFill>
            <a:srgbClr val="0B1F3A"/>
          </a:solidFill>
          <a:ln/>
        </p:spPr>
      </p:sp>
      <p:sp>
        <p:nvSpPr>
          <p:cNvPr id="38" name="Text 36"/>
          <p:cNvSpPr/>
          <p:nvPr/>
        </p:nvSpPr>
        <p:spPr>
          <a:xfrm>
            <a:off x="6001207" y="2862072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لا آلية مركزية لمراقبة صلاحية الوثائق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534095" y="3941064"/>
            <a:ext cx="457200" cy="457200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40" name="Shape 38"/>
          <p:cNvSpPr/>
          <p:nvPr/>
        </p:nvSpPr>
        <p:spPr>
          <a:xfrm rot="10800000">
            <a:off x="8593303" y="3949454"/>
            <a:ext cx="338785" cy="440421"/>
          </a:xfrm>
          <a:prstGeom prst="teardrop">
            <a:avLst/>
          </a:prstGeom>
          <a:solidFill>
            <a:srgbClr val="0B1F3A"/>
          </a:solidFill>
          <a:ln/>
        </p:spPr>
      </p:sp>
      <p:sp>
        <p:nvSpPr>
          <p:cNvPr id="41" name="Shape 39"/>
          <p:cNvSpPr/>
          <p:nvPr/>
        </p:nvSpPr>
        <p:spPr>
          <a:xfrm>
            <a:off x="8715265" y="4034150"/>
            <a:ext cx="94860" cy="948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9155887" y="394106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ضعف الشفافية التشغيلية أثناء الرحلة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379415" y="3941064"/>
            <a:ext cx="457200" cy="457200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44" name="Shape 42"/>
          <p:cNvSpPr/>
          <p:nvPr/>
        </p:nvSpPr>
        <p:spPr>
          <a:xfrm rot="2700000">
            <a:off x="5411876" y="3973525"/>
            <a:ext cx="392278" cy="392278"/>
          </a:xfrm>
          <a:prstGeom prst="roundRect">
            <a:avLst>
              <a:gd name="adj" fmla="val 6993"/>
            </a:avLst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79486" y="4019885"/>
            <a:ext cx="57059" cy="57059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6" name="Text 44"/>
          <p:cNvSpPr/>
          <p:nvPr/>
        </p:nvSpPr>
        <p:spPr>
          <a:xfrm>
            <a:off x="6001207" y="394106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لا فصل واضح بين سعر الشركة وسعر السائق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8534095" y="5020056"/>
            <a:ext cx="457200" cy="457200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48" name="Shape 46"/>
          <p:cNvSpPr/>
          <p:nvPr/>
        </p:nvSpPr>
        <p:spPr>
          <a:xfrm>
            <a:off x="8566556" y="5106010"/>
            <a:ext cx="392278" cy="285293"/>
          </a:xfrm>
          <a:prstGeom prst="roundRect">
            <a:avLst>
              <a:gd name="adj" fmla="val 19231"/>
            </a:avLst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05489" y="5220127"/>
            <a:ext cx="78456" cy="7845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0" name="Text 48"/>
          <p:cNvSpPr/>
          <p:nvPr/>
        </p:nvSpPr>
        <p:spPr>
          <a:xfrm>
            <a:off x="9155887" y="5020056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صعوبة إدارة الأرصدة والتسويات الماليّة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5379415" y="5020056"/>
            <a:ext cx="457200" cy="457200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52" name="Shape 50"/>
          <p:cNvSpPr/>
          <p:nvPr/>
        </p:nvSpPr>
        <p:spPr>
          <a:xfrm>
            <a:off x="5483200" y="5070348"/>
            <a:ext cx="249631" cy="356616"/>
          </a:xfrm>
          <a:prstGeom prst="roundRect">
            <a:avLst>
              <a:gd name="adj" fmla="val 10989"/>
            </a:avLst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536692" y="5184465"/>
            <a:ext cx="142646" cy="0"/>
          </a:xfrm>
          <a:prstGeom prst="line">
            <a:avLst/>
          </a:prstGeom>
          <a:noFill/>
          <a:ln w="22225">
            <a:solidFill>
              <a:srgbClr val="0B1F3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36692" y="5255788"/>
            <a:ext cx="142646" cy="0"/>
          </a:xfrm>
          <a:prstGeom prst="line">
            <a:avLst/>
          </a:prstGeom>
          <a:noFill/>
          <a:ln w="22225">
            <a:solidFill>
              <a:srgbClr val="0B1F3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36692" y="5327112"/>
            <a:ext cx="142646" cy="0"/>
          </a:xfrm>
          <a:prstGeom prst="line">
            <a:avLst/>
          </a:prstGeom>
          <a:noFill/>
          <a:ln w="22225">
            <a:solidFill>
              <a:srgbClr val="0B1F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01207" y="5020056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غياب تقارير تدعم قرار الإدارة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منصّة واحدة تربط الجميع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017520" y="3017520"/>
            <a:ext cx="6309360" cy="0"/>
          </a:xfrm>
          <a:prstGeom prst="line">
            <a:avLst/>
          </a:prstGeom>
          <a:noFill/>
          <a:ln w="38100">
            <a:solidFill>
              <a:srgbClr val="1F2E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06840" y="2331720"/>
            <a:ext cx="1371600" cy="1371600"/>
          </a:xfrm>
          <a:prstGeom prst="ellipse">
            <a:avLst/>
          </a:prstGeom>
          <a:solidFill>
            <a:srgbClr val="16213E"/>
          </a:solidFill>
          <a:ln w="25400">
            <a:solidFill>
              <a:srgbClr val="1F2E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06840" y="27614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الشركة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00684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تُنشئ الشحنة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212080" y="2148840"/>
            <a:ext cx="1737360" cy="1737360"/>
          </a:xfrm>
          <a:prstGeom prst="ellipse">
            <a:avLst/>
          </a:prstGeom>
          <a:solidFill>
            <a:srgbClr val="D4AF37"/>
          </a:solidFill>
          <a:ln w="25400">
            <a:solidFill>
              <a:srgbClr val="B896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27614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21208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المنصّة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83080" y="2331720"/>
            <a:ext cx="1371600" cy="1371600"/>
          </a:xfrm>
          <a:prstGeom prst="ellipse">
            <a:avLst/>
          </a:prstGeom>
          <a:solidFill>
            <a:srgbClr val="16213E"/>
          </a:solidFill>
          <a:ln w="25400">
            <a:solidFill>
              <a:srgbClr val="1F2E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83080" y="27614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السائق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8308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ينفّذ الرحلة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11784" y="507492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15" name="Text 13"/>
          <p:cNvSpPr/>
          <p:nvPr/>
        </p:nvSpPr>
        <p:spPr>
          <a:xfrm>
            <a:off x="1011784" y="5074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إنشاء الشحنة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096616" y="507492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3096616" y="5074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التسعير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81448" y="507492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19" name="Text 17"/>
          <p:cNvSpPr/>
          <p:nvPr/>
        </p:nvSpPr>
        <p:spPr>
          <a:xfrm>
            <a:off x="5181448" y="5074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المطابقة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66280" y="507492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1" name="Text 19"/>
          <p:cNvSpPr/>
          <p:nvPr/>
        </p:nvSpPr>
        <p:spPr>
          <a:xfrm>
            <a:off x="7266280" y="5074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التتبّع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351112" y="507492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3" name="Text 21"/>
          <p:cNvSpPr/>
          <p:nvPr/>
        </p:nvSpPr>
        <p:spPr>
          <a:xfrm>
            <a:off x="9351112" y="5074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العمليات المالية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دورة العمل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المستخدمون ومسار الشحنة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14055" y="16916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42655" y="18470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الشركة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42655" y="2212848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تنشئ طلبات الشحن وتتابع تنفيذها من الطلب حتى التسليم.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83887" y="16916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12487" y="18470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السائق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12487" y="2212848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يستقبل العروض المناسبة، يقبلها، وينفّذ الرحلة مرحلة بمرحلة.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53719" y="16916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82319" y="18470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إدارة التطبيق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2319" y="2212848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مسؤول عام بكامل الصلاحيات، ومسؤولون فرعيون بصلاحيات محدّدة حسب الحاجة.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325880" y="4233672"/>
            <a:ext cx="9539935" cy="0"/>
          </a:xfrm>
          <a:prstGeom prst="line">
            <a:avLst/>
          </a:prstGeom>
          <a:noFill/>
          <a:ln w="25400">
            <a:solidFill>
              <a:srgbClr val="E4E7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97135" y="45994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إنشاء الشحنة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609783" y="3977640"/>
            <a:ext cx="512064" cy="512064"/>
          </a:xfrm>
          <a:prstGeom prst="ellipse">
            <a:avLst/>
          </a:prstGeom>
          <a:solidFill>
            <a:srgbClr val="D4AF37"/>
          </a:solidFill>
          <a:ln w="19050">
            <a:solidFill>
              <a:srgbClr val="B896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9783" y="3977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609783" y="3977640"/>
            <a:ext cx="512064" cy="512064"/>
          </a:xfrm>
          <a:prstGeom prst="ellipse">
            <a:avLst/>
          </a:prstGeom>
          <a:solidFill>
            <a:srgbClr val="0B1F3A"/>
          </a:solidFill>
          <a:ln w="19050">
            <a:solidFill>
              <a:srgbClr val="1F2E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9783" y="3977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07146" y="45994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التسعير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19794" y="3977640"/>
            <a:ext cx="512064" cy="512064"/>
          </a:xfrm>
          <a:prstGeom prst="ellipse">
            <a:avLst/>
          </a:prstGeom>
          <a:solidFill>
            <a:srgbClr val="D4AF37"/>
          </a:solidFill>
          <a:ln w="19050">
            <a:solidFill>
              <a:srgbClr val="B896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19794" y="3977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019794" y="3977640"/>
            <a:ext cx="512064" cy="512064"/>
          </a:xfrm>
          <a:prstGeom prst="ellipse">
            <a:avLst/>
          </a:prstGeom>
          <a:solidFill>
            <a:srgbClr val="0B1F3A"/>
          </a:solidFill>
          <a:ln w="19050">
            <a:solidFill>
              <a:srgbClr val="1F2E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19794" y="3977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17157" y="45994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النشر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29805" y="3977640"/>
            <a:ext cx="512064" cy="512064"/>
          </a:xfrm>
          <a:prstGeom prst="ellipse">
            <a:avLst/>
          </a:prstGeom>
          <a:solidFill>
            <a:srgbClr val="D4AF37"/>
          </a:solidFill>
          <a:ln w="19050">
            <a:solidFill>
              <a:srgbClr val="B896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29805" y="3977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429805" y="3977640"/>
            <a:ext cx="512064" cy="512064"/>
          </a:xfrm>
          <a:prstGeom prst="ellipse">
            <a:avLst/>
          </a:prstGeom>
          <a:solidFill>
            <a:srgbClr val="0B1F3A"/>
          </a:solidFill>
          <a:ln w="19050">
            <a:solidFill>
              <a:srgbClr val="1F2E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29805" y="3977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227168" y="45994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المطابقة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39816" y="3977640"/>
            <a:ext cx="512064" cy="512064"/>
          </a:xfrm>
          <a:prstGeom prst="ellipse">
            <a:avLst/>
          </a:prstGeom>
          <a:solidFill>
            <a:srgbClr val="D4AF37"/>
          </a:solidFill>
          <a:ln w="19050">
            <a:solidFill>
              <a:srgbClr val="B896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39816" y="3977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839816" y="3977640"/>
            <a:ext cx="512064" cy="512064"/>
          </a:xfrm>
          <a:prstGeom prst="ellipse">
            <a:avLst/>
          </a:prstGeom>
          <a:solidFill>
            <a:srgbClr val="0B1F3A"/>
          </a:solidFill>
          <a:ln w="19050">
            <a:solidFill>
              <a:srgbClr val="1F2E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39816" y="3977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637178" y="45994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القبول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49826" y="3977640"/>
            <a:ext cx="512064" cy="512064"/>
          </a:xfrm>
          <a:prstGeom prst="ellipse">
            <a:avLst/>
          </a:prstGeom>
          <a:solidFill>
            <a:srgbClr val="D4AF37"/>
          </a:solidFill>
          <a:ln w="19050">
            <a:solidFill>
              <a:srgbClr val="B896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49826" y="3977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249826" y="3977640"/>
            <a:ext cx="512064" cy="512064"/>
          </a:xfrm>
          <a:prstGeom prst="ellipse">
            <a:avLst/>
          </a:prstGeom>
          <a:solidFill>
            <a:srgbClr val="0B1F3A"/>
          </a:solidFill>
          <a:ln w="19050">
            <a:solidFill>
              <a:srgbClr val="1F2E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49826" y="3977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2047189" y="45994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الرحلة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659837" y="3977640"/>
            <a:ext cx="512064" cy="512064"/>
          </a:xfrm>
          <a:prstGeom prst="ellipse">
            <a:avLst/>
          </a:prstGeom>
          <a:solidFill>
            <a:srgbClr val="D4AF37"/>
          </a:solidFill>
          <a:ln w="19050">
            <a:solidFill>
              <a:srgbClr val="B896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59837" y="3977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2659837" y="3977640"/>
            <a:ext cx="512064" cy="512064"/>
          </a:xfrm>
          <a:prstGeom prst="ellipse">
            <a:avLst/>
          </a:prstGeom>
          <a:solidFill>
            <a:srgbClr val="0B1F3A"/>
          </a:solidFill>
          <a:ln w="19050">
            <a:solidFill>
              <a:srgbClr val="1F2E5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59837" y="3977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457200" y="45994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التسليم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69848" y="3977640"/>
            <a:ext cx="512064" cy="512064"/>
          </a:xfrm>
          <a:prstGeom prst="ellipse">
            <a:avLst/>
          </a:prstGeom>
          <a:solidFill>
            <a:srgbClr val="D4AF37"/>
          </a:solidFill>
          <a:ln w="19050">
            <a:solidFill>
              <a:srgbClr val="B8962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69848" y="3977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99" dur="indefinite" restart="never" nodeType="tmRoot">
          <p:childTnLst>
            <p:seq concat="0" nextAc="seek">
              <p:cTn id="200" dur="indefinite" nodeType="mainSeq">
                <p:childTnLst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1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5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08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12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14" presetID="10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16" presetID="10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18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2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5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9" presetID="10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31" presetID="10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3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5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38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2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4" presetID="10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46" presetID="10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48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5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5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9" presetID="10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61" presetID="10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6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5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68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7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72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74" presetID="10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76" presetID="10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78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8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5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9" presetID="10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91" presetID="10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9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95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9" grpId="0"/>
      <p:bldP spid="20" grpId="0"/>
      <p:bldP spid="21" grpId="0"/>
      <p:bldP spid="17" grpId="0"/>
      <p:bldP spid="18" grpId="0"/>
      <p:bldP spid="24" grpId="0"/>
      <p:bldP spid="25" grpId="0"/>
      <p:bldP spid="26" grpId="0"/>
      <p:bldP spid="22" grpId="0"/>
      <p:bldP spid="23" grpId="0"/>
      <p:bldP spid="29" grpId="0"/>
      <p:bldP spid="30" grpId="0"/>
      <p:bldP spid="31" grpId="0"/>
      <p:bldP spid="27" grpId="0"/>
      <p:bldP spid="28" grpId="0"/>
      <p:bldP spid="34" grpId="0"/>
      <p:bldP spid="35" grpId="0"/>
      <p:bldP spid="36" grpId="0"/>
      <p:bldP spid="32" grpId="0"/>
      <p:bldP spid="33" grpId="0"/>
      <p:bldP spid="39" grpId="0"/>
      <p:bldP spid="40" grpId="0"/>
      <p:bldP spid="41" grpId="0"/>
      <p:bldP spid="37" grpId="0"/>
      <p:bldP spid="38" grpId="0"/>
      <p:bldP spid="44" grpId="0"/>
      <p:bldP spid="45" grpId="0"/>
      <p:bldP spid="46" grpId="0"/>
      <p:bldP spid="42" grpId="0"/>
      <p:bldP spid="4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أهم التحديات التقنية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الأسئلة التي حدّدت تصميم النظام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2615" y="182880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865815" y="2084832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10865815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96935" y="26974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كيف نحدّد سعرًا عادلًا ومناسبًا لكل رحلة؟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37583" y="182880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80783" y="2084832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7180783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11903" y="26974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كيف نختار السائق الأنسب من بين عشرات السائقين؟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52551" y="182880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95751" y="2084832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3495751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6871" y="26974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كيف نتحقق من أهلية السائق والشاحنة قبل أي مطابقة؟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22615" y="39776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865815" y="4233672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10865815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96935" y="48463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كيف نتابع الرحلة لحظة بلحظة؟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437583" y="39776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80783" y="4233672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7180783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11903" y="48463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كيف نحافظ على سلامة العمليات المالية بين الأطراف؟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التسعير الذكي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كيف يقترح النظام السعر؟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68335" y="187452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74375" y="2171700"/>
            <a:ext cx="548640" cy="548640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6" name="Shape 4"/>
          <p:cNvSpPr/>
          <p:nvPr/>
        </p:nvSpPr>
        <p:spPr>
          <a:xfrm rot="10800000">
            <a:off x="10840212" y="2174992"/>
            <a:ext cx="416966" cy="542056"/>
          </a:xfrm>
          <a:prstGeom prst="teardrop">
            <a:avLst/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10990320" y="2279233"/>
            <a:ext cx="116751" cy="11675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396935" y="18745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المنطقة والمسار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10735" y="187452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16775" y="2171700"/>
            <a:ext cx="548640" cy="548640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11" name="Shape 9"/>
          <p:cNvSpPr/>
          <p:nvPr/>
        </p:nvSpPr>
        <p:spPr>
          <a:xfrm>
            <a:off x="7078370" y="2340681"/>
            <a:ext cx="345643" cy="164592"/>
          </a:xfrm>
          <a:prstGeom prst="roundRect">
            <a:avLst>
              <a:gd name="adj" fmla="val 22222"/>
            </a:avLst>
          </a:prstGeom>
          <a:solidFill>
            <a:srgbClr val="B8962E"/>
          </a:solidFill>
          <a:ln/>
        </p:spPr>
      </p:sp>
      <p:sp>
        <p:nvSpPr>
          <p:cNvPr id="12" name="Shape 10"/>
          <p:cNvSpPr/>
          <p:nvPr/>
        </p:nvSpPr>
        <p:spPr>
          <a:xfrm>
            <a:off x="7407554" y="2281428"/>
            <a:ext cx="181051" cy="223845"/>
          </a:xfrm>
          <a:prstGeom prst="roundRect">
            <a:avLst>
              <a:gd name="adj" fmla="val 20202"/>
            </a:avLst>
          </a:prstGeom>
          <a:solidFill>
            <a:srgbClr val="0B1F3A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7624" y="2492106"/>
            <a:ext cx="79004" cy="7900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Shape 12"/>
          <p:cNvSpPr/>
          <p:nvPr/>
        </p:nvSpPr>
        <p:spPr>
          <a:xfrm>
            <a:off x="7159020" y="2513503"/>
            <a:ext cx="36210" cy="36210"/>
          </a:xfrm>
          <a:prstGeom prst="ellipse">
            <a:avLst/>
          </a:prstGeom>
          <a:solidFill>
            <a:srgbClr val="B8962E"/>
          </a:solidFill>
          <a:ln/>
        </p:spPr>
      </p:sp>
      <p:sp>
        <p:nvSpPr>
          <p:cNvPr id="15" name="Shape 13"/>
          <p:cNvSpPr/>
          <p:nvPr/>
        </p:nvSpPr>
        <p:spPr>
          <a:xfrm>
            <a:off x="7466808" y="2492106"/>
            <a:ext cx="79004" cy="7900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6" name="Shape 14"/>
          <p:cNvSpPr/>
          <p:nvPr/>
        </p:nvSpPr>
        <p:spPr>
          <a:xfrm>
            <a:off x="7488204" y="2513503"/>
            <a:ext cx="36210" cy="36210"/>
          </a:xfrm>
          <a:prstGeom prst="ellipse">
            <a:avLst/>
          </a:prstGeom>
          <a:solidFill>
            <a:srgbClr val="B8962E"/>
          </a:solidFill>
          <a:ln/>
        </p:spPr>
      </p:sp>
      <p:sp>
        <p:nvSpPr>
          <p:cNvPr id="17" name="Text 15"/>
          <p:cNvSpPr/>
          <p:nvPr/>
        </p:nvSpPr>
        <p:spPr>
          <a:xfrm>
            <a:off x="4739335" y="18745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نوع الشاحنة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168335" y="329184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774375" y="3589020"/>
            <a:ext cx="548640" cy="548640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895076" y="3643884"/>
            <a:ext cx="307238" cy="438912"/>
          </a:xfrm>
          <a:prstGeom prst="roundRect">
            <a:avLst>
              <a:gd name="adj" fmla="val 8929"/>
            </a:avLst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60913" y="3784336"/>
            <a:ext cx="175565" cy="0"/>
          </a:xfrm>
          <a:prstGeom prst="line">
            <a:avLst/>
          </a:prstGeom>
          <a:noFill/>
          <a:ln w="22225">
            <a:solidFill>
              <a:srgbClr val="0B1F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60913" y="3872118"/>
            <a:ext cx="175565" cy="0"/>
          </a:xfrm>
          <a:prstGeom prst="line">
            <a:avLst/>
          </a:prstGeom>
          <a:noFill/>
          <a:ln w="22225">
            <a:solidFill>
              <a:srgbClr val="0B1F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60913" y="3959901"/>
            <a:ext cx="175565" cy="0"/>
          </a:xfrm>
          <a:prstGeom prst="line">
            <a:avLst/>
          </a:prstGeom>
          <a:noFill/>
          <a:ln w="22225">
            <a:solidFill>
              <a:srgbClr val="0B1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96935" y="32918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البيانات التاريخية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510735" y="329184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16775" y="3589020"/>
            <a:ext cx="548640" cy="548640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27" name="Shape 25"/>
          <p:cNvSpPr/>
          <p:nvPr/>
        </p:nvSpPr>
        <p:spPr>
          <a:xfrm rot="10800000">
            <a:off x="7193585" y="3621938"/>
            <a:ext cx="395021" cy="460858"/>
          </a:xfrm>
          <a:prstGeom prst="pentagon">
            <a:avLst/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6200000">
            <a:off x="7312091" y="3841394"/>
            <a:ext cx="158008" cy="96561"/>
          </a:xfrm>
          <a:prstGeom prst="chevron">
            <a:avLst/>
          </a:prstGeom>
          <a:solidFill>
            <a:srgbClr val="0B1F3A"/>
          </a:solidFill>
          <a:ln/>
        </p:spPr>
      </p:sp>
      <p:sp>
        <p:nvSpPr>
          <p:cNvPr id="29" name="Text 27"/>
          <p:cNvSpPr/>
          <p:nvPr/>
        </p:nvSpPr>
        <p:spPr>
          <a:xfrm>
            <a:off x="4739335" y="32918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مستوى الثقة بالبيانات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3246120" y="3200400"/>
            <a:ext cx="914400" cy="146304"/>
          </a:xfrm>
          <a:prstGeom prst="leftArrow">
            <a:avLst/>
          </a:prstGeom>
          <a:solidFill>
            <a:srgbClr val="B8962E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2377440"/>
            <a:ext cx="2377440" cy="1920240"/>
          </a:xfrm>
          <a:prstGeom prst="roundRect">
            <a:avLst>
              <a:gd name="adj" fmla="val 4762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52400" dist="50800" dir="5400000">
              <a:srgbClr val="0B1F3A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440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السعر المقترح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440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SuggestedPrice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508760" y="3429000"/>
            <a:ext cx="822960" cy="82296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35" name="Text 33"/>
          <p:cNvSpPr/>
          <p:nvPr/>
        </p:nvSpPr>
        <p:spPr>
          <a:xfrm>
            <a:off x="1508760" y="3429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₪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640080" y="51206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يجمع النظام هذه العوامل تلقائيًا ليقترح سعرًا مبنيًا على بيانات فعلية، بدل الاعتماد على التقدير اليدوي — مع بقاء الكلمة الأخيرة دائمًا لمسؤول التسعير.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المطابقة الذكية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أفضل سائق لأفضل شحنة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34095" y="178308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1F2E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31982" y="2063801"/>
            <a:ext cx="378562" cy="441655"/>
          </a:xfrm>
          <a:prstGeom prst="pentagon">
            <a:avLst/>
          </a:prstGeom>
          <a:solidFill>
            <a:srgbClr val="FFFFFF">
              <a:alpha val="0"/>
            </a:srgbClr>
          </a:solidFill>
          <a:ln w="28575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6200000">
            <a:off x="10945551" y="2274113"/>
            <a:ext cx="151425" cy="92537"/>
          </a:xfrm>
          <a:prstGeom prst="chevron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8716975" y="19110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الأهلية أولًا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716975" y="22037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الحالة، الوثائق، التغطية الجغرافية، وملاءمة الشاحنة — قبل دخول أي ترتيب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78155" y="3063240"/>
            <a:ext cx="3273461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78155" y="3063240"/>
            <a:ext cx="32734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القرب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50271" y="3063240"/>
            <a:ext cx="2727884" cy="502920"/>
          </a:xfrm>
          <a:prstGeom prst="rect">
            <a:avLst/>
          </a:prstGeom>
          <a:solidFill>
            <a:srgbClr val="B8962E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50271" y="3063240"/>
            <a:ext cx="27278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خبرة المسار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67964" y="3063240"/>
            <a:ext cx="2182307" cy="502920"/>
          </a:xfrm>
          <a:prstGeom prst="rect">
            <a:avLst/>
          </a:prstGeom>
          <a:solidFill>
            <a:srgbClr val="C7A24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7964" y="3063240"/>
            <a:ext cx="21823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التقييم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731234" y="3063240"/>
            <a:ext cx="1636730" cy="502920"/>
          </a:xfrm>
          <a:prstGeom prst="rect">
            <a:avLst/>
          </a:prstGeom>
          <a:solidFill>
            <a:srgbClr val="8B93A8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1234" y="3063240"/>
            <a:ext cx="1636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القبول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063240"/>
            <a:ext cx="1091154" cy="502920"/>
          </a:xfrm>
          <a:prstGeom prst="rect">
            <a:avLst/>
          </a:prstGeom>
          <a:solidFill>
            <a:srgbClr val="5E6A8C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063240"/>
            <a:ext cx="10911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العدالة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158088" y="4114800"/>
            <a:ext cx="3108960" cy="1508760"/>
          </a:xfrm>
          <a:prstGeom prst="roundRect">
            <a:avLst>
              <a:gd name="adj" fmla="val 6061"/>
            </a:avLst>
          </a:prstGeom>
          <a:solidFill>
            <a:srgbClr val="D4AF37"/>
          </a:solidFill>
          <a:ln w="25400">
            <a:solidFill>
              <a:srgbClr val="B896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58088" y="3822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الأنسب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340968" y="4279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سائق أ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40968" y="45720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</a:t>
            </a:r>
            <a:endParaRPr lang="en-US" sz="3800" dirty="0"/>
          </a:p>
        </p:txBody>
      </p:sp>
      <p:sp>
        <p:nvSpPr>
          <p:cNvPr id="23" name="Shape 21"/>
          <p:cNvSpPr/>
          <p:nvPr/>
        </p:nvSpPr>
        <p:spPr>
          <a:xfrm>
            <a:off x="4541368" y="4114800"/>
            <a:ext cx="3108960" cy="1508760"/>
          </a:xfrm>
          <a:prstGeom prst="roundRect">
            <a:avLst>
              <a:gd name="adj" fmla="val 6061"/>
            </a:avLst>
          </a:prstGeom>
          <a:solidFill>
            <a:srgbClr val="16213E"/>
          </a:solidFill>
          <a:ln w="12700">
            <a:solidFill>
              <a:srgbClr val="1F2E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4248" y="4279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سائق ب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24248" y="45720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3800" dirty="0"/>
          </a:p>
        </p:txBody>
      </p:sp>
      <p:sp>
        <p:nvSpPr>
          <p:cNvPr id="26" name="Shape 24"/>
          <p:cNvSpPr/>
          <p:nvPr/>
        </p:nvSpPr>
        <p:spPr>
          <a:xfrm>
            <a:off x="7924648" y="4114800"/>
            <a:ext cx="3108960" cy="1508760"/>
          </a:xfrm>
          <a:prstGeom prst="roundRect">
            <a:avLst>
              <a:gd name="adj" fmla="val 6061"/>
            </a:avLst>
          </a:prstGeom>
          <a:solidFill>
            <a:srgbClr val="16213E"/>
          </a:solidFill>
          <a:ln w="12700">
            <a:solidFill>
              <a:srgbClr val="1F2E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07528" y="4279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سائق ج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107528" y="45720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البنية المعمارية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من تطبيق الهاتف إلى قاعدة البيانات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346808" y="1783080"/>
            <a:ext cx="7498080" cy="868680"/>
          </a:xfrm>
          <a:prstGeom prst="roundRect">
            <a:avLst>
              <a:gd name="adj" fmla="val 9474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346808" y="191109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تطبيق Flutter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346808" y="227685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الشركة  •  السائق  •  الإدارة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58688" y="2651760"/>
            <a:ext cx="274320" cy="320040"/>
          </a:xfrm>
          <a:prstGeom prst="downArrow">
            <a:avLst/>
          </a:prstGeom>
          <a:solidFill>
            <a:srgbClr val="D4AF37"/>
          </a:solidFill>
          <a:ln/>
        </p:spPr>
      </p:sp>
      <p:sp>
        <p:nvSpPr>
          <p:cNvPr id="8" name="Shape 6"/>
          <p:cNvSpPr/>
          <p:nvPr/>
        </p:nvSpPr>
        <p:spPr>
          <a:xfrm>
            <a:off x="2346808" y="3246120"/>
            <a:ext cx="7498080" cy="868680"/>
          </a:xfrm>
          <a:prstGeom prst="roundRect">
            <a:avLst>
              <a:gd name="adj" fmla="val 9474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46808" y="337413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خادم Laravel  —  REST API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346808" y="373989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منطق الأعمال، التسعير، المطابقة، المصادقة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58688" y="4114800"/>
            <a:ext cx="274320" cy="320040"/>
          </a:xfrm>
          <a:prstGeom prst="downArrow">
            <a:avLst/>
          </a:prstGeom>
          <a:solidFill>
            <a:srgbClr val="D4AF37"/>
          </a:solidFill>
          <a:ln/>
        </p:spPr>
      </p:sp>
      <p:sp>
        <p:nvSpPr>
          <p:cNvPr id="12" name="Shape 10"/>
          <p:cNvSpPr/>
          <p:nvPr/>
        </p:nvSpPr>
        <p:spPr>
          <a:xfrm>
            <a:off x="2346808" y="4709160"/>
            <a:ext cx="7498080" cy="868680"/>
          </a:xfrm>
          <a:prstGeom prst="roundRect">
            <a:avLst>
              <a:gd name="adj" fmla="val 9474"/>
            </a:avLst>
          </a:prstGeom>
          <a:solidFill>
            <a:srgbClr val="1F2E52"/>
          </a:solidFill>
          <a:ln/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46808" y="483717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قاعدة بيانات PostgreSQL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346808" y="520293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استضافة سحابية عبر Neon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164928" y="324612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7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64928" y="3364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164928" y="3685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إشعارات فورية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97968" y="324612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7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7968" y="3364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7968" y="3685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الاستضافة السحابية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خرائط تفاعلية (Flutter Map) لعرض مواقع السائقين والشحنات مباشرة داخل التطبيق.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التتبّع والإشعارات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رؤية حيّة لكل رحلة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2743200" cy="4297680"/>
          </a:xfrm>
          <a:prstGeom prst="roundRect">
            <a:avLst>
              <a:gd name="adj" fmla="val 4000"/>
            </a:avLst>
          </a:prstGeom>
          <a:solidFill>
            <a:srgbClr val="0B1F3A"/>
          </a:solidFill>
          <a:ln w="12700">
            <a:solidFill>
              <a:srgbClr val="1F2E52"/>
            </a:solidFill>
            <a:prstDash val="solid"/>
          </a:ln>
          <a:effectLst>
            <a:outerShdw sx="100000" sy="100000" kx="0" ky="0" algn="bl" rotWithShape="0" blurRad="177800" dist="76200" dir="5400000">
              <a:srgbClr val="0B1F3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5256" y="1993392"/>
            <a:ext cx="2578608" cy="3895344"/>
          </a:xfrm>
          <a:prstGeom prst="roundRect">
            <a:avLst>
              <a:gd name="adj" fmla="val 1773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938528" y="1847088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993392"/>
            <a:ext cx="2578608" cy="310896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" y="199339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تتبّع الرحلة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14984" y="2432304"/>
            <a:ext cx="2359152" cy="1554480"/>
          </a:xfrm>
          <a:prstGeom prst="roundRect">
            <a:avLst>
              <a:gd name="adj" fmla="val 2353"/>
            </a:avLst>
          </a:prstGeom>
          <a:solidFill>
            <a:srgbClr val="E7ECF5"/>
          </a:solidFill>
          <a:ln/>
        </p:spPr>
      </p:sp>
      <p:sp>
        <p:nvSpPr>
          <p:cNvPr id="10" name="Shape 8"/>
          <p:cNvSpPr/>
          <p:nvPr/>
        </p:nvSpPr>
        <p:spPr>
          <a:xfrm>
            <a:off x="1014984" y="4078224"/>
            <a:ext cx="2359152" cy="36576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/>
        </p:spPr>
      </p:sp>
      <p:sp>
        <p:nvSpPr>
          <p:cNvPr id="11" name="Text 9"/>
          <p:cNvSpPr/>
          <p:nvPr/>
        </p:nvSpPr>
        <p:spPr>
          <a:xfrm>
            <a:off x="1088136" y="4078224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الحالة: في الطريق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14984" y="4535424"/>
            <a:ext cx="2359152" cy="36576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88136" y="4535424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الوجهة: دمشق ← حلب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14984" y="4992624"/>
            <a:ext cx="2359152" cy="365760"/>
          </a:xfrm>
          <a:prstGeom prst="roundRect">
            <a:avLst>
              <a:gd name="adj" fmla="val 10000"/>
            </a:avLst>
          </a:prstGeom>
          <a:solidFill>
            <a:srgbClr val="FDF3D9"/>
          </a:solidFill>
          <a:ln/>
        </p:spPr>
      </p:sp>
      <p:sp>
        <p:nvSpPr>
          <p:cNvPr id="15" name="Text 13"/>
          <p:cNvSpPr/>
          <p:nvPr/>
        </p:nvSpPr>
        <p:spPr>
          <a:xfrm>
            <a:off x="1088136" y="4992624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وصول متوقع: 45 د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74520" y="5943600"/>
            <a:ext cx="640080" cy="41148"/>
          </a:xfrm>
          <a:prstGeom prst="roundRect">
            <a:avLst>
              <a:gd name="adj" fmla="val 44444"/>
            </a:avLst>
          </a:prstGeom>
          <a:solidFill>
            <a:srgbClr val="1F2E52"/>
          </a:solidFill>
          <a:ln/>
        </p:spPr>
      </p:sp>
      <p:sp>
        <p:nvSpPr>
          <p:cNvPr id="17" name="Shape 15"/>
          <p:cNvSpPr/>
          <p:nvPr/>
        </p:nvSpPr>
        <p:spPr>
          <a:xfrm flipV="1">
            <a:off x="1280160" y="2606040"/>
            <a:ext cx="1783080" cy="1051560"/>
          </a:xfrm>
          <a:prstGeom prst="line">
            <a:avLst/>
          </a:prstGeom>
          <a:noFill/>
          <a:ln w="31750">
            <a:solidFill>
              <a:srgbClr val="1F2E52"/>
            </a:solidFill>
            <a:prstDash val="sysDash"/>
          </a:ln>
        </p:spPr>
      </p:sp>
      <p:sp>
        <p:nvSpPr>
          <p:cNvPr id="18" name="Shape 16"/>
          <p:cNvSpPr/>
          <p:nvPr/>
        </p:nvSpPr>
        <p:spPr>
          <a:xfrm>
            <a:off x="1197864" y="3575304"/>
            <a:ext cx="164592" cy="164592"/>
          </a:xfrm>
          <a:prstGeom prst="ellipse">
            <a:avLst/>
          </a:prstGeom>
          <a:solidFill>
            <a:srgbClr val="1F2E52"/>
          </a:solidFill>
          <a:ln/>
        </p:spPr>
      </p:sp>
      <p:sp>
        <p:nvSpPr>
          <p:cNvPr id="19" name="Shape 17"/>
          <p:cNvSpPr/>
          <p:nvPr/>
        </p:nvSpPr>
        <p:spPr>
          <a:xfrm rot="10800000">
            <a:off x="2834640" y="2217420"/>
            <a:ext cx="457200" cy="594360"/>
          </a:xfrm>
          <a:prstGeom prst="teardrop">
            <a:avLst/>
          </a:prstGeom>
          <a:solidFill>
            <a:srgbClr val="D4AF37"/>
          </a:solidFill>
          <a:ln/>
        </p:spPr>
      </p:sp>
      <p:sp>
        <p:nvSpPr>
          <p:cNvPr id="20" name="Shape 18"/>
          <p:cNvSpPr/>
          <p:nvPr/>
        </p:nvSpPr>
        <p:spPr>
          <a:xfrm>
            <a:off x="2999232" y="2331720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0" y="1783080"/>
            <a:ext cx="548640" cy="548640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22" name="Shape 20"/>
          <p:cNvSpPr/>
          <p:nvPr/>
        </p:nvSpPr>
        <p:spPr>
          <a:xfrm rot="10800000">
            <a:off x="7386249" y="1793148"/>
            <a:ext cx="406542" cy="528505"/>
          </a:xfrm>
          <a:prstGeom prst="teardrop">
            <a:avLst/>
          </a:prstGeom>
          <a:solidFill>
            <a:srgbClr val="0B1F3A"/>
          </a:solidFill>
          <a:ln/>
        </p:spPr>
      </p:sp>
      <p:sp>
        <p:nvSpPr>
          <p:cNvPr id="23" name="Shape 21"/>
          <p:cNvSpPr/>
          <p:nvPr/>
        </p:nvSpPr>
        <p:spPr>
          <a:xfrm>
            <a:off x="7532604" y="1894783"/>
            <a:ext cx="113832" cy="1138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065008" y="1746504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تتبّع الرحلة النشطة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065008" y="21122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موقع السائق يظهر مباشرة على خريطة داخل التطبيق أثناء التنفيذ.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315200" y="2834640"/>
            <a:ext cx="548640" cy="548640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27" name="Shape 25"/>
          <p:cNvSpPr/>
          <p:nvPr/>
        </p:nvSpPr>
        <p:spPr>
          <a:xfrm rot="10800000">
            <a:off x="7375550" y="2830800"/>
            <a:ext cx="427939" cy="556321"/>
          </a:xfrm>
          <a:prstGeom prst="teardrop">
            <a:avLst/>
          </a:prstGeom>
          <a:solidFill>
            <a:srgbClr val="0B1F3A"/>
          </a:solidFill>
          <a:ln/>
        </p:spPr>
      </p:sp>
      <p:sp>
        <p:nvSpPr>
          <p:cNvPr id="28" name="Shape 26"/>
          <p:cNvSpPr/>
          <p:nvPr/>
        </p:nvSpPr>
        <p:spPr>
          <a:xfrm>
            <a:off x="7529609" y="2937784"/>
            <a:ext cx="119823" cy="11982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8065008" y="2798064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تحديث الموقع في الخلفية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065008" y="316382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يستمر التطبيق بإرسال الموقع حتى أثناء التصغير، طوال مدة الرحلة النشطة.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315200" y="3886200"/>
            <a:ext cx="548640" cy="548640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32" name="Shape 30"/>
          <p:cNvSpPr/>
          <p:nvPr/>
        </p:nvSpPr>
        <p:spPr>
          <a:xfrm>
            <a:off x="7418344" y="3937992"/>
            <a:ext cx="342351" cy="308116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75550" y="4220431"/>
            <a:ext cx="427939" cy="47073"/>
          </a:xfrm>
          <a:prstGeom prst="roundRect">
            <a:avLst>
              <a:gd name="adj" fmla="val 45455"/>
            </a:avLst>
          </a:prstGeom>
          <a:solidFill>
            <a:srgbClr val="0B1F3A"/>
          </a:solidFill>
          <a:ln/>
        </p:spPr>
      </p:sp>
      <p:sp>
        <p:nvSpPr>
          <p:cNvPr id="34" name="Shape 32"/>
          <p:cNvSpPr/>
          <p:nvPr/>
        </p:nvSpPr>
        <p:spPr>
          <a:xfrm>
            <a:off x="7559564" y="4288902"/>
            <a:ext cx="59911" cy="59911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5" name="Shape 33"/>
          <p:cNvSpPr/>
          <p:nvPr/>
        </p:nvSpPr>
        <p:spPr>
          <a:xfrm>
            <a:off x="7563844" y="3895198"/>
            <a:ext cx="51353" cy="51353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6" name="Text 34"/>
          <p:cNvSpPr/>
          <p:nvPr/>
        </p:nvSpPr>
        <p:spPr>
          <a:xfrm>
            <a:off x="8065008" y="3849624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إشعارات فورية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065008" y="421538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تنبيه لحظي بالعروض الجديدة وتغيّرات حالة الشحنة المهمة.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315200" y="4937760"/>
            <a:ext cx="548640" cy="548640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39" name="Shape 37"/>
          <p:cNvSpPr/>
          <p:nvPr/>
        </p:nvSpPr>
        <p:spPr>
          <a:xfrm>
            <a:off x="7469697" y="4998110"/>
            <a:ext cx="239646" cy="427939"/>
          </a:xfrm>
          <a:prstGeom prst="roundRect">
            <a:avLst>
              <a:gd name="adj" fmla="val 45788"/>
            </a:avLst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29609" y="5349021"/>
            <a:ext cx="119823" cy="0"/>
          </a:xfrm>
          <a:prstGeom prst="line">
            <a:avLst/>
          </a:prstGeom>
          <a:noFill/>
          <a:ln w="25400">
            <a:solidFill>
              <a:srgbClr val="0B1F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65008" y="4901184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متابعة الشركة للرحلة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8065008" y="526694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رؤية واضحة ومباشرة لحالة الشحنة من الإنشاء حتى التسليم.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الامتثال والوثائق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أهلية موثّقة قبل أي رحلة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339535" y="17830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46943" y="1947672"/>
            <a:ext cx="530352" cy="530352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6" name="Shape 4"/>
          <p:cNvSpPr/>
          <p:nvPr/>
        </p:nvSpPr>
        <p:spPr>
          <a:xfrm rot="10800000">
            <a:off x="10822838" y="1981505"/>
            <a:ext cx="378562" cy="441655"/>
          </a:xfrm>
          <a:prstGeom prst="pentagon">
            <a:avLst/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6200000">
            <a:off x="10936407" y="2191817"/>
            <a:ext cx="151425" cy="92537"/>
          </a:xfrm>
          <a:prstGeom prst="chevron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6568135" y="19293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مراجعة الحساب عند التسجيل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68135" y="225856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يخضع كل سائق وشركة لمراجعة إدارية قبل تفعيل الحساب.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3135" y="17830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60543" y="1947672"/>
            <a:ext cx="530352" cy="530352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5378501" y="2002536"/>
            <a:ext cx="294437" cy="420624"/>
          </a:xfrm>
          <a:prstGeom prst="roundRect">
            <a:avLst>
              <a:gd name="adj" fmla="val 9317"/>
            </a:avLst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1594" y="2137136"/>
            <a:ext cx="168250" cy="0"/>
          </a:xfrm>
          <a:prstGeom prst="line">
            <a:avLst/>
          </a:prstGeom>
          <a:noFill/>
          <a:ln w="22225">
            <a:solidFill>
              <a:srgbClr val="0B1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1594" y="2221260"/>
            <a:ext cx="168250" cy="0"/>
          </a:xfrm>
          <a:prstGeom prst="line">
            <a:avLst/>
          </a:prstGeom>
          <a:noFill/>
          <a:ln w="22225">
            <a:solidFill>
              <a:srgbClr val="0B1F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41594" y="2305385"/>
            <a:ext cx="168250" cy="0"/>
          </a:xfrm>
          <a:prstGeom prst="line">
            <a:avLst/>
          </a:prstGeom>
          <a:noFill/>
          <a:ln w="22225">
            <a:solidFill>
              <a:srgbClr val="0B1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" y="19293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وثائق السائق والشاحنة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81735" y="225856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رخصة القيادة، التأمين، الفحص الفني — بنسخ محدّثة دائمًا.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39535" y="3218688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746943" y="3383280"/>
            <a:ext cx="530352" cy="530352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843870" y="3429732"/>
            <a:ext cx="336499" cy="30284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801807" y="3707343"/>
            <a:ext cx="420624" cy="46269"/>
          </a:xfrm>
          <a:prstGeom prst="roundRect">
            <a:avLst>
              <a:gd name="adj" fmla="val 45454"/>
            </a:avLst>
          </a:prstGeom>
          <a:solidFill>
            <a:srgbClr val="0B1F3A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82676" y="3774643"/>
            <a:ext cx="58887" cy="58887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986882" y="3387669"/>
            <a:ext cx="50475" cy="50475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4" name="Text 22"/>
          <p:cNvSpPr/>
          <p:nvPr/>
        </p:nvSpPr>
        <p:spPr>
          <a:xfrm>
            <a:off x="6568135" y="3364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تنبيه قبل انتهاء الصلاحية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68135" y="369417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إشعار مبكر بأي وثيقة تقترب من تاريخ انتهائها.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3135" y="3218688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260543" y="3383280"/>
            <a:ext cx="530352" cy="530352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28" name="Shape 26"/>
          <p:cNvSpPr/>
          <p:nvPr/>
        </p:nvSpPr>
        <p:spPr>
          <a:xfrm rot="2700000">
            <a:off x="5294376" y="3417113"/>
            <a:ext cx="462686" cy="462686"/>
          </a:xfrm>
          <a:prstGeom prst="roundRect">
            <a:avLst>
              <a:gd name="adj" fmla="val 5929"/>
            </a:avLst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92069" y="3471794"/>
            <a:ext cx="67300" cy="673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0" name="Text 28"/>
          <p:cNvSpPr/>
          <p:nvPr/>
        </p:nvSpPr>
        <p:spPr>
          <a:xfrm>
            <a:off x="1081735" y="3364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دورة تجديد واعتماد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081735" y="369417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تحديث الوثيقة يمر بمراجعة واعتماد إداري قبل اعتمادها.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470916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/>
        </p:spPr>
      </p:sp>
      <p:sp>
        <p:nvSpPr>
          <p:cNvPr id="33" name="Shape 31"/>
          <p:cNvSpPr/>
          <p:nvPr/>
        </p:nvSpPr>
        <p:spPr>
          <a:xfrm rot="10800000">
            <a:off x="10842955" y="4846320"/>
            <a:ext cx="411480" cy="480060"/>
          </a:xfrm>
          <a:prstGeom prst="pentagon">
            <a:avLst/>
          </a:prstGeom>
          <a:solidFill>
            <a:srgbClr val="FFFFFF">
              <a:alpha val="0"/>
            </a:srgbClr>
          </a:solidFill>
          <a:ln w="28575">
            <a:solidFill>
              <a:srgbClr val="D4AF3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16200000">
            <a:off x="10966399" y="5074920"/>
            <a:ext cx="164592" cy="100584"/>
          </a:xfrm>
          <a:prstGeom prst="chevron">
            <a:avLst/>
          </a:prstGeom>
          <a:solidFill>
            <a:srgbClr val="D4AF37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4709160"/>
            <a:ext cx="9814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عند عدم اكتمال الأهلية، يستبعد النظام السائق تلقائيًا من أي عملية مطابقة — دون تدخّل يدوي.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النظام المالي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عمليات مالية آمنة وقابلة للتتبّع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74175" y="19202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86289" y="2221992"/>
            <a:ext cx="553212" cy="402336"/>
          </a:xfrm>
          <a:prstGeom prst="roundRect">
            <a:avLst>
              <a:gd name="adj" fmla="val 13636"/>
            </a:avLst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3246" y="2382926"/>
            <a:ext cx="110642" cy="110642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9311335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الرصيد قبل العملية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488375" y="2532888"/>
            <a:ext cx="548640" cy="146304"/>
          </a:xfrm>
          <a:prstGeom prst="leftArrow">
            <a:avLst/>
          </a:prstGeom>
          <a:solidFill>
            <a:srgbClr val="B8962E"/>
          </a:solidFill>
          <a:ln/>
        </p:spPr>
      </p:sp>
      <p:sp>
        <p:nvSpPr>
          <p:cNvPr id="9" name="Shape 7"/>
          <p:cNvSpPr/>
          <p:nvPr/>
        </p:nvSpPr>
        <p:spPr>
          <a:xfrm>
            <a:off x="5973775" y="192024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/>
        </p:spPr>
      </p:sp>
      <p:sp>
        <p:nvSpPr>
          <p:cNvPr id="10" name="Shape 8"/>
          <p:cNvSpPr/>
          <p:nvPr/>
        </p:nvSpPr>
        <p:spPr>
          <a:xfrm>
            <a:off x="6885889" y="2221992"/>
            <a:ext cx="553212" cy="402336"/>
          </a:xfrm>
          <a:prstGeom prst="roundRect">
            <a:avLst>
              <a:gd name="adj" fmla="val 13636"/>
            </a:avLst>
          </a:prstGeom>
          <a:solidFill>
            <a:srgbClr val="FFFFFF">
              <a:alpha val="0"/>
            </a:srgbClr>
          </a:solidFill>
          <a:ln w="28575">
            <a:solidFill>
              <a:srgbClr val="D4A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2846" y="2382926"/>
            <a:ext cx="110642" cy="110642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6110935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عملية مالية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10935" y="3108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دفع / سحب / تسوية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87975" y="2532888"/>
            <a:ext cx="548640" cy="146304"/>
          </a:xfrm>
          <a:prstGeom prst="leftArrow">
            <a:avLst/>
          </a:prstGeom>
          <a:solidFill>
            <a:srgbClr val="B8962E"/>
          </a:solidFill>
          <a:ln/>
        </p:spPr>
      </p:sp>
      <p:sp>
        <p:nvSpPr>
          <p:cNvPr id="15" name="Shape 13"/>
          <p:cNvSpPr/>
          <p:nvPr/>
        </p:nvSpPr>
        <p:spPr>
          <a:xfrm>
            <a:off x="2773375" y="19202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85489" y="2221992"/>
            <a:ext cx="553212" cy="402336"/>
          </a:xfrm>
          <a:prstGeom prst="roundRect">
            <a:avLst>
              <a:gd name="adj" fmla="val 13636"/>
            </a:avLst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2446" y="2382926"/>
            <a:ext cx="110642" cy="110642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2910535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الرصيد بعد العملية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1423599" y="3895344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49040"/>
            <a:ext cx="10591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عملية مسجّلة ومرتبطة برصيد قبلها وبعدها — لا حذف ولا تعديل رجعي.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1423599" y="4398264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251960"/>
            <a:ext cx="10591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يمنع النظام تكرار تنفيذ العملية المالية نفسها أكثر من مرة.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التنفيذ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أدوات البناء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بُنيت المنصّة بالكامل باستخدام: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2308" y="3291840"/>
            <a:ext cx="1965960" cy="685800"/>
          </a:xfrm>
          <a:prstGeom prst="roundRect">
            <a:avLst>
              <a:gd name="adj" fmla="val 50000"/>
            </a:avLst>
          </a:prstGeom>
          <a:solidFill>
            <a:srgbClr val="2FA8E0"/>
          </a:solidFill>
          <a:ln/>
        </p:spPr>
      </p:sp>
      <p:sp>
        <p:nvSpPr>
          <p:cNvPr id="6" name="Text 4"/>
          <p:cNvSpPr/>
          <p:nvPr/>
        </p:nvSpPr>
        <p:spPr>
          <a:xfrm>
            <a:off x="632308" y="32918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72588" y="3291840"/>
            <a:ext cx="1965960" cy="685800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</p:sp>
      <p:sp>
        <p:nvSpPr>
          <p:cNvPr id="8" name="Text 6"/>
          <p:cNvSpPr/>
          <p:nvPr/>
        </p:nvSpPr>
        <p:spPr>
          <a:xfrm>
            <a:off x="2872588" y="32918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Laravel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12868" y="3291840"/>
            <a:ext cx="1965960" cy="685800"/>
          </a:xfrm>
          <a:prstGeom prst="roundRect">
            <a:avLst>
              <a:gd name="adj" fmla="val 50000"/>
            </a:avLst>
          </a:prstGeom>
          <a:solidFill>
            <a:srgbClr val="336699"/>
          </a:solidFill>
          <a:ln/>
        </p:spPr>
      </p:sp>
      <p:sp>
        <p:nvSpPr>
          <p:cNvPr id="10" name="Text 8"/>
          <p:cNvSpPr/>
          <p:nvPr/>
        </p:nvSpPr>
        <p:spPr>
          <a:xfrm>
            <a:off x="5112868" y="32918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53148" y="3291840"/>
            <a:ext cx="1965960" cy="685800"/>
          </a:xfrm>
          <a:prstGeom prst="roundRect">
            <a:avLst>
              <a:gd name="adj" fmla="val 50000"/>
            </a:avLst>
          </a:prstGeom>
          <a:solidFill>
            <a:srgbClr val="B8962E"/>
          </a:solidFill>
          <a:ln/>
        </p:spPr>
      </p:sp>
      <p:sp>
        <p:nvSpPr>
          <p:cNvPr id="12" name="Text 10"/>
          <p:cNvSpPr/>
          <p:nvPr/>
        </p:nvSpPr>
        <p:spPr>
          <a:xfrm>
            <a:off x="7353148" y="32918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593428" y="3291840"/>
            <a:ext cx="1965960" cy="685800"/>
          </a:xfrm>
          <a:prstGeom prst="roundRect">
            <a:avLst>
              <a:gd name="adj" fmla="val 50000"/>
            </a:avLst>
          </a:prstGeom>
          <a:solidFill>
            <a:srgbClr val="1F2E52"/>
          </a:solidFill>
          <a:ln/>
        </p:spPr>
      </p:sp>
      <p:sp>
        <p:nvSpPr>
          <p:cNvPr id="14" name="Text 12"/>
          <p:cNvSpPr/>
          <p:nvPr/>
        </p:nvSpPr>
        <p:spPr>
          <a:xfrm>
            <a:off x="9593428" y="32918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3434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واجهة تطبيق واحدة بـ Flutter لكل الأدوار، تتواصل مع خادم Laravel عبر REST API، وتُخزّن البيانات في PostgreSQL.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واجهات النظام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تجربة استخدام مخصّصة لكل دور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219895" y="1691640"/>
            <a:ext cx="2331720" cy="443484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 w="12700">
            <a:solidFill>
              <a:srgbClr val="1F2E52"/>
            </a:solidFill>
            <a:prstDash val="solid"/>
          </a:ln>
          <a:effectLst>
            <a:outerShdw sx="100000" sy="100000" kx="0" ky="0" algn="bl" rotWithShape="0" blurRad="177800" dist="76200" dir="5400000">
              <a:srgbClr val="0B1F3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02191" y="1901952"/>
            <a:ext cx="2167128" cy="4032504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129723" y="1755648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9302191" y="1901952"/>
            <a:ext cx="2167128" cy="310896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9375343" y="1901952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الشركة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411919" y="2340864"/>
            <a:ext cx="1947672" cy="384048"/>
          </a:xfrm>
          <a:prstGeom prst="roundRect">
            <a:avLst>
              <a:gd name="adj" fmla="val 9524"/>
            </a:avLst>
          </a:prstGeom>
          <a:solidFill>
            <a:srgbClr val="EEF1F6"/>
          </a:solidFill>
          <a:ln/>
        </p:spPr>
      </p:sp>
      <p:sp>
        <p:nvSpPr>
          <p:cNvPr id="10" name="Text 8"/>
          <p:cNvSpPr/>
          <p:nvPr/>
        </p:nvSpPr>
        <p:spPr>
          <a:xfrm>
            <a:off x="9485071" y="2340864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شحنة #1042 — قيد النقل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411919" y="2816352"/>
            <a:ext cx="1947672" cy="384048"/>
          </a:xfrm>
          <a:prstGeom prst="roundRect">
            <a:avLst>
              <a:gd name="adj" fmla="val 9524"/>
            </a:avLst>
          </a:prstGeom>
          <a:solidFill>
            <a:srgbClr val="EEF1F6"/>
          </a:solidFill>
          <a:ln/>
        </p:spPr>
      </p:sp>
      <p:sp>
        <p:nvSpPr>
          <p:cNvPr id="12" name="Text 10"/>
          <p:cNvSpPr/>
          <p:nvPr/>
        </p:nvSpPr>
        <p:spPr>
          <a:xfrm>
            <a:off x="9485071" y="2816352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شحنة #1041 — بانتظار عرض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411919" y="3291840"/>
            <a:ext cx="1947672" cy="384048"/>
          </a:xfrm>
          <a:prstGeom prst="roundRect">
            <a:avLst>
              <a:gd name="adj" fmla="val 9524"/>
            </a:avLst>
          </a:prstGeom>
          <a:solidFill>
            <a:srgbClr val="FDF3D9"/>
          </a:solidFill>
          <a:ln/>
        </p:spPr>
      </p:sp>
      <p:sp>
        <p:nvSpPr>
          <p:cNvPr id="14" name="Text 12"/>
          <p:cNvSpPr/>
          <p:nvPr/>
        </p:nvSpPr>
        <p:spPr>
          <a:xfrm>
            <a:off x="9485071" y="329184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شحنة #1039 — بحاجة لتأكيد استلام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411919" y="3767328"/>
            <a:ext cx="1947672" cy="822960"/>
          </a:xfrm>
          <a:prstGeom prst="roundRect">
            <a:avLst>
              <a:gd name="adj" fmla="val 4444"/>
            </a:avLst>
          </a:prstGeom>
          <a:solidFill>
            <a:srgbClr val="E7ECF5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65715" y="5989320"/>
            <a:ext cx="640080" cy="41148"/>
          </a:xfrm>
          <a:prstGeom prst="roundRect">
            <a:avLst>
              <a:gd name="adj" fmla="val 44444"/>
            </a:avLst>
          </a:prstGeom>
          <a:solidFill>
            <a:srgbClr val="1F2E52"/>
          </a:solidFill>
          <a:ln/>
        </p:spPr>
      </p:sp>
      <p:sp>
        <p:nvSpPr>
          <p:cNvPr id="17" name="Shape 15"/>
          <p:cNvSpPr/>
          <p:nvPr/>
        </p:nvSpPr>
        <p:spPr>
          <a:xfrm>
            <a:off x="6385255" y="1691640"/>
            <a:ext cx="2331720" cy="443484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 w="12700">
            <a:solidFill>
              <a:srgbClr val="1F2E52"/>
            </a:solidFill>
            <a:prstDash val="solid"/>
          </a:ln>
          <a:effectLst>
            <a:outerShdw sx="100000" sy="100000" kx="0" ky="0" algn="bl" rotWithShape="0" blurRad="177800" dist="76200" dir="5400000">
              <a:srgbClr val="0B1F3A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67551" y="1901952"/>
            <a:ext cx="2167128" cy="4032504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7295083" y="1755648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0" name="Shape 18"/>
          <p:cNvSpPr/>
          <p:nvPr/>
        </p:nvSpPr>
        <p:spPr>
          <a:xfrm>
            <a:off x="6467551" y="1901952"/>
            <a:ext cx="2167128" cy="310896"/>
          </a:xfrm>
          <a:prstGeom prst="rect">
            <a:avLst/>
          </a:prstGeom>
          <a:solidFill>
            <a:srgbClr val="B8962E"/>
          </a:solidFill>
          <a:ln/>
        </p:spPr>
      </p:sp>
      <p:sp>
        <p:nvSpPr>
          <p:cNvPr id="21" name="Text 19"/>
          <p:cNvSpPr/>
          <p:nvPr/>
        </p:nvSpPr>
        <p:spPr>
          <a:xfrm>
            <a:off x="6540703" y="1901952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السائق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77279" y="2340864"/>
            <a:ext cx="1947672" cy="1005840"/>
          </a:xfrm>
          <a:prstGeom prst="roundRect">
            <a:avLst>
              <a:gd name="adj" fmla="val 3636"/>
            </a:avLst>
          </a:prstGeom>
          <a:solidFill>
            <a:srgbClr val="E7ECF5"/>
          </a:solidFill>
          <a:ln/>
        </p:spPr>
      </p:sp>
      <p:sp>
        <p:nvSpPr>
          <p:cNvPr id="23" name="Shape 21"/>
          <p:cNvSpPr/>
          <p:nvPr/>
        </p:nvSpPr>
        <p:spPr>
          <a:xfrm>
            <a:off x="6577279" y="3438144"/>
            <a:ext cx="1947672" cy="384048"/>
          </a:xfrm>
          <a:prstGeom prst="roundRect">
            <a:avLst>
              <a:gd name="adj" fmla="val 9524"/>
            </a:avLst>
          </a:prstGeom>
          <a:solidFill>
            <a:srgbClr val="EEF1F6"/>
          </a:solidFill>
          <a:ln/>
        </p:spPr>
      </p:sp>
      <p:sp>
        <p:nvSpPr>
          <p:cNvPr id="24" name="Text 22"/>
          <p:cNvSpPr/>
          <p:nvPr/>
        </p:nvSpPr>
        <p:spPr>
          <a:xfrm>
            <a:off x="6650431" y="3438144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الرحلة الحالية: دمشق ← حمص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77279" y="3913632"/>
            <a:ext cx="1947672" cy="384048"/>
          </a:xfrm>
          <a:prstGeom prst="roundRect">
            <a:avLst>
              <a:gd name="adj" fmla="val 9524"/>
            </a:avLst>
          </a:prstGeom>
          <a:solidFill>
            <a:srgbClr val="FDF3D9"/>
          </a:solidFill>
          <a:ln/>
        </p:spPr>
      </p:sp>
      <p:sp>
        <p:nvSpPr>
          <p:cNvPr id="26" name="Text 24"/>
          <p:cNvSpPr/>
          <p:nvPr/>
        </p:nvSpPr>
        <p:spPr>
          <a:xfrm>
            <a:off x="6650431" y="3913632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جديد بانتظار الرد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231075" y="5989320"/>
            <a:ext cx="640080" cy="41148"/>
          </a:xfrm>
          <a:prstGeom prst="roundRect">
            <a:avLst>
              <a:gd name="adj" fmla="val 44444"/>
            </a:avLst>
          </a:prstGeom>
          <a:solidFill>
            <a:srgbClr val="1F2E52"/>
          </a:solidFill>
          <a:ln/>
        </p:spPr>
      </p:sp>
      <p:sp>
        <p:nvSpPr>
          <p:cNvPr id="28" name="Shape 26"/>
          <p:cNvSpPr/>
          <p:nvPr/>
        </p:nvSpPr>
        <p:spPr>
          <a:xfrm>
            <a:off x="3550615" y="1691640"/>
            <a:ext cx="2331720" cy="443484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 w="12700">
            <a:solidFill>
              <a:srgbClr val="1F2E52"/>
            </a:solidFill>
            <a:prstDash val="solid"/>
          </a:ln>
          <a:effectLst>
            <a:outerShdw sx="100000" sy="100000" kx="0" ky="0" algn="bl" rotWithShape="0" blurRad="177800" dist="76200" dir="5400000">
              <a:srgbClr val="0B1F3A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32911" y="1901952"/>
            <a:ext cx="2167128" cy="4032504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460443" y="1755648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31" name="Shape 29"/>
          <p:cNvSpPr/>
          <p:nvPr/>
        </p:nvSpPr>
        <p:spPr>
          <a:xfrm>
            <a:off x="3632911" y="1901952"/>
            <a:ext cx="2167128" cy="310896"/>
          </a:xfrm>
          <a:prstGeom prst="rect">
            <a:avLst/>
          </a:prstGeom>
          <a:solidFill>
            <a:srgbClr val="1F2E52"/>
          </a:solidFill>
          <a:ln/>
        </p:spPr>
      </p:sp>
      <p:sp>
        <p:nvSpPr>
          <p:cNvPr id="32" name="Text 30"/>
          <p:cNvSpPr/>
          <p:nvPr/>
        </p:nvSpPr>
        <p:spPr>
          <a:xfrm>
            <a:off x="3706063" y="1901952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الإدارة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742639" y="2340864"/>
            <a:ext cx="1947672" cy="384048"/>
          </a:xfrm>
          <a:prstGeom prst="roundRect">
            <a:avLst>
              <a:gd name="adj" fmla="val 9524"/>
            </a:avLst>
          </a:prstGeom>
          <a:solidFill>
            <a:srgbClr val="EEF1F6"/>
          </a:solidFill>
          <a:ln/>
        </p:spPr>
      </p:sp>
      <p:sp>
        <p:nvSpPr>
          <p:cNvPr id="34" name="Text 32"/>
          <p:cNvSpPr/>
          <p:nvPr/>
        </p:nvSpPr>
        <p:spPr>
          <a:xfrm>
            <a:off x="3815791" y="2340864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طلب اعتماد سائق جديد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742639" y="2816352"/>
            <a:ext cx="1947672" cy="384048"/>
          </a:xfrm>
          <a:prstGeom prst="roundRect">
            <a:avLst>
              <a:gd name="adj" fmla="val 9524"/>
            </a:avLst>
          </a:prstGeom>
          <a:solidFill>
            <a:srgbClr val="EEF1F6"/>
          </a:solidFill>
          <a:ln/>
        </p:spPr>
      </p:sp>
      <p:sp>
        <p:nvSpPr>
          <p:cNvPr id="36" name="Text 34"/>
          <p:cNvSpPr/>
          <p:nvPr/>
        </p:nvSpPr>
        <p:spPr>
          <a:xfrm>
            <a:off x="3815791" y="2816352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تجديد وثيقة تأمين شاحنة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742639" y="3291840"/>
            <a:ext cx="1947672" cy="384048"/>
          </a:xfrm>
          <a:prstGeom prst="roundRect">
            <a:avLst>
              <a:gd name="adj" fmla="val 9524"/>
            </a:avLst>
          </a:prstGeom>
          <a:solidFill>
            <a:srgbClr val="F4E4E6"/>
          </a:solidFill>
          <a:ln/>
        </p:spPr>
      </p:sp>
      <p:sp>
        <p:nvSpPr>
          <p:cNvPr id="38" name="Text 36"/>
          <p:cNvSpPr/>
          <p:nvPr/>
        </p:nvSpPr>
        <p:spPr>
          <a:xfrm>
            <a:off x="3815791" y="329184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بلاغ تسليم بحاجة لمراجعة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742639" y="3767328"/>
            <a:ext cx="1947672" cy="822960"/>
          </a:xfrm>
          <a:prstGeom prst="roundRect">
            <a:avLst>
              <a:gd name="adj" fmla="val 4444"/>
            </a:avLst>
          </a:prstGeom>
          <a:solidFill>
            <a:srgbClr val="E7ECF5"/>
          </a:solidFill>
          <a:ln/>
        </p:spPr>
      </p:sp>
      <p:sp>
        <p:nvSpPr>
          <p:cNvPr id="40" name="Shape 38"/>
          <p:cNvSpPr/>
          <p:nvPr/>
        </p:nvSpPr>
        <p:spPr>
          <a:xfrm>
            <a:off x="4396435" y="5989320"/>
            <a:ext cx="640080" cy="41148"/>
          </a:xfrm>
          <a:prstGeom prst="roundRect">
            <a:avLst>
              <a:gd name="adj" fmla="val 44444"/>
            </a:avLst>
          </a:prstGeom>
          <a:solidFill>
            <a:srgbClr val="1F2E52"/>
          </a:solidFill>
          <a:ln/>
        </p:spPr>
      </p:sp>
      <p:sp>
        <p:nvSpPr>
          <p:cNvPr id="41" name="Text 3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ماذا حقّقنا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نتائج المشروع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339535" y="182880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893247" y="2107692"/>
            <a:ext cx="402336" cy="40233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10893247" y="21076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68135" y="1828800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توحيد دورة طلب النقل بالكامل ضمن منصّة واحدة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53135" y="182880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06847" y="2107692"/>
            <a:ext cx="402336" cy="40233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5406847" y="21076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81735" y="1828800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تسعير مبني على بيانات فعلية بدل التقدير اليدوي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39535" y="3044952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893247" y="3323844"/>
            <a:ext cx="402336" cy="40233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4" name="Text 12"/>
          <p:cNvSpPr/>
          <p:nvPr/>
        </p:nvSpPr>
        <p:spPr>
          <a:xfrm>
            <a:off x="10893247" y="33238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68135" y="304495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ترتيب السائقين وفق معايير واضحة وقابلة للتفسير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3135" y="3044952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06847" y="3323844"/>
            <a:ext cx="402336" cy="40233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8" name="Text 16"/>
          <p:cNvSpPr/>
          <p:nvPr/>
        </p:nvSpPr>
        <p:spPr>
          <a:xfrm>
            <a:off x="5406847" y="33238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81735" y="304495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تتبّع حيّ لكل رحلة من الإنشاء حتى التسليم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39535" y="4261104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893247" y="4539996"/>
            <a:ext cx="402336" cy="40233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2" name="Text 20"/>
          <p:cNvSpPr/>
          <p:nvPr/>
        </p:nvSpPr>
        <p:spPr>
          <a:xfrm>
            <a:off x="10893247" y="45399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68135" y="4261104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متكاملة للوثائق والعمليات المالية والصلاحيات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بعد التخرّج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خارطة التطوير المستقبلي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3566160"/>
            <a:ext cx="10911535" cy="0"/>
          </a:xfrm>
          <a:prstGeom prst="line">
            <a:avLst/>
          </a:prstGeom>
          <a:noFill/>
          <a:ln w="25400">
            <a:solidFill>
              <a:srgbClr val="E4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86289" y="3310128"/>
            <a:ext cx="512064" cy="51206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10386289" y="3310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56" dirty="0"/>
          </a:p>
        </p:txBody>
      </p:sp>
      <p:sp>
        <p:nvSpPr>
          <p:cNvPr id="7" name="Text 5"/>
          <p:cNvSpPr/>
          <p:nvPr/>
        </p:nvSpPr>
        <p:spPr>
          <a:xfrm>
            <a:off x="9824466" y="2240280"/>
            <a:ext cx="16357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تسعير ومطابقة بالذكاء الاصطناعي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642321" y="3310128"/>
            <a:ext cx="0" cy="256032"/>
          </a:xfrm>
          <a:prstGeom prst="line">
            <a:avLst/>
          </a:prstGeom>
          <a:noFill/>
          <a:ln w="19050">
            <a:solidFill>
              <a:srgbClr val="E4E7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67699" y="3310128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8567699" y="3310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56" dirty="0"/>
          </a:p>
        </p:txBody>
      </p:sp>
      <p:sp>
        <p:nvSpPr>
          <p:cNvPr id="11" name="Text 9"/>
          <p:cNvSpPr/>
          <p:nvPr/>
        </p:nvSpPr>
        <p:spPr>
          <a:xfrm>
            <a:off x="8005877" y="4069080"/>
            <a:ext cx="16357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وقت وصول ديناميكي (ETA)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823731" y="3822192"/>
            <a:ext cx="0" cy="256032"/>
          </a:xfrm>
          <a:prstGeom prst="line">
            <a:avLst/>
          </a:prstGeom>
          <a:noFill/>
          <a:ln w="19050">
            <a:solidFill>
              <a:srgbClr val="E4E7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49110" y="3310128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6749110" y="3310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56" dirty="0"/>
          </a:p>
        </p:txBody>
      </p:sp>
      <p:sp>
        <p:nvSpPr>
          <p:cNvPr id="15" name="Text 13"/>
          <p:cNvSpPr/>
          <p:nvPr/>
        </p:nvSpPr>
        <p:spPr>
          <a:xfrm>
            <a:off x="6187288" y="2240280"/>
            <a:ext cx="16357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رحلات العودة (Return Loads)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05142" y="3310128"/>
            <a:ext cx="0" cy="256032"/>
          </a:xfrm>
          <a:prstGeom prst="line">
            <a:avLst/>
          </a:prstGeom>
          <a:noFill/>
          <a:ln w="19050">
            <a:solidFill>
              <a:srgbClr val="E4E7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0521" y="3310128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4930521" y="3310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56" dirty="0"/>
          </a:p>
        </p:txBody>
      </p:sp>
      <p:sp>
        <p:nvSpPr>
          <p:cNvPr id="19" name="Text 17"/>
          <p:cNvSpPr/>
          <p:nvPr/>
        </p:nvSpPr>
        <p:spPr>
          <a:xfrm>
            <a:off x="4368698" y="4069080"/>
            <a:ext cx="16357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عروض مقابلة (Counter Offers)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186553" y="3822192"/>
            <a:ext cx="0" cy="256032"/>
          </a:xfrm>
          <a:prstGeom prst="line">
            <a:avLst/>
          </a:prstGeom>
          <a:noFill/>
          <a:ln w="19050">
            <a:solidFill>
              <a:srgbClr val="E4E7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11932" y="3310128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2" name="Text 20"/>
          <p:cNvSpPr/>
          <p:nvPr/>
        </p:nvSpPr>
        <p:spPr>
          <a:xfrm>
            <a:off x="3111932" y="3310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56" dirty="0"/>
          </a:p>
        </p:txBody>
      </p:sp>
      <p:sp>
        <p:nvSpPr>
          <p:cNvPr id="23" name="Text 21"/>
          <p:cNvSpPr/>
          <p:nvPr/>
        </p:nvSpPr>
        <p:spPr>
          <a:xfrm>
            <a:off x="2550109" y="2240280"/>
            <a:ext cx="16357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لوحة تحكّم ويب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67964" y="3310128"/>
            <a:ext cx="0" cy="256032"/>
          </a:xfrm>
          <a:prstGeom prst="line">
            <a:avLst/>
          </a:prstGeom>
          <a:noFill/>
          <a:ln w="19050">
            <a:solidFill>
              <a:srgbClr val="E4E7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93343" y="3310128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6" name="Text 24"/>
          <p:cNvSpPr/>
          <p:nvPr/>
        </p:nvSpPr>
        <p:spPr>
          <a:xfrm>
            <a:off x="1293343" y="3310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56" dirty="0"/>
          </a:p>
        </p:txBody>
      </p:sp>
      <p:sp>
        <p:nvSpPr>
          <p:cNvPr id="27" name="Text 25"/>
          <p:cNvSpPr/>
          <p:nvPr/>
        </p:nvSpPr>
        <p:spPr>
          <a:xfrm>
            <a:off x="731520" y="4069080"/>
            <a:ext cx="16357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تكامل مع أنظمة ERP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549375" y="3822192"/>
            <a:ext cx="0" cy="256032"/>
          </a:xfrm>
          <a:prstGeom prst="line">
            <a:avLst/>
          </a:prstGeom>
          <a:noFill/>
          <a:ln w="19050">
            <a:solidFill>
              <a:srgbClr val="E4E7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عرض حيّ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34682" y="2903220"/>
            <a:ext cx="1051560" cy="1051560"/>
          </a:xfrm>
          <a:prstGeom prst="ellipse">
            <a:avLst/>
          </a:prstGeom>
          <a:solidFill>
            <a:srgbClr val="16213E"/>
          </a:solidFill>
          <a:ln w="25400">
            <a:solidFill>
              <a:srgbClr val="1F2E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34682" y="29032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460748" y="41376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الشركة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506468" y="3355848"/>
            <a:ext cx="856427" cy="146304"/>
          </a:xfrm>
          <a:prstGeom prst="leftArrow">
            <a:avLst/>
          </a:prstGeom>
          <a:solidFill>
            <a:srgbClr val="B8962E"/>
          </a:solidFill>
          <a:ln/>
        </p:spPr>
      </p:sp>
      <p:sp>
        <p:nvSpPr>
          <p:cNvPr id="8" name="Shape 6"/>
          <p:cNvSpPr/>
          <p:nvPr/>
        </p:nvSpPr>
        <p:spPr>
          <a:xfrm>
            <a:off x="7752375" y="2903220"/>
            <a:ext cx="1051560" cy="1051560"/>
          </a:xfrm>
          <a:prstGeom prst="ellipse">
            <a:avLst/>
          </a:prstGeom>
          <a:solidFill>
            <a:srgbClr val="16213E"/>
          </a:solidFill>
          <a:ln w="25400">
            <a:solidFill>
              <a:srgbClr val="1F2E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52375" y="29032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78441" y="41376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إنشاء شحنة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24161" y="3355848"/>
            <a:ext cx="856427" cy="146304"/>
          </a:xfrm>
          <a:prstGeom prst="leftArrow">
            <a:avLst/>
          </a:prstGeom>
          <a:solidFill>
            <a:srgbClr val="B8962E"/>
          </a:solidFill>
          <a:ln/>
        </p:spPr>
      </p:sp>
      <p:sp>
        <p:nvSpPr>
          <p:cNvPr id="12" name="Shape 10"/>
          <p:cNvSpPr/>
          <p:nvPr/>
        </p:nvSpPr>
        <p:spPr>
          <a:xfrm>
            <a:off x="5570068" y="2903220"/>
            <a:ext cx="1051560" cy="1051560"/>
          </a:xfrm>
          <a:prstGeom prst="ellipse">
            <a:avLst/>
          </a:prstGeom>
          <a:solidFill>
            <a:srgbClr val="16213E"/>
          </a:solidFill>
          <a:ln w="25400">
            <a:solidFill>
              <a:srgbClr val="1F2E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0068" y="29032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96134" y="41376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السائق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41854" y="3355848"/>
            <a:ext cx="856427" cy="146304"/>
          </a:xfrm>
          <a:prstGeom prst="leftArrow">
            <a:avLst/>
          </a:prstGeom>
          <a:solidFill>
            <a:srgbClr val="B8962E"/>
          </a:solidFill>
          <a:ln/>
        </p:spPr>
      </p:sp>
      <p:sp>
        <p:nvSpPr>
          <p:cNvPr id="16" name="Shape 14"/>
          <p:cNvSpPr/>
          <p:nvPr/>
        </p:nvSpPr>
        <p:spPr>
          <a:xfrm>
            <a:off x="3387761" y="2903220"/>
            <a:ext cx="1051560" cy="1051560"/>
          </a:xfrm>
          <a:prstGeom prst="ellipse">
            <a:avLst/>
          </a:prstGeom>
          <a:solidFill>
            <a:srgbClr val="16213E"/>
          </a:solidFill>
          <a:ln w="25400">
            <a:solidFill>
              <a:srgbClr val="1F2E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7761" y="29032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913827" y="41376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قبول العرض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959547" y="3355848"/>
            <a:ext cx="856427" cy="146304"/>
          </a:xfrm>
          <a:prstGeom prst="leftArrow">
            <a:avLst/>
          </a:prstGeom>
          <a:solidFill>
            <a:srgbClr val="B8962E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5454" y="2903220"/>
            <a:ext cx="1051560" cy="1051560"/>
          </a:xfrm>
          <a:prstGeom prst="ellipse">
            <a:avLst/>
          </a:prstGeom>
          <a:solidFill>
            <a:srgbClr val="D4AF37"/>
          </a:solidFill>
          <a:ln w="25400">
            <a:solidFill>
              <a:srgbClr val="1F2E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05454" y="29032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31520" y="41376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التتبّع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943600" cy="5943600"/>
          </a:xfrm>
          <a:prstGeom prst="ellipse">
            <a:avLst/>
          </a:prstGeom>
          <a:solidFill>
            <a:srgbClr val="16213E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4688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نظام إدارة الشحن الذكي يربط الشركات والسائقين ضمن منصّة واحدة موثوقة —</a:t>
            </a:r>
            <a:endParaRPr lang="en-US" sz="2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من إنشاء الشحنة إلى التسليم.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أفضل سائق لأفضل شحنة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شكرًا لحسن استماعكم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محمد نورالدين الحموي   •   محمد مصطفى الزعبي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2026-08-22T12:42:48Z</dcterms:created>
  <dcterms:modified xsi:type="dcterms:W3CDTF">2026-08-22T12:42:48Z</dcterms:modified>
</cp:coreProperties>
</file>