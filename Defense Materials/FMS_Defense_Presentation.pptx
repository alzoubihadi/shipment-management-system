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افتتاحية: التحية للجنة المناقشة، تقديم أسماء الطالبَين والمشروع. الوقت الكلي للمناقشة 20 دقيقة: 15 دقيقة للشرح موزعة بين الطالبَين، و5 دقائق لأسئلة اللجنة.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عرض خطة الشرح والوقت المخصص لكل محور، وتوضيح توزيع العرض بين الطالبَين قبل البدء.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المشكلة الأساسية التي يعالجها المشروع: التسعير اليدوي، اختيار السائق العشوائي، غياب الرقابة المالية والامتثال.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سرد أهداف المشروع الستة الرئيسية بإيجاز، كل هدف في جملة واحدة واضحة.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البنية العامة: التطبيق يتواصل عبر REST API مصادَق بـ Bearer Token مع خادم Laravel، والذي بدوره يتعامل مع قاعدة بيانات PostgreSQL ومزوَّد بخدمات Firebase للإشعارات.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تعريف سريع بالأطراف الثلاثة الذين يستخدمون التطبيق: الشركة (تنشئ الطلب)، السائق (ينفّذ)، والإدارة (تراقب وتتحكم بالصلاحيات).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المستويات الثلاثة لمحرك التسعير، ثم معادلتي السعر المقترح وسعر السائق، وآلية الحجز الائتماني التي تمنع تجاوز السقف المالي للشركة.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الخطوة الأولى من المطابقة: ست بوابات أهلية صارمة يجب أن يحققها السائق كلها معًا. لا مجال لتعويض نقص في بوابة بميزة في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أوزان الترتيب الخمسة والمعادلة الكلية، ثم آلية الإرسال على دفعات من 5 سائقين مع مهلة 5 دقائق والتصعيد عند الاستنفاد.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عرض دورة حياة الشحنة الكاملة بست مراحل، مع التنويه أن الدفع الفعلي للسائق لا يحدث إلا بعد تأكيد الشركة الصريح للاستلام أو حسم أي نزاع.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بنية التطبيق: نقطة دخول واحدة (HomeScreen) تبني واجهة مختلفة كليًا حسب الدور، وإدارة الحالة المعتمدة على أدوات Flutter الأساسية دون مكتبات خارجية.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 ميزات تقنية متقدمة في تطبيق Flutter: التتبع الحي بالخلفية، الإشعارات الفورية، الخرائط التفاعلية، وعرض المستندات الحساسة بشكل آمن.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عرض ستة مبادئ أمنية حقيقية مطبقة في الكود (وليست نظرية فقط): عدم الثقة بالعميل، منع IDOR، تخزين خاص للمستندات، دفاع مزدوج، رقابة مالية مزدوجة، ومنع تسابق العمليات.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عرض أرقام سريعة (79 اختبارًا ناجحًا، 90 شاشة)، ثم أبرز أربعة إنجازات تقنية حقيقية تحقق منها الفريق أثناء العمل.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تقديم أهم التحديات التقنية بصراحة (لا إخفاء نقاط الضعف)، ثم أفكار واضحة ومعقولة للتطوير المستقبلي — هذا يُظهر وعيًا هندسيًا ناضجًا أمام اللجنة.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ختام العرض، شكر اللجنة، والتحول لفترة الأسئلة (5 دقائق). يُفضَّل أن يُجيب كل طالب عن الأسئلة المتعلقة بالجزء الذي قدّمه تحديدًا.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0" y="0"/>
            <a:ext cx="12191695" cy="1417320"/>
          </a:xfrm>
          <a:prstGeom prst="rect">
            <a:avLst/>
          </a:prstGeom>
          <a:solidFill>
            <a:srgbClr val="16213E"/>
          </a:solidFill>
          <a:ln/>
        </p:spPr>
      </p:sp>
      <p:sp>
        <p:nvSpPr>
          <p:cNvPr id="4" name="Text 2"/>
          <p:cNvSpPr/>
          <p:nvPr/>
        </p:nvSpPr>
        <p:spPr>
          <a:xfrm>
            <a:off x="457200" y="384048"/>
            <a:ext cx="11277295" cy="320040"/>
          </a:xfrm>
          <a:prstGeom prst="rect">
            <a:avLst/>
          </a:prstGeom>
          <a:noFill/>
          <a:ln/>
        </p:spPr>
        <p:txBody>
          <a:bodyPr wrap="square" rtlCol="0" anchor="ctr"/>
          <a:lstStyle/>
          <a:p>
            <a:pPr rtl="1" algn="ctr" indent="0" marL="0">
              <a:buNone/>
            </a:pPr>
            <a:r>
              <a:rPr lang="en-US" sz="1300" spc="100" kern="0" dirty="0">
                <a:solidFill>
                  <a:srgbClr val="D4AF37"/>
                </a:solidFill>
                <a:latin typeface="Calibri" pitchFamily="34" charset="0"/>
                <a:ea typeface="Calibri" pitchFamily="34" charset="-122"/>
                <a:cs typeface="Calibri" pitchFamily="34" charset="-120"/>
              </a:rPr>
              <a:t>الجمهورية العربية السورية   |   جامعة دمشق   |   كلية الهندسة المعلوماتية</a:t>
            </a:r>
            <a:endParaRPr lang="en-US" sz="1300" dirty="0"/>
          </a:p>
        </p:txBody>
      </p:sp>
      <p:sp>
        <p:nvSpPr>
          <p:cNvPr id="5" name="Text 3"/>
          <p:cNvSpPr/>
          <p:nvPr/>
        </p:nvSpPr>
        <p:spPr>
          <a:xfrm>
            <a:off x="457200" y="749808"/>
            <a:ext cx="11277295" cy="320040"/>
          </a:xfrm>
          <a:prstGeom prst="rect">
            <a:avLst/>
          </a:prstGeom>
          <a:noFill/>
          <a:ln/>
        </p:spPr>
        <p:txBody>
          <a:bodyPr wrap="square" rtlCol="0" anchor="ctr"/>
          <a:lstStyle/>
          <a:p>
            <a:pPr rtl="1" algn="ctr" indent="0" marL="0">
              <a:buNone/>
            </a:pPr>
            <a:r>
              <a:rPr lang="en-US" sz="1300" dirty="0">
                <a:solidFill>
                  <a:srgbClr val="AEB6C4"/>
                </a:solidFill>
                <a:latin typeface="Calibri" pitchFamily="34" charset="0"/>
                <a:ea typeface="Calibri" pitchFamily="34" charset="-122"/>
                <a:cs typeface="Calibri" pitchFamily="34" charset="-120"/>
              </a:rPr>
              <a:t>قسم هندسة البرمجيات ونظم المعلومات</a:t>
            </a:r>
            <a:endParaRPr lang="en-US" sz="1300" dirty="0"/>
          </a:p>
        </p:txBody>
      </p:sp>
      <p:sp>
        <p:nvSpPr>
          <p:cNvPr id="6" name="Shape 4"/>
          <p:cNvSpPr/>
          <p:nvPr/>
        </p:nvSpPr>
        <p:spPr>
          <a:xfrm>
            <a:off x="5272888" y="2331720"/>
            <a:ext cx="1645920" cy="0"/>
          </a:xfrm>
          <a:prstGeom prst="line">
            <a:avLst/>
          </a:prstGeom>
          <a:noFill/>
          <a:ln w="25400">
            <a:solidFill>
              <a:srgbClr val="D4AF37"/>
            </a:solidFill>
            <a:prstDash val="solid"/>
          </a:ln>
        </p:spPr>
      </p:sp>
      <p:sp>
        <p:nvSpPr>
          <p:cNvPr id="7" name="Text 5"/>
          <p:cNvSpPr/>
          <p:nvPr/>
        </p:nvSpPr>
        <p:spPr>
          <a:xfrm>
            <a:off x="548640" y="2514600"/>
            <a:ext cx="11094415" cy="777240"/>
          </a:xfrm>
          <a:prstGeom prst="rect">
            <a:avLst/>
          </a:prstGeom>
          <a:noFill/>
          <a:ln/>
        </p:spPr>
        <p:txBody>
          <a:bodyPr wrap="square" rtlCol="0" anchor="ctr"/>
          <a:lstStyle/>
          <a:p>
            <a:pPr rtl="1" algn="ctr" indent="0" marL="0">
              <a:buNone/>
            </a:pPr>
            <a:r>
              <a:rPr lang="en-US" sz="4000" b="1" dirty="0">
                <a:solidFill>
                  <a:srgbClr val="FFFFFF"/>
                </a:solidFill>
                <a:latin typeface="Cambria" pitchFamily="34" charset="0"/>
                <a:ea typeface="Cambria" pitchFamily="34" charset="-122"/>
                <a:cs typeface="Cambria" pitchFamily="34" charset="-120"/>
              </a:rPr>
              <a:t>نظام إدارة الشحن الذكي</a:t>
            </a:r>
            <a:endParaRPr lang="en-US" sz="4000" dirty="0"/>
          </a:p>
        </p:txBody>
      </p:sp>
      <p:sp>
        <p:nvSpPr>
          <p:cNvPr id="8" name="Text 6"/>
          <p:cNvSpPr/>
          <p:nvPr/>
        </p:nvSpPr>
        <p:spPr>
          <a:xfrm>
            <a:off x="548640" y="3246120"/>
            <a:ext cx="11094415" cy="457200"/>
          </a:xfrm>
          <a:prstGeom prst="rect">
            <a:avLst/>
          </a:prstGeom>
          <a:noFill/>
          <a:ln/>
        </p:spPr>
        <p:txBody>
          <a:bodyPr wrap="square" rtlCol="0" anchor="ctr"/>
          <a:lstStyle/>
          <a:p>
            <a:pPr algn="ctr" indent="0" marL="0">
              <a:buNone/>
            </a:pPr>
            <a:r>
              <a:rPr lang="en-US" sz="1900" dirty="0">
                <a:solidFill>
                  <a:srgbClr val="D4AF37"/>
                </a:solidFill>
                <a:latin typeface="Calibri" pitchFamily="34" charset="0"/>
                <a:ea typeface="Calibri" pitchFamily="34" charset="-122"/>
                <a:cs typeface="Calibri" pitchFamily="34" charset="-120"/>
              </a:rPr>
              <a:t>Smart Freight Management System (FMS)</a:t>
            </a:r>
            <a:endParaRPr lang="en-US" sz="1900" dirty="0"/>
          </a:p>
        </p:txBody>
      </p:sp>
      <p:sp>
        <p:nvSpPr>
          <p:cNvPr id="9" name="Text 7"/>
          <p:cNvSpPr/>
          <p:nvPr/>
        </p:nvSpPr>
        <p:spPr>
          <a:xfrm>
            <a:off x="548640" y="3977640"/>
            <a:ext cx="11094415" cy="365760"/>
          </a:xfrm>
          <a:prstGeom prst="rect">
            <a:avLst/>
          </a:prstGeom>
          <a:noFill/>
          <a:ln/>
        </p:spPr>
        <p:txBody>
          <a:bodyPr wrap="square" rtlCol="0" anchor="ctr"/>
          <a:lstStyle/>
          <a:p>
            <a:pPr rtl="1" algn="ctr" indent="0" marL="0">
              <a:buNone/>
            </a:pPr>
            <a:r>
              <a:rPr lang="en-US" sz="1400" i="1" dirty="0">
                <a:solidFill>
                  <a:srgbClr val="AEB6C4"/>
                </a:solidFill>
                <a:latin typeface="Calibri" pitchFamily="34" charset="0"/>
                <a:ea typeface="Calibri" pitchFamily="34" charset="-122"/>
                <a:cs typeface="Calibri" pitchFamily="34" charset="-120"/>
              </a:rPr>
              <a:t>مشروع أُعدّ لنيل درجة الإجازة في الهندسة المعلوماتية</a:t>
            </a:r>
            <a:endParaRPr lang="en-US" sz="1400" dirty="0"/>
          </a:p>
        </p:txBody>
      </p:sp>
      <p:sp>
        <p:nvSpPr>
          <p:cNvPr id="10" name="Shape 8"/>
          <p:cNvSpPr/>
          <p:nvPr/>
        </p:nvSpPr>
        <p:spPr>
          <a:xfrm>
            <a:off x="2255368" y="4572000"/>
            <a:ext cx="7680960" cy="1417320"/>
          </a:xfrm>
          <a:prstGeom prst="roundRect">
            <a:avLst>
              <a:gd name="adj" fmla="val 5806"/>
            </a:avLst>
          </a:prstGeom>
          <a:solidFill>
            <a:srgbClr val="1F2E52"/>
          </a:solidFill>
          <a:ln w="12700">
            <a:solidFill>
              <a:srgbClr val="1F2E52"/>
            </a:solidFill>
            <a:prstDash val="solid"/>
          </a:ln>
          <a:effectLst>
            <a:outerShdw sx="100000" sy="100000" kx="0" ky="0" algn="bl" rotWithShape="0" blurRad="127000" dist="38100" dir="5400000">
              <a:srgbClr val="8A96A8">
                <a:alpha val="22000"/>
              </a:srgbClr>
            </a:outerShdw>
          </a:effectLst>
        </p:spPr>
      </p:sp>
      <p:sp>
        <p:nvSpPr>
          <p:cNvPr id="11" name="Text 9"/>
          <p:cNvSpPr/>
          <p:nvPr/>
        </p:nvSpPr>
        <p:spPr>
          <a:xfrm>
            <a:off x="2438248" y="4700016"/>
            <a:ext cx="7315200" cy="274320"/>
          </a:xfrm>
          <a:prstGeom prst="rect">
            <a:avLst/>
          </a:prstGeom>
          <a:noFill/>
          <a:ln/>
        </p:spPr>
        <p:txBody>
          <a:bodyPr wrap="square" rtlCol="0" anchor="ctr"/>
          <a:lstStyle/>
          <a:p>
            <a:pPr rtl="1" algn="ctr" indent="0" marL="0">
              <a:buNone/>
            </a:pPr>
            <a:r>
              <a:rPr lang="en-US" sz="1200" b="1" dirty="0">
                <a:solidFill>
                  <a:srgbClr val="D4AF37"/>
                </a:solidFill>
                <a:latin typeface="Calibri" pitchFamily="34" charset="0"/>
                <a:ea typeface="Calibri" pitchFamily="34" charset="-122"/>
                <a:cs typeface="Calibri" pitchFamily="34" charset="-120"/>
              </a:rPr>
              <a:t>إعداد الطلاب</a:t>
            </a:r>
            <a:endParaRPr lang="en-US" sz="1200" dirty="0"/>
          </a:p>
        </p:txBody>
      </p:sp>
      <p:sp>
        <p:nvSpPr>
          <p:cNvPr id="12" name="Text 10"/>
          <p:cNvSpPr/>
          <p:nvPr/>
        </p:nvSpPr>
        <p:spPr>
          <a:xfrm>
            <a:off x="2438248" y="4992624"/>
            <a:ext cx="7315200" cy="365760"/>
          </a:xfrm>
          <a:prstGeom prst="rect">
            <a:avLst/>
          </a:prstGeom>
          <a:noFill/>
          <a:ln/>
        </p:spPr>
        <p:txBody>
          <a:bodyPr wrap="square" rtlCol="0" anchor="ctr"/>
          <a:lstStyle/>
          <a:p>
            <a:pPr rtl="1" algn="ctr" indent="0" marL="0">
              <a:buNone/>
            </a:pPr>
            <a:r>
              <a:rPr lang="en-US" sz="1700" b="1" dirty="0">
                <a:solidFill>
                  <a:srgbClr val="FFFFFF"/>
                </a:solidFill>
                <a:latin typeface="Calibri" pitchFamily="34" charset="0"/>
                <a:ea typeface="Calibri" pitchFamily="34" charset="-122"/>
                <a:cs typeface="Calibri" pitchFamily="34" charset="-120"/>
              </a:rPr>
              <a:t>محمد نورالدين الحموي        —        محمد مصطفى الزعبي</a:t>
            </a:r>
            <a:endParaRPr lang="en-US" sz="1700" dirty="0"/>
          </a:p>
        </p:txBody>
      </p:sp>
      <p:sp>
        <p:nvSpPr>
          <p:cNvPr id="13" name="Text 11"/>
          <p:cNvSpPr/>
          <p:nvPr/>
        </p:nvSpPr>
        <p:spPr>
          <a:xfrm>
            <a:off x="2438248" y="5413248"/>
            <a:ext cx="7315200" cy="320040"/>
          </a:xfrm>
          <a:prstGeom prst="rect">
            <a:avLst/>
          </a:prstGeom>
          <a:noFill/>
          <a:ln/>
        </p:spPr>
        <p:txBody>
          <a:bodyPr wrap="square" rtlCol="0" anchor="ctr"/>
          <a:lstStyle/>
          <a:p>
            <a:pPr rtl="1" algn="ctr" indent="0" marL="0">
              <a:buNone/>
            </a:pPr>
            <a:r>
              <a:rPr lang="en-US" sz="1150" dirty="0">
                <a:solidFill>
                  <a:srgbClr val="AEB6C4"/>
                </a:solidFill>
                <a:latin typeface="Calibri" pitchFamily="34" charset="0"/>
                <a:ea typeface="Calibri" pitchFamily="34" charset="-122"/>
                <a:cs typeface="Calibri" pitchFamily="34" charset="-120"/>
              </a:rPr>
              <a:t>بإشراف: أعضاء الهيئة التدريسية في قسم هندسة البرمجيات ونظم المعلومات</a:t>
            </a:r>
            <a:endParaRPr lang="en-US" sz="1150" dirty="0"/>
          </a:p>
        </p:txBody>
      </p:sp>
      <p:sp>
        <p:nvSpPr>
          <p:cNvPr id="14" name="Text 12"/>
          <p:cNvSpPr/>
          <p:nvPr/>
        </p:nvSpPr>
        <p:spPr>
          <a:xfrm>
            <a:off x="548640" y="6263640"/>
            <a:ext cx="11094415" cy="320040"/>
          </a:xfrm>
          <a:prstGeom prst="rect">
            <a:avLst/>
          </a:prstGeom>
          <a:noFill/>
          <a:ln/>
        </p:spPr>
        <p:txBody>
          <a:bodyPr wrap="square" rtlCol="0" anchor="ctr"/>
          <a:lstStyle/>
          <a:p>
            <a:pPr algn="ctr" indent="0" marL="0">
              <a:buNone/>
            </a:pPr>
            <a:r>
              <a:rPr lang="en-US" sz="1200" dirty="0">
                <a:solidFill>
                  <a:srgbClr val="AEB6C4"/>
                </a:solidFill>
                <a:latin typeface="Calibri" pitchFamily="34" charset="0"/>
                <a:ea typeface="Calibri" pitchFamily="34" charset="-122"/>
                <a:cs typeface="Calibri" pitchFamily="34" charset="-120"/>
              </a:rPr>
              <a:t>آب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خطة العرض</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محاور المناقشة وتوزيع الوقت</a:t>
            </a:r>
            <a:endParaRPr lang="en-US" sz="3000" dirty="0"/>
          </a:p>
        </p:txBody>
      </p:sp>
      <p:sp>
        <p:nvSpPr>
          <p:cNvPr id="4" name="Shape 2"/>
          <p:cNvSpPr/>
          <p:nvPr/>
        </p:nvSpPr>
        <p:spPr>
          <a:xfrm>
            <a:off x="640080" y="1655064"/>
            <a:ext cx="384048" cy="384048"/>
          </a:xfrm>
          <a:prstGeom prst="ellipse">
            <a:avLst/>
          </a:prstGeom>
          <a:solidFill>
            <a:srgbClr val="16213E"/>
          </a:solidFill>
          <a:ln/>
        </p:spPr>
      </p:sp>
      <p:sp>
        <p:nvSpPr>
          <p:cNvPr id="5" name="Text 3"/>
          <p:cNvSpPr/>
          <p:nvPr/>
        </p:nvSpPr>
        <p:spPr>
          <a:xfrm>
            <a:off x="640080" y="1655064"/>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34440" y="1627632"/>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فكرة المشروع، المشكلة، والأهداف</a:t>
            </a:r>
            <a:endParaRPr lang="en-US" sz="1450" dirty="0"/>
          </a:p>
        </p:txBody>
      </p:sp>
      <p:sp>
        <p:nvSpPr>
          <p:cNvPr id="7" name="Text 5"/>
          <p:cNvSpPr/>
          <p:nvPr/>
        </p:nvSpPr>
        <p:spPr>
          <a:xfrm>
            <a:off x="9418320" y="1627632"/>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2 د</a:t>
            </a:r>
            <a:endParaRPr lang="en-US" sz="1300" dirty="0"/>
          </a:p>
        </p:txBody>
      </p:sp>
      <p:sp>
        <p:nvSpPr>
          <p:cNvPr id="8" name="Shape 6"/>
          <p:cNvSpPr/>
          <p:nvPr/>
        </p:nvSpPr>
        <p:spPr>
          <a:xfrm>
            <a:off x="640080" y="2185416"/>
            <a:ext cx="384048" cy="384048"/>
          </a:xfrm>
          <a:prstGeom prst="ellipse">
            <a:avLst/>
          </a:prstGeom>
          <a:solidFill>
            <a:srgbClr val="16213E"/>
          </a:solidFill>
          <a:ln/>
        </p:spPr>
      </p:sp>
      <p:sp>
        <p:nvSpPr>
          <p:cNvPr id="9" name="Text 7"/>
          <p:cNvSpPr/>
          <p:nvPr/>
        </p:nvSpPr>
        <p:spPr>
          <a:xfrm>
            <a:off x="640080" y="2185416"/>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234440" y="2157984"/>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البنية العامة للنظام والتقنيات المستخدمة</a:t>
            </a:r>
            <a:endParaRPr lang="en-US" sz="1450" dirty="0"/>
          </a:p>
        </p:txBody>
      </p:sp>
      <p:sp>
        <p:nvSpPr>
          <p:cNvPr id="11" name="Text 9"/>
          <p:cNvSpPr/>
          <p:nvPr/>
        </p:nvSpPr>
        <p:spPr>
          <a:xfrm>
            <a:off x="9418320" y="2157984"/>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2 د</a:t>
            </a:r>
            <a:endParaRPr lang="en-US" sz="1300" dirty="0"/>
          </a:p>
        </p:txBody>
      </p:sp>
      <p:sp>
        <p:nvSpPr>
          <p:cNvPr id="12" name="Shape 10"/>
          <p:cNvSpPr/>
          <p:nvPr/>
        </p:nvSpPr>
        <p:spPr>
          <a:xfrm>
            <a:off x="640080" y="2715768"/>
            <a:ext cx="384048" cy="384048"/>
          </a:xfrm>
          <a:prstGeom prst="ellipse">
            <a:avLst/>
          </a:prstGeom>
          <a:solidFill>
            <a:srgbClr val="16213E"/>
          </a:solidFill>
          <a:ln/>
        </p:spPr>
      </p:sp>
      <p:sp>
        <p:nvSpPr>
          <p:cNvPr id="13" name="Text 11"/>
          <p:cNvSpPr/>
          <p:nvPr/>
        </p:nvSpPr>
        <p:spPr>
          <a:xfrm>
            <a:off x="640080" y="271576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234440" y="2688336"/>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خوارزمية التسعير الذكي</a:t>
            </a:r>
            <a:endParaRPr lang="en-US" sz="1450" dirty="0"/>
          </a:p>
        </p:txBody>
      </p:sp>
      <p:sp>
        <p:nvSpPr>
          <p:cNvPr id="15" name="Text 13"/>
          <p:cNvSpPr/>
          <p:nvPr/>
        </p:nvSpPr>
        <p:spPr>
          <a:xfrm>
            <a:off x="9418320" y="2688336"/>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2.5 د</a:t>
            </a:r>
            <a:endParaRPr lang="en-US" sz="1300" dirty="0"/>
          </a:p>
        </p:txBody>
      </p:sp>
      <p:sp>
        <p:nvSpPr>
          <p:cNvPr id="16" name="Shape 14"/>
          <p:cNvSpPr/>
          <p:nvPr/>
        </p:nvSpPr>
        <p:spPr>
          <a:xfrm>
            <a:off x="640080" y="3246120"/>
            <a:ext cx="384048" cy="384048"/>
          </a:xfrm>
          <a:prstGeom prst="ellipse">
            <a:avLst/>
          </a:prstGeom>
          <a:solidFill>
            <a:srgbClr val="16213E"/>
          </a:solidFill>
          <a:ln/>
        </p:spPr>
      </p:sp>
      <p:sp>
        <p:nvSpPr>
          <p:cNvPr id="17" name="Text 15"/>
          <p:cNvSpPr/>
          <p:nvPr/>
        </p:nvSpPr>
        <p:spPr>
          <a:xfrm>
            <a:off x="640080" y="3246120"/>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234440" y="3218688"/>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خوارزمية المطابقة بين الشحنات والسائقين</a:t>
            </a:r>
            <a:endParaRPr lang="en-US" sz="1450" dirty="0"/>
          </a:p>
        </p:txBody>
      </p:sp>
      <p:sp>
        <p:nvSpPr>
          <p:cNvPr id="19" name="Text 17"/>
          <p:cNvSpPr/>
          <p:nvPr/>
        </p:nvSpPr>
        <p:spPr>
          <a:xfrm>
            <a:off x="9418320" y="3218688"/>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3 د</a:t>
            </a:r>
            <a:endParaRPr lang="en-US" sz="1300" dirty="0"/>
          </a:p>
        </p:txBody>
      </p:sp>
      <p:sp>
        <p:nvSpPr>
          <p:cNvPr id="20" name="Shape 18"/>
          <p:cNvSpPr/>
          <p:nvPr/>
        </p:nvSpPr>
        <p:spPr>
          <a:xfrm>
            <a:off x="640080" y="3776472"/>
            <a:ext cx="384048" cy="384048"/>
          </a:xfrm>
          <a:prstGeom prst="ellipse">
            <a:avLst/>
          </a:prstGeom>
          <a:solidFill>
            <a:srgbClr val="16213E"/>
          </a:solidFill>
          <a:ln/>
        </p:spPr>
      </p:sp>
      <p:sp>
        <p:nvSpPr>
          <p:cNvPr id="21" name="Text 19"/>
          <p:cNvSpPr/>
          <p:nvPr/>
        </p:nvSpPr>
        <p:spPr>
          <a:xfrm>
            <a:off x="640080" y="3776472"/>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234440" y="3749040"/>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دورة حياة الشحنة الكاملة</a:t>
            </a:r>
            <a:endParaRPr lang="en-US" sz="1450" dirty="0"/>
          </a:p>
        </p:txBody>
      </p:sp>
      <p:sp>
        <p:nvSpPr>
          <p:cNvPr id="23" name="Text 21"/>
          <p:cNvSpPr/>
          <p:nvPr/>
        </p:nvSpPr>
        <p:spPr>
          <a:xfrm>
            <a:off x="9418320" y="3749040"/>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1.5 د</a:t>
            </a:r>
            <a:endParaRPr lang="en-US" sz="1300" dirty="0"/>
          </a:p>
        </p:txBody>
      </p:sp>
      <p:sp>
        <p:nvSpPr>
          <p:cNvPr id="24" name="Shape 22"/>
          <p:cNvSpPr/>
          <p:nvPr/>
        </p:nvSpPr>
        <p:spPr>
          <a:xfrm>
            <a:off x="640080" y="4306824"/>
            <a:ext cx="384048" cy="384048"/>
          </a:xfrm>
          <a:prstGeom prst="ellipse">
            <a:avLst/>
          </a:prstGeom>
          <a:solidFill>
            <a:srgbClr val="16213E"/>
          </a:solidFill>
          <a:ln/>
        </p:spPr>
      </p:sp>
      <p:sp>
        <p:nvSpPr>
          <p:cNvPr id="25" name="Text 23"/>
          <p:cNvSpPr/>
          <p:nvPr/>
        </p:nvSpPr>
        <p:spPr>
          <a:xfrm>
            <a:off x="640080" y="4306824"/>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1234440" y="4279392"/>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تطبيق Flutter: البنية والميزات والأمان</a:t>
            </a:r>
            <a:endParaRPr lang="en-US" sz="1450" dirty="0"/>
          </a:p>
        </p:txBody>
      </p:sp>
      <p:sp>
        <p:nvSpPr>
          <p:cNvPr id="27" name="Text 25"/>
          <p:cNvSpPr/>
          <p:nvPr/>
        </p:nvSpPr>
        <p:spPr>
          <a:xfrm>
            <a:off x="9418320" y="4279392"/>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3 د</a:t>
            </a:r>
            <a:endParaRPr lang="en-US" sz="1300" dirty="0"/>
          </a:p>
        </p:txBody>
      </p:sp>
      <p:sp>
        <p:nvSpPr>
          <p:cNvPr id="28" name="Shape 26"/>
          <p:cNvSpPr/>
          <p:nvPr/>
        </p:nvSpPr>
        <p:spPr>
          <a:xfrm>
            <a:off x="640080" y="4837176"/>
            <a:ext cx="384048" cy="384048"/>
          </a:xfrm>
          <a:prstGeom prst="ellipse">
            <a:avLst/>
          </a:prstGeom>
          <a:solidFill>
            <a:srgbClr val="16213E"/>
          </a:solidFill>
          <a:ln/>
        </p:spPr>
      </p:sp>
      <p:sp>
        <p:nvSpPr>
          <p:cNvPr id="29" name="Text 27"/>
          <p:cNvSpPr/>
          <p:nvPr/>
        </p:nvSpPr>
        <p:spPr>
          <a:xfrm>
            <a:off x="640080" y="4837176"/>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7</a:t>
            </a:r>
            <a:endParaRPr lang="en-US" sz="1600" dirty="0"/>
          </a:p>
        </p:txBody>
      </p:sp>
      <p:sp>
        <p:nvSpPr>
          <p:cNvPr id="30" name="Text 28"/>
          <p:cNvSpPr/>
          <p:nvPr/>
        </p:nvSpPr>
        <p:spPr>
          <a:xfrm>
            <a:off x="1234440" y="4809744"/>
            <a:ext cx="8092440" cy="530352"/>
          </a:xfrm>
          <a:prstGeom prst="rect">
            <a:avLst/>
          </a:prstGeom>
          <a:noFill/>
          <a:ln/>
        </p:spPr>
        <p:txBody>
          <a:bodyPr wrap="square" rtlCol="0" anchor="ctr"/>
          <a:lstStyle/>
          <a:p>
            <a:pPr rtl="1" algn="r" indent="0" marL="0">
              <a:buNone/>
            </a:pPr>
            <a:r>
              <a:rPr lang="en-US" sz="1450" dirty="0">
                <a:solidFill>
                  <a:srgbClr val="14161A"/>
                </a:solidFill>
                <a:latin typeface="Calibri" pitchFamily="34" charset="0"/>
                <a:ea typeface="Calibri" pitchFamily="34" charset="-122"/>
                <a:cs typeface="Calibri" pitchFamily="34" charset="-120"/>
              </a:rPr>
              <a:t>الجودة، الإنجازات، والعمل المستقبلي</a:t>
            </a:r>
            <a:endParaRPr lang="en-US" sz="1450" dirty="0"/>
          </a:p>
        </p:txBody>
      </p:sp>
      <p:sp>
        <p:nvSpPr>
          <p:cNvPr id="31" name="Text 29"/>
          <p:cNvSpPr/>
          <p:nvPr/>
        </p:nvSpPr>
        <p:spPr>
          <a:xfrm>
            <a:off x="9418320" y="4809744"/>
            <a:ext cx="914400" cy="530352"/>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1.5 د</a:t>
            </a:r>
            <a:endParaRPr lang="en-US" sz="1300" dirty="0"/>
          </a:p>
        </p:txBody>
      </p:sp>
      <p:sp>
        <p:nvSpPr>
          <p:cNvPr id="32" name="Shape 30"/>
          <p:cNvSpPr/>
          <p:nvPr/>
        </p:nvSpPr>
        <p:spPr>
          <a:xfrm>
            <a:off x="10561320" y="1627632"/>
            <a:ext cx="1097280" cy="3712464"/>
          </a:xfrm>
          <a:prstGeom prst="roundRect">
            <a:avLst>
              <a:gd name="adj" fmla="val 7500"/>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33" name="Text 31"/>
          <p:cNvSpPr/>
          <p:nvPr/>
        </p:nvSpPr>
        <p:spPr>
          <a:xfrm>
            <a:off x="10561320" y="1783080"/>
            <a:ext cx="1097280" cy="548640"/>
          </a:xfrm>
          <a:prstGeom prst="rect">
            <a:avLst/>
          </a:prstGeom>
          <a:noFill/>
          <a:ln/>
        </p:spPr>
        <p:txBody>
          <a:bodyPr wrap="square" rtlCol="0" anchor="ctr"/>
          <a:lstStyle/>
          <a:p>
            <a:pPr algn="ctr" indent="0" marL="0">
              <a:buNone/>
            </a:pPr>
            <a:r>
              <a:rPr lang="en-US" sz="3000" b="1" dirty="0">
                <a:solidFill>
                  <a:srgbClr val="D4AF37"/>
                </a:solidFill>
                <a:latin typeface="Cambria" pitchFamily="34" charset="0"/>
                <a:ea typeface="Cambria" pitchFamily="34" charset="-122"/>
                <a:cs typeface="Cambria" pitchFamily="34" charset="-120"/>
              </a:rPr>
              <a:t>15</a:t>
            </a:r>
            <a:endParaRPr lang="en-US" sz="3000" dirty="0"/>
          </a:p>
        </p:txBody>
      </p:sp>
      <p:sp>
        <p:nvSpPr>
          <p:cNvPr id="34" name="Text 32"/>
          <p:cNvSpPr/>
          <p:nvPr/>
        </p:nvSpPr>
        <p:spPr>
          <a:xfrm>
            <a:off x="10561320" y="2331720"/>
            <a:ext cx="1097280" cy="548640"/>
          </a:xfrm>
          <a:prstGeom prst="rect">
            <a:avLst/>
          </a:prstGeom>
          <a:noFill/>
          <a:ln/>
        </p:spPr>
        <p:txBody>
          <a:bodyPr wrap="square" rtlCol="0" anchor="ctr"/>
          <a:lstStyle/>
          <a:p>
            <a:pPr rtl="1" algn="ctr" indent="0" marL="0">
              <a:buNone/>
            </a:pPr>
            <a:r>
              <a:rPr lang="en-US" sz="1100" dirty="0">
                <a:solidFill>
                  <a:srgbClr val="FFFFFF"/>
                </a:solidFill>
                <a:latin typeface="Calibri" pitchFamily="34" charset="0"/>
                <a:ea typeface="Calibri" pitchFamily="34" charset="-122"/>
                <a:cs typeface="Calibri" pitchFamily="34" charset="-120"/>
              </a:rPr>
              <a:t>دقيقة</a:t>
            </a:r>
            <a:endParaRPr lang="en-US" sz="1100" dirty="0"/>
          </a:p>
          <a:p>
            <a:pPr rtl="1" algn="ctr" indent="0" marL="0">
              <a:buNone/>
            </a:pPr>
            <a:r>
              <a:rPr lang="en-US" sz="1100" dirty="0">
                <a:solidFill>
                  <a:srgbClr val="FFFFFF"/>
                </a:solidFill>
                <a:latin typeface="Calibri" pitchFamily="34" charset="0"/>
                <a:ea typeface="Calibri" pitchFamily="34" charset="-122"/>
                <a:cs typeface="Calibri" pitchFamily="34" charset="-120"/>
              </a:rPr>
              <a:t>شرح</a:t>
            </a:r>
            <a:endParaRPr lang="en-US" sz="1100" dirty="0"/>
          </a:p>
        </p:txBody>
      </p:sp>
      <p:sp>
        <p:nvSpPr>
          <p:cNvPr id="35" name="Shape 33"/>
          <p:cNvSpPr/>
          <p:nvPr/>
        </p:nvSpPr>
        <p:spPr>
          <a:xfrm>
            <a:off x="10744200" y="3063240"/>
            <a:ext cx="731520" cy="0"/>
          </a:xfrm>
          <a:prstGeom prst="line">
            <a:avLst/>
          </a:prstGeom>
          <a:noFill/>
          <a:ln w="12700">
            <a:solidFill>
              <a:srgbClr val="D4AF37"/>
            </a:solidFill>
            <a:prstDash val="solid"/>
          </a:ln>
        </p:spPr>
      </p:sp>
      <p:sp>
        <p:nvSpPr>
          <p:cNvPr id="36" name="Text 34"/>
          <p:cNvSpPr/>
          <p:nvPr/>
        </p:nvSpPr>
        <p:spPr>
          <a:xfrm>
            <a:off x="10561320" y="3200400"/>
            <a:ext cx="1097280" cy="548640"/>
          </a:xfrm>
          <a:prstGeom prst="rect">
            <a:avLst/>
          </a:prstGeom>
          <a:noFill/>
          <a:ln/>
        </p:spPr>
        <p:txBody>
          <a:bodyPr wrap="square" rtlCol="0" anchor="ctr"/>
          <a:lstStyle/>
          <a:p>
            <a:pPr algn="ctr" indent="0" marL="0">
              <a:buNone/>
            </a:pPr>
            <a:r>
              <a:rPr lang="en-US" sz="3000" b="1" dirty="0">
                <a:solidFill>
                  <a:srgbClr val="D4AF37"/>
                </a:solidFill>
                <a:latin typeface="Cambria" pitchFamily="34" charset="0"/>
                <a:ea typeface="Cambria" pitchFamily="34" charset="-122"/>
                <a:cs typeface="Cambria" pitchFamily="34" charset="-120"/>
              </a:rPr>
              <a:t>5</a:t>
            </a:r>
            <a:endParaRPr lang="en-US" sz="3000" dirty="0"/>
          </a:p>
        </p:txBody>
      </p:sp>
      <p:sp>
        <p:nvSpPr>
          <p:cNvPr id="37" name="Text 35"/>
          <p:cNvSpPr/>
          <p:nvPr/>
        </p:nvSpPr>
        <p:spPr>
          <a:xfrm>
            <a:off x="10561320" y="3749040"/>
            <a:ext cx="1097280" cy="548640"/>
          </a:xfrm>
          <a:prstGeom prst="rect">
            <a:avLst/>
          </a:prstGeom>
          <a:noFill/>
          <a:ln/>
        </p:spPr>
        <p:txBody>
          <a:bodyPr wrap="square" rtlCol="0" anchor="ctr"/>
          <a:lstStyle/>
          <a:p>
            <a:pPr rtl="1" algn="ctr" indent="0" marL="0">
              <a:buNone/>
            </a:pPr>
            <a:r>
              <a:rPr lang="en-US" sz="1100" dirty="0">
                <a:solidFill>
                  <a:srgbClr val="FFFFFF"/>
                </a:solidFill>
                <a:latin typeface="Calibri" pitchFamily="34" charset="0"/>
                <a:ea typeface="Calibri" pitchFamily="34" charset="-122"/>
                <a:cs typeface="Calibri" pitchFamily="34" charset="-120"/>
              </a:rPr>
              <a:t>دقائق</a:t>
            </a:r>
            <a:endParaRPr lang="en-US" sz="1100" dirty="0"/>
          </a:p>
          <a:p>
            <a:pPr rtl="1" algn="ctr" indent="0" marL="0">
              <a:buNone/>
            </a:pPr>
            <a:r>
              <a:rPr lang="en-US" sz="1100" dirty="0">
                <a:solidFill>
                  <a:srgbClr val="FFFFFF"/>
                </a:solidFill>
                <a:latin typeface="Calibri" pitchFamily="34" charset="0"/>
                <a:ea typeface="Calibri" pitchFamily="34" charset="-122"/>
                <a:cs typeface="Calibri" pitchFamily="34" charset="-120"/>
              </a:rPr>
              <a:t>أسئلة</a:t>
            </a:r>
            <a:endParaRPr lang="en-US" sz="1100" dirty="0"/>
          </a:p>
        </p:txBody>
      </p:sp>
      <p:sp>
        <p:nvSpPr>
          <p:cNvPr id="38" name="Shape 36"/>
          <p:cNvSpPr/>
          <p:nvPr/>
        </p:nvSpPr>
        <p:spPr>
          <a:xfrm>
            <a:off x="10744200" y="4480560"/>
            <a:ext cx="731520" cy="0"/>
          </a:xfrm>
          <a:prstGeom prst="line">
            <a:avLst/>
          </a:prstGeom>
          <a:noFill/>
          <a:ln w="12700">
            <a:solidFill>
              <a:srgbClr val="D4AF37"/>
            </a:solidFill>
            <a:prstDash val="solid"/>
          </a:ln>
        </p:spPr>
      </p:sp>
      <p:sp>
        <p:nvSpPr>
          <p:cNvPr id="39" name="Text 37"/>
          <p:cNvSpPr/>
          <p:nvPr/>
        </p:nvSpPr>
        <p:spPr>
          <a:xfrm>
            <a:off x="10561320" y="4572000"/>
            <a:ext cx="1097280" cy="640080"/>
          </a:xfrm>
          <a:prstGeom prst="rect">
            <a:avLst/>
          </a:prstGeom>
          <a:noFill/>
          <a:ln/>
        </p:spPr>
        <p:txBody>
          <a:bodyPr wrap="square" rtlCol="0" anchor="ctr"/>
          <a:lstStyle/>
          <a:p>
            <a:pPr rtl="1" algn="ctr" indent="0" marL="0">
              <a:buNone/>
            </a:pPr>
            <a:r>
              <a:rPr lang="en-US" sz="1100" b="1" dirty="0">
                <a:solidFill>
                  <a:srgbClr val="FFFFFF"/>
                </a:solidFill>
                <a:latin typeface="Calibri" pitchFamily="34" charset="0"/>
                <a:ea typeface="Calibri" pitchFamily="34" charset="-122"/>
                <a:cs typeface="Calibri" pitchFamily="34" charset="-120"/>
              </a:rPr>
              <a:t>20</a:t>
            </a:r>
            <a:endParaRPr lang="en-US" sz="1100" dirty="0"/>
          </a:p>
          <a:p>
            <a:pPr rtl="1" algn="ctr" indent="0" marL="0">
              <a:buNone/>
            </a:pPr>
            <a:r>
              <a:rPr lang="en-US" sz="1100" b="1" dirty="0">
                <a:solidFill>
                  <a:srgbClr val="FFFFFF"/>
                </a:solidFill>
                <a:latin typeface="Calibri" pitchFamily="34" charset="0"/>
                <a:ea typeface="Calibri" pitchFamily="34" charset="-122"/>
                <a:cs typeface="Calibri" pitchFamily="34" charset="-120"/>
              </a:rPr>
              <a:t>دقيقة</a:t>
            </a:r>
            <a:endParaRPr lang="en-US" sz="1100" dirty="0"/>
          </a:p>
          <a:p>
            <a:pPr rtl="1" algn="ctr" indent="0" marL="0">
              <a:buNone/>
            </a:pPr>
            <a:r>
              <a:rPr lang="en-US" sz="1100" b="1" dirty="0">
                <a:solidFill>
                  <a:srgbClr val="FFFFFF"/>
                </a:solidFill>
                <a:latin typeface="Calibri" pitchFamily="34" charset="0"/>
                <a:ea typeface="Calibri" pitchFamily="34" charset="-122"/>
                <a:cs typeface="Calibri" pitchFamily="34" charset="-120"/>
              </a:rPr>
              <a:t>إجمالي</a:t>
            </a:r>
            <a:endParaRPr lang="en-US" sz="1100" dirty="0"/>
          </a:p>
        </p:txBody>
      </p:sp>
      <p:sp>
        <p:nvSpPr>
          <p:cNvPr id="40" name="Shape 38"/>
          <p:cNvSpPr/>
          <p:nvPr/>
        </p:nvSpPr>
        <p:spPr>
          <a:xfrm>
            <a:off x="548640" y="5623560"/>
            <a:ext cx="11109960" cy="777240"/>
          </a:xfrm>
          <a:prstGeom prst="roundRect">
            <a:avLst>
              <a:gd name="adj" fmla="val 10588"/>
            </a:avLst>
          </a:prstGeom>
          <a:solidFill>
            <a:srgbClr val="EAF1FE"/>
          </a:solidFill>
          <a:ln w="12700">
            <a:solidFill>
              <a:srgbClr val="EAF1FE"/>
            </a:solidFill>
            <a:prstDash val="solid"/>
          </a:ln>
        </p:spPr>
      </p:sp>
      <p:sp>
        <p:nvSpPr>
          <p:cNvPr id="41" name="Text 39"/>
          <p:cNvSpPr/>
          <p:nvPr/>
        </p:nvSpPr>
        <p:spPr>
          <a:xfrm>
            <a:off x="822960" y="5623560"/>
            <a:ext cx="10561320" cy="777240"/>
          </a:xfrm>
          <a:prstGeom prst="rect">
            <a:avLst/>
          </a:prstGeom>
          <a:noFill/>
          <a:ln/>
        </p:spPr>
        <p:txBody>
          <a:bodyPr wrap="square" rtlCol="0" anchor="ctr"/>
          <a:lstStyle/>
          <a:p>
            <a:pPr rtl="1" algn="ctr" indent="0" marL="0">
              <a:buNone/>
            </a:pPr>
            <a:r>
              <a:rPr lang="en-US" sz="1250" b="1" dirty="0">
                <a:solidFill>
                  <a:srgbClr val="2563EB"/>
                </a:solidFill>
                <a:latin typeface="Calibri" pitchFamily="34" charset="0"/>
                <a:ea typeface="Calibri" pitchFamily="34" charset="-122"/>
                <a:cs typeface="Calibri" pitchFamily="34" charset="-120"/>
              </a:rPr>
              <a:t>توزيع الشرح: الجزء الخادم والخوارزميات — محمد نورالدين الحموي   |   تطبيق الموبايل Flutter — محمد مصطفى الزعبي</a:t>
            </a:r>
            <a:endParaRPr lang="en-US" sz="1250" dirty="0"/>
          </a:p>
        </p:txBody>
      </p:sp>
      <p:sp>
        <p:nvSpPr>
          <p:cNvPr id="42" name="Text 40"/>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43" name="Text 41"/>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المشكلة والدافع</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لماذا نظام إدارة شحن ذكي؟</a:t>
            </a:r>
            <a:endParaRPr lang="en-US" sz="3000" dirty="0"/>
          </a:p>
        </p:txBody>
      </p:sp>
      <p:sp>
        <p:nvSpPr>
          <p:cNvPr id="4" name="Shape 2"/>
          <p:cNvSpPr/>
          <p:nvPr/>
        </p:nvSpPr>
        <p:spPr>
          <a:xfrm>
            <a:off x="548640" y="169164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5" name="Shape 3"/>
          <p:cNvSpPr/>
          <p:nvPr/>
        </p:nvSpPr>
        <p:spPr>
          <a:xfrm>
            <a:off x="749808" y="1892808"/>
            <a:ext cx="457200" cy="457200"/>
          </a:xfrm>
          <a:prstGeom prst="roundRect">
            <a:avLst>
              <a:gd name="adj" fmla="val 18000"/>
            </a:avLst>
          </a:prstGeom>
          <a:solidFill>
            <a:srgbClr val="FBEAEA"/>
          </a:solidFill>
          <a:ln/>
        </p:spPr>
      </p:sp>
      <p:sp>
        <p:nvSpPr>
          <p:cNvPr id="6" name="Text 4"/>
          <p:cNvSpPr/>
          <p:nvPr/>
        </p:nvSpPr>
        <p:spPr>
          <a:xfrm>
            <a:off x="749808" y="1892808"/>
            <a:ext cx="457200" cy="457200"/>
          </a:xfrm>
          <a:prstGeom prst="rect">
            <a:avLst/>
          </a:prstGeom>
          <a:noFill/>
          <a:ln/>
        </p:spPr>
        <p:txBody>
          <a:bodyPr wrap="square"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325880" y="1874520"/>
            <a:ext cx="4480560" cy="50292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تسعير الشحنات يدويًا لكل طلب</a:t>
            </a:r>
            <a:endParaRPr lang="en-US" sz="1500" dirty="0"/>
          </a:p>
        </p:txBody>
      </p:sp>
      <p:sp>
        <p:nvSpPr>
          <p:cNvPr id="8" name="Text 6"/>
          <p:cNvSpPr/>
          <p:nvPr/>
        </p:nvSpPr>
        <p:spPr>
          <a:xfrm>
            <a:off x="822960" y="2468880"/>
            <a:ext cx="4892040" cy="1005840"/>
          </a:xfrm>
          <a:prstGeom prst="rect">
            <a:avLst/>
          </a:prstGeom>
          <a:noFill/>
          <a:ln/>
        </p:spPr>
        <p:txBody>
          <a:bodyPr wrap="square" rtlCol="0" anchor="t"/>
          <a:lstStyle/>
          <a:p>
            <a:pPr rtl="1" algn="r" indent="0" marL="0">
              <a:buNone/>
            </a:pPr>
            <a:r>
              <a:rPr lang="en-US" sz="1250" dirty="0">
                <a:solidFill>
                  <a:srgbClr val="5B6472"/>
                </a:solidFill>
                <a:latin typeface="Calibri" pitchFamily="34" charset="0"/>
                <a:ea typeface="Calibri" pitchFamily="34" charset="-122"/>
                <a:cs typeface="Calibri" pitchFamily="34" charset="-120"/>
              </a:rPr>
              <a:t>بطيء، غير متسق بين الموظفين، وعرضة للخطأ البشري.</a:t>
            </a:r>
            <a:endParaRPr lang="en-US" sz="1250" dirty="0"/>
          </a:p>
        </p:txBody>
      </p:sp>
      <p:sp>
        <p:nvSpPr>
          <p:cNvPr id="9" name="Shape 7"/>
          <p:cNvSpPr/>
          <p:nvPr/>
        </p:nvSpPr>
        <p:spPr>
          <a:xfrm>
            <a:off x="6217920" y="169164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0" name="Shape 8"/>
          <p:cNvSpPr/>
          <p:nvPr/>
        </p:nvSpPr>
        <p:spPr>
          <a:xfrm>
            <a:off x="6419088" y="1892808"/>
            <a:ext cx="457200" cy="457200"/>
          </a:xfrm>
          <a:prstGeom prst="roundRect">
            <a:avLst>
              <a:gd name="adj" fmla="val 18000"/>
            </a:avLst>
          </a:prstGeom>
          <a:solidFill>
            <a:srgbClr val="FBEAEA"/>
          </a:solidFill>
          <a:ln/>
        </p:spPr>
      </p:sp>
      <p:sp>
        <p:nvSpPr>
          <p:cNvPr id="11" name="Text 9"/>
          <p:cNvSpPr/>
          <p:nvPr/>
        </p:nvSpPr>
        <p:spPr>
          <a:xfrm>
            <a:off x="6419088" y="1892808"/>
            <a:ext cx="457200" cy="457200"/>
          </a:xfrm>
          <a:prstGeom prst="rect">
            <a:avLst/>
          </a:prstGeom>
          <a:noFill/>
          <a:ln/>
        </p:spPr>
        <p:txBody>
          <a:bodyPr wrap="square"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6995160" y="1874520"/>
            <a:ext cx="4480560" cy="50292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اختيار السائق المناسب يدويًا</a:t>
            </a:r>
            <a:endParaRPr lang="en-US" sz="1500" dirty="0"/>
          </a:p>
        </p:txBody>
      </p:sp>
      <p:sp>
        <p:nvSpPr>
          <p:cNvPr id="13" name="Text 11"/>
          <p:cNvSpPr/>
          <p:nvPr/>
        </p:nvSpPr>
        <p:spPr>
          <a:xfrm>
            <a:off x="6492240" y="2468880"/>
            <a:ext cx="4892040" cy="1005840"/>
          </a:xfrm>
          <a:prstGeom prst="rect">
            <a:avLst/>
          </a:prstGeom>
          <a:noFill/>
          <a:ln/>
        </p:spPr>
        <p:txBody>
          <a:bodyPr wrap="square" rtlCol="0" anchor="t"/>
          <a:lstStyle/>
          <a:p>
            <a:pPr rtl="1" algn="r" indent="0" marL="0">
              <a:buNone/>
            </a:pPr>
            <a:r>
              <a:rPr lang="en-US" sz="1250" dirty="0">
                <a:solidFill>
                  <a:srgbClr val="5B6472"/>
                </a:solidFill>
                <a:latin typeface="Calibri" pitchFamily="34" charset="0"/>
                <a:ea typeface="Calibri" pitchFamily="34" charset="-122"/>
                <a:cs typeface="Calibri" pitchFamily="34" charset="-120"/>
              </a:rPr>
              <a:t>لا يراعي بشكل منهجي القرب الجغرافي أو الالتزام أو الامتثال.</a:t>
            </a:r>
            <a:endParaRPr lang="en-US" sz="1250" dirty="0"/>
          </a:p>
        </p:txBody>
      </p:sp>
      <p:sp>
        <p:nvSpPr>
          <p:cNvPr id="14" name="Shape 12"/>
          <p:cNvSpPr/>
          <p:nvPr/>
        </p:nvSpPr>
        <p:spPr>
          <a:xfrm>
            <a:off x="548640" y="388620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5" name="Shape 13"/>
          <p:cNvSpPr/>
          <p:nvPr/>
        </p:nvSpPr>
        <p:spPr>
          <a:xfrm>
            <a:off x="749808" y="4087368"/>
            <a:ext cx="457200" cy="457200"/>
          </a:xfrm>
          <a:prstGeom prst="roundRect">
            <a:avLst>
              <a:gd name="adj" fmla="val 18000"/>
            </a:avLst>
          </a:prstGeom>
          <a:solidFill>
            <a:srgbClr val="FBEAEA"/>
          </a:solidFill>
          <a:ln/>
        </p:spPr>
      </p:sp>
      <p:sp>
        <p:nvSpPr>
          <p:cNvPr id="16" name="Text 14"/>
          <p:cNvSpPr/>
          <p:nvPr/>
        </p:nvSpPr>
        <p:spPr>
          <a:xfrm>
            <a:off x="749808" y="4087368"/>
            <a:ext cx="457200" cy="457200"/>
          </a:xfrm>
          <a:prstGeom prst="rect">
            <a:avLst/>
          </a:prstGeom>
          <a:noFill/>
          <a:ln/>
        </p:spPr>
        <p:txBody>
          <a:bodyPr wrap="square"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325880" y="4069080"/>
            <a:ext cx="4480560" cy="50292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غياب تدقيق مالي صارم</a:t>
            </a:r>
            <a:endParaRPr lang="en-US" sz="1500" dirty="0"/>
          </a:p>
        </p:txBody>
      </p:sp>
      <p:sp>
        <p:nvSpPr>
          <p:cNvPr id="18" name="Text 16"/>
          <p:cNvSpPr/>
          <p:nvPr/>
        </p:nvSpPr>
        <p:spPr>
          <a:xfrm>
            <a:off x="822960" y="4663440"/>
            <a:ext cx="4892040" cy="1005840"/>
          </a:xfrm>
          <a:prstGeom prst="rect">
            <a:avLst/>
          </a:prstGeom>
          <a:noFill/>
          <a:ln/>
        </p:spPr>
        <p:txBody>
          <a:bodyPr wrap="square" rtlCol="0" anchor="t"/>
          <a:lstStyle/>
          <a:p>
            <a:pPr rtl="1" algn="r" indent="0" marL="0">
              <a:buNone/>
            </a:pPr>
            <a:r>
              <a:rPr lang="en-US" sz="1250" dirty="0">
                <a:solidFill>
                  <a:srgbClr val="5B6472"/>
                </a:solidFill>
                <a:latin typeface="Calibri" pitchFamily="34" charset="0"/>
                <a:ea typeface="Calibri" pitchFamily="34" charset="-122"/>
                <a:cs typeface="Calibri" pitchFamily="34" charset="-120"/>
              </a:rPr>
              <a:t>صعوبة تتبع الأرصدة والدفعات وضمان عدم تجاوز السقف الائتماني.</a:t>
            </a:r>
            <a:endParaRPr lang="en-US" sz="1250" dirty="0"/>
          </a:p>
        </p:txBody>
      </p:sp>
      <p:sp>
        <p:nvSpPr>
          <p:cNvPr id="19" name="Shape 17"/>
          <p:cNvSpPr/>
          <p:nvPr/>
        </p:nvSpPr>
        <p:spPr>
          <a:xfrm>
            <a:off x="6217920" y="388620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0" name="Shape 18"/>
          <p:cNvSpPr/>
          <p:nvPr/>
        </p:nvSpPr>
        <p:spPr>
          <a:xfrm>
            <a:off x="6419088" y="4087368"/>
            <a:ext cx="457200" cy="457200"/>
          </a:xfrm>
          <a:prstGeom prst="roundRect">
            <a:avLst>
              <a:gd name="adj" fmla="val 18000"/>
            </a:avLst>
          </a:prstGeom>
          <a:solidFill>
            <a:srgbClr val="FBEAEA"/>
          </a:solidFill>
          <a:ln/>
        </p:spPr>
      </p:sp>
      <p:sp>
        <p:nvSpPr>
          <p:cNvPr id="21" name="Text 19"/>
          <p:cNvSpPr/>
          <p:nvPr/>
        </p:nvSpPr>
        <p:spPr>
          <a:xfrm>
            <a:off x="6419088" y="4087368"/>
            <a:ext cx="457200" cy="457200"/>
          </a:xfrm>
          <a:prstGeom prst="rect">
            <a:avLst/>
          </a:prstGeom>
          <a:noFill/>
          <a:ln/>
        </p:spPr>
        <p:txBody>
          <a:bodyPr wrap="square"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6995160" y="4069080"/>
            <a:ext cx="4480560" cy="50292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إدارة مستندات الامتثال يدويًا</a:t>
            </a:r>
            <a:endParaRPr lang="en-US" sz="1500" dirty="0"/>
          </a:p>
        </p:txBody>
      </p:sp>
      <p:sp>
        <p:nvSpPr>
          <p:cNvPr id="23" name="Text 21"/>
          <p:cNvSpPr/>
          <p:nvPr/>
        </p:nvSpPr>
        <p:spPr>
          <a:xfrm>
            <a:off x="6492240" y="4663440"/>
            <a:ext cx="4892040" cy="1005840"/>
          </a:xfrm>
          <a:prstGeom prst="rect">
            <a:avLst/>
          </a:prstGeom>
          <a:noFill/>
          <a:ln/>
        </p:spPr>
        <p:txBody>
          <a:bodyPr wrap="square" rtlCol="0" anchor="t"/>
          <a:lstStyle/>
          <a:p>
            <a:pPr rtl="1" algn="r" indent="0" marL="0">
              <a:buNone/>
            </a:pPr>
            <a:r>
              <a:rPr lang="en-US" sz="1250" dirty="0">
                <a:solidFill>
                  <a:srgbClr val="5B6472"/>
                </a:solidFill>
                <a:latin typeface="Calibri" pitchFamily="34" charset="0"/>
                <a:ea typeface="Calibri" pitchFamily="34" charset="-122"/>
                <a:cs typeface="Calibri" pitchFamily="34" charset="-120"/>
              </a:rPr>
              <a:t>خطر تشغيل سائق أو شاحنة بمستندات منتهية الصلاحية.</a:t>
            </a:r>
            <a:endParaRPr lang="en-US" sz="1250" dirty="0"/>
          </a:p>
        </p:txBody>
      </p:sp>
      <p:sp>
        <p:nvSpPr>
          <p:cNvPr id="24" name="Text 22"/>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5" name="Text 23"/>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أهداف المشروع</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ما الذي يحققه النظام؟</a:t>
            </a:r>
            <a:endParaRPr lang="en-US" sz="3000" dirty="0"/>
          </a:p>
        </p:txBody>
      </p:sp>
      <p:sp>
        <p:nvSpPr>
          <p:cNvPr id="4" name="Shape 2"/>
          <p:cNvSpPr/>
          <p:nvPr/>
        </p:nvSpPr>
        <p:spPr>
          <a:xfrm>
            <a:off x="640080" y="1709928"/>
            <a:ext cx="384048" cy="384048"/>
          </a:xfrm>
          <a:prstGeom prst="ellipse">
            <a:avLst/>
          </a:prstGeom>
          <a:solidFill>
            <a:srgbClr val="16213E"/>
          </a:solidFill>
          <a:ln/>
        </p:spPr>
      </p:sp>
      <p:sp>
        <p:nvSpPr>
          <p:cNvPr id="5" name="Text 3"/>
          <p:cNvSpPr/>
          <p:nvPr/>
        </p:nvSpPr>
        <p:spPr>
          <a:xfrm>
            <a:off x="640080" y="17099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34440" y="1664208"/>
            <a:ext cx="10378440" cy="566928"/>
          </a:xfrm>
          <a:prstGeom prst="rect">
            <a:avLst/>
          </a:prstGeom>
          <a:noFill/>
          <a:ln/>
        </p:spPr>
        <p:txBody>
          <a:bodyPr wrap="square" rtlCol="0" anchor="ctr"/>
          <a:lstStyle/>
          <a:p>
            <a:pPr rtl="1" algn="r" indent="0" marL="0">
              <a:buNone/>
            </a:pPr>
            <a:r>
              <a:rPr lang="en-US" sz="1400" dirty="0">
                <a:solidFill>
                  <a:srgbClr val="14161A"/>
                </a:solidFill>
                <a:latin typeface="Calibri" pitchFamily="34" charset="0"/>
                <a:ea typeface="Calibri" pitchFamily="34" charset="-122"/>
                <a:cs typeface="Calibri" pitchFamily="34" charset="-120"/>
              </a:rPr>
              <a:t>أتمتة كاملة لتسعير عروض الشحن اعتمادًا على بيانات تاريخية حقيقية مقسّمة جغرافيًا (Zones).</a:t>
            </a:r>
            <a:endParaRPr lang="en-US" sz="1400" dirty="0"/>
          </a:p>
        </p:txBody>
      </p:sp>
      <p:sp>
        <p:nvSpPr>
          <p:cNvPr id="7" name="Shape 5"/>
          <p:cNvSpPr/>
          <p:nvPr/>
        </p:nvSpPr>
        <p:spPr>
          <a:xfrm>
            <a:off x="640080" y="2395728"/>
            <a:ext cx="384048" cy="384048"/>
          </a:xfrm>
          <a:prstGeom prst="ellipse">
            <a:avLst/>
          </a:prstGeom>
          <a:solidFill>
            <a:srgbClr val="16213E"/>
          </a:solidFill>
          <a:ln/>
        </p:spPr>
      </p:sp>
      <p:sp>
        <p:nvSpPr>
          <p:cNvPr id="8" name="Text 6"/>
          <p:cNvSpPr/>
          <p:nvPr/>
        </p:nvSpPr>
        <p:spPr>
          <a:xfrm>
            <a:off x="640080" y="23957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234440" y="2350008"/>
            <a:ext cx="10378440" cy="566928"/>
          </a:xfrm>
          <a:prstGeom prst="rect">
            <a:avLst/>
          </a:prstGeom>
          <a:noFill/>
          <a:ln/>
        </p:spPr>
        <p:txBody>
          <a:bodyPr wrap="square" rtlCol="0" anchor="ctr"/>
          <a:lstStyle/>
          <a:p>
            <a:pPr rtl="1" algn="r" indent="0" marL="0">
              <a:buNone/>
            </a:pPr>
            <a:r>
              <a:rPr lang="en-US" sz="1400" dirty="0">
                <a:solidFill>
                  <a:srgbClr val="14161A"/>
                </a:solidFill>
                <a:latin typeface="Calibri" pitchFamily="34" charset="0"/>
                <a:ea typeface="Calibri" pitchFamily="34" charset="-122"/>
                <a:cs typeface="Calibri" pitchFamily="34" charset="-120"/>
              </a:rPr>
              <a:t>مطابقة ذكية بين عروض الشحن والسائقين المؤهلين، مبنية على الأهلية الصارمة ثم الترتيب المرجّح.</a:t>
            </a:r>
            <a:endParaRPr lang="en-US" sz="1400" dirty="0"/>
          </a:p>
        </p:txBody>
      </p:sp>
      <p:sp>
        <p:nvSpPr>
          <p:cNvPr id="10" name="Shape 8"/>
          <p:cNvSpPr/>
          <p:nvPr/>
        </p:nvSpPr>
        <p:spPr>
          <a:xfrm>
            <a:off x="640080" y="3081528"/>
            <a:ext cx="384048" cy="384048"/>
          </a:xfrm>
          <a:prstGeom prst="ellipse">
            <a:avLst/>
          </a:prstGeom>
          <a:solidFill>
            <a:srgbClr val="16213E"/>
          </a:solidFill>
          <a:ln/>
        </p:spPr>
      </p:sp>
      <p:sp>
        <p:nvSpPr>
          <p:cNvPr id="11" name="Text 9"/>
          <p:cNvSpPr/>
          <p:nvPr/>
        </p:nvSpPr>
        <p:spPr>
          <a:xfrm>
            <a:off x="640080" y="30815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234440" y="3035808"/>
            <a:ext cx="10378440" cy="566928"/>
          </a:xfrm>
          <a:prstGeom prst="rect">
            <a:avLst/>
          </a:prstGeom>
          <a:noFill/>
          <a:ln/>
        </p:spPr>
        <p:txBody>
          <a:bodyPr wrap="square" rtlCol="0" anchor="ctr"/>
          <a:lstStyle/>
          <a:p>
            <a:pPr rtl="1" algn="r" indent="0" marL="0">
              <a:buNone/>
            </a:pPr>
            <a:r>
              <a:rPr lang="en-US" sz="1400" dirty="0">
                <a:solidFill>
                  <a:srgbClr val="14161A"/>
                </a:solidFill>
                <a:latin typeface="Calibri" pitchFamily="34" charset="0"/>
                <a:ea typeface="Calibri" pitchFamily="34" charset="-122"/>
                <a:cs typeface="Calibri" pitchFamily="34" charset="-120"/>
              </a:rPr>
              <a:t>نظام مالي مدقّق بالكامل: حجز ائتماني، دفتر أستاذ (Ledger) لكل حركة، ورقابة مزدوجة على التعديلات اليدوية.</a:t>
            </a:r>
            <a:endParaRPr lang="en-US" sz="1400" dirty="0"/>
          </a:p>
        </p:txBody>
      </p:sp>
      <p:sp>
        <p:nvSpPr>
          <p:cNvPr id="13" name="Shape 11"/>
          <p:cNvSpPr/>
          <p:nvPr/>
        </p:nvSpPr>
        <p:spPr>
          <a:xfrm>
            <a:off x="640080" y="3767328"/>
            <a:ext cx="384048" cy="384048"/>
          </a:xfrm>
          <a:prstGeom prst="ellipse">
            <a:avLst/>
          </a:prstGeom>
          <a:solidFill>
            <a:srgbClr val="16213E"/>
          </a:solidFill>
          <a:ln/>
        </p:spPr>
      </p:sp>
      <p:sp>
        <p:nvSpPr>
          <p:cNvPr id="14" name="Text 12"/>
          <p:cNvSpPr/>
          <p:nvPr/>
        </p:nvSpPr>
        <p:spPr>
          <a:xfrm>
            <a:off x="640080" y="37673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234440" y="3721608"/>
            <a:ext cx="10378440" cy="566928"/>
          </a:xfrm>
          <a:prstGeom prst="rect">
            <a:avLst/>
          </a:prstGeom>
          <a:noFill/>
          <a:ln/>
        </p:spPr>
        <p:txBody>
          <a:bodyPr wrap="square" rtlCol="0" anchor="ctr"/>
          <a:lstStyle/>
          <a:p>
            <a:pPr rtl="1" algn="r" indent="0" marL="0">
              <a:buNone/>
            </a:pPr>
            <a:r>
              <a:rPr lang="en-US" sz="1400" dirty="0">
                <a:solidFill>
                  <a:srgbClr val="14161A"/>
                </a:solidFill>
                <a:latin typeface="Calibri" pitchFamily="34" charset="0"/>
                <a:ea typeface="Calibri" pitchFamily="34" charset="-122"/>
                <a:cs typeface="Calibri" pitchFamily="34" charset="-120"/>
              </a:rPr>
              <a:t>تتبّع حي لموقع السائق ومراحل الشحنة من الاستلام حتى التسليم وتأكيد الاستلام.</a:t>
            </a:r>
            <a:endParaRPr lang="en-US" sz="1400" dirty="0"/>
          </a:p>
        </p:txBody>
      </p:sp>
      <p:sp>
        <p:nvSpPr>
          <p:cNvPr id="16" name="Shape 14"/>
          <p:cNvSpPr/>
          <p:nvPr/>
        </p:nvSpPr>
        <p:spPr>
          <a:xfrm>
            <a:off x="640080" y="4453128"/>
            <a:ext cx="384048" cy="384048"/>
          </a:xfrm>
          <a:prstGeom prst="ellipse">
            <a:avLst/>
          </a:prstGeom>
          <a:solidFill>
            <a:srgbClr val="16213E"/>
          </a:solidFill>
          <a:ln/>
        </p:spPr>
      </p:sp>
      <p:sp>
        <p:nvSpPr>
          <p:cNvPr id="17" name="Text 15"/>
          <p:cNvSpPr/>
          <p:nvPr/>
        </p:nvSpPr>
        <p:spPr>
          <a:xfrm>
            <a:off x="640080" y="44531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5</a:t>
            </a:r>
            <a:endParaRPr lang="en-US" sz="1600" dirty="0"/>
          </a:p>
        </p:txBody>
      </p:sp>
      <p:sp>
        <p:nvSpPr>
          <p:cNvPr id="18" name="Text 16"/>
          <p:cNvSpPr/>
          <p:nvPr/>
        </p:nvSpPr>
        <p:spPr>
          <a:xfrm>
            <a:off x="1234440" y="4407408"/>
            <a:ext cx="10378440" cy="566928"/>
          </a:xfrm>
          <a:prstGeom prst="rect">
            <a:avLst/>
          </a:prstGeom>
          <a:noFill/>
          <a:ln/>
        </p:spPr>
        <p:txBody>
          <a:bodyPr wrap="square" rtlCol="0" anchor="ctr"/>
          <a:lstStyle/>
          <a:p>
            <a:pPr rtl="1" algn="r" indent="0" marL="0">
              <a:buNone/>
            </a:pPr>
            <a:r>
              <a:rPr lang="en-US" sz="1400" dirty="0">
                <a:solidFill>
                  <a:srgbClr val="14161A"/>
                </a:solidFill>
                <a:latin typeface="Calibri" pitchFamily="34" charset="0"/>
                <a:ea typeface="Calibri" pitchFamily="34" charset="-122"/>
                <a:cs typeface="Calibri" pitchFamily="34" charset="-120"/>
              </a:rPr>
              <a:t>تطبيق موبايل واحد (Flutter) بثلاث تجارب مستخدم مختلفة حسب الدور: شركة، سائق، وإدارة.</a:t>
            </a:r>
            <a:endParaRPr lang="en-US" sz="1400" dirty="0"/>
          </a:p>
        </p:txBody>
      </p:sp>
      <p:sp>
        <p:nvSpPr>
          <p:cNvPr id="19" name="Shape 17"/>
          <p:cNvSpPr/>
          <p:nvPr/>
        </p:nvSpPr>
        <p:spPr>
          <a:xfrm>
            <a:off x="640080" y="5138928"/>
            <a:ext cx="384048" cy="384048"/>
          </a:xfrm>
          <a:prstGeom prst="ellipse">
            <a:avLst/>
          </a:prstGeom>
          <a:solidFill>
            <a:srgbClr val="16213E"/>
          </a:solidFill>
          <a:ln/>
        </p:spPr>
      </p:sp>
      <p:sp>
        <p:nvSpPr>
          <p:cNvPr id="20" name="Text 18"/>
          <p:cNvSpPr/>
          <p:nvPr/>
        </p:nvSpPr>
        <p:spPr>
          <a:xfrm>
            <a:off x="640080" y="51389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6</a:t>
            </a:r>
            <a:endParaRPr lang="en-US" sz="1600" dirty="0"/>
          </a:p>
        </p:txBody>
      </p:sp>
      <p:sp>
        <p:nvSpPr>
          <p:cNvPr id="21" name="Text 19"/>
          <p:cNvSpPr/>
          <p:nvPr/>
        </p:nvSpPr>
        <p:spPr>
          <a:xfrm>
            <a:off x="1234440" y="5093208"/>
            <a:ext cx="10378440" cy="566928"/>
          </a:xfrm>
          <a:prstGeom prst="rect">
            <a:avLst/>
          </a:prstGeom>
          <a:noFill/>
          <a:ln/>
        </p:spPr>
        <p:txBody>
          <a:bodyPr wrap="square" rtlCol="0" anchor="ctr"/>
          <a:lstStyle/>
          <a:p>
            <a:pPr rtl="1" algn="r" indent="0" marL="0">
              <a:buNone/>
            </a:pPr>
            <a:r>
              <a:rPr lang="en-US" sz="1400" dirty="0">
                <a:solidFill>
                  <a:srgbClr val="14161A"/>
                </a:solidFill>
                <a:latin typeface="Calibri" pitchFamily="34" charset="0"/>
                <a:ea typeface="Calibri" pitchFamily="34" charset="-122"/>
                <a:cs typeface="Calibri" pitchFamily="34" charset="-120"/>
              </a:rPr>
              <a:t>إدارة صارمة للامتثال: تنبيهات انتهاء المستندات، ونوافذ سماح مختلفة للرحلات الداخلية والخارجية.</a:t>
            </a:r>
            <a:endParaRPr lang="en-US" sz="1400" dirty="0"/>
          </a:p>
        </p:txBody>
      </p:sp>
      <p:sp>
        <p:nvSpPr>
          <p:cNvPr id="22" name="Text 20"/>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3" name="Text 21"/>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البنية العامة للنظام</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معمارية عميل - خادم (Client-Server)</a:t>
            </a:r>
            <a:endParaRPr lang="en-US" sz="3000" dirty="0"/>
          </a:p>
        </p:txBody>
      </p:sp>
      <p:sp>
        <p:nvSpPr>
          <p:cNvPr id="4" name="Shape 2"/>
          <p:cNvSpPr/>
          <p:nvPr/>
        </p:nvSpPr>
        <p:spPr>
          <a:xfrm>
            <a:off x="548640" y="1737360"/>
            <a:ext cx="3291840" cy="3566160"/>
          </a:xfrm>
          <a:prstGeom prst="roundRect">
            <a:avLst>
              <a:gd name="adj" fmla="val 2500"/>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5" name="Text 3"/>
          <p:cNvSpPr/>
          <p:nvPr/>
        </p:nvSpPr>
        <p:spPr>
          <a:xfrm>
            <a:off x="777240" y="1920240"/>
            <a:ext cx="2834640" cy="365760"/>
          </a:xfrm>
          <a:prstGeom prst="rect">
            <a:avLst/>
          </a:prstGeom>
          <a:noFill/>
          <a:ln/>
        </p:spPr>
        <p:txBody>
          <a:bodyPr wrap="square" rtlCol="0" anchor="ctr"/>
          <a:lstStyle/>
          <a:p>
            <a:pPr rtl="1" algn="ctr" indent="0" marL="0">
              <a:buNone/>
            </a:pPr>
            <a:r>
              <a:rPr lang="en-US" sz="1500" b="1" dirty="0">
                <a:solidFill>
                  <a:srgbClr val="D4AF37"/>
                </a:solidFill>
                <a:latin typeface="Calibri" pitchFamily="34" charset="0"/>
                <a:ea typeface="Calibri" pitchFamily="34" charset="-122"/>
                <a:cs typeface="Calibri" pitchFamily="34" charset="-120"/>
              </a:rPr>
              <a:t>تطبيق الموبايل</a:t>
            </a:r>
            <a:endParaRPr lang="en-US" sz="1500" dirty="0"/>
          </a:p>
        </p:txBody>
      </p:sp>
      <p:sp>
        <p:nvSpPr>
          <p:cNvPr id="6" name="Text 4"/>
          <p:cNvSpPr/>
          <p:nvPr/>
        </p:nvSpPr>
        <p:spPr>
          <a:xfrm>
            <a:off x="777240" y="2267712"/>
            <a:ext cx="2834640" cy="274320"/>
          </a:xfrm>
          <a:prstGeom prst="rect">
            <a:avLst/>
          </a:prstGeom>
          <a:noFill/>
          <a:ln/>
        </p:spPr>
        <p:txBody>
          <a:bodyPr wrap="square" rtlCol="0" anchor="ctr"/>
          <a:lstStyle/>
          <a:p>
            <a:pPr algn="ctr" indent="0" marL="0">
              <a:buNone/>
            </a:pPr>
            <a:r>
              <a:rPr lang="en-US" sz="1100" dirty="0">
                <a:solidFill>
                  <a:srgbClr val="AEB6C4"/>
                </a:solidFill>
                <a:latin typeface="Calibri" pitchFamily="34" charset="0"/>
                <a:ea typeface="Calibri" pitchFamily="34" charset="-122"/>
                <a:cs typeface="Calibri" pitchFamily="34" charset="-120"/>
              </a:rPr>
              <a:t>Flutter / Dart</a:t>
            </a:r>
            <a:endParaRPr lang="en-US" sz="1100" dirty="0"/>
          </a:p>
        </p:txBody>
      </p:sp>
      <p:sp>
        <p:nvSpPr>
          <p:cNvPr id="7" name="Shape 5"/>
          <p:cNvSpPr/>
          <p:nvPr/>
        </p:nvSpPr>
        <p:spPr>
          <a:xfrm>
            <a:off x="868680" y="2743200"/>
            <a:ext cx="2651760" cy="502920"/>
          </a:xfrm>
          <a:prstGeom prst="roundRect">
            <a:avLst>
              <a:gd name="adj" fmla="val 12727"/>
            </a:avLst>
          </a:prstGeom>
          <a:solidFill>
            <a:srgbClr val="1F2E52"/>
          </a:solidFill>
          <a:ln/>
        </p:spPr>
      </p:sp>
      <p:sp>
        <p:nvSpPr>
          <p:cNvPr id="8" name="Text 6"/>
          <p:cNvSpPr/>
          <p:nvPr/>
        </p:nvSpPr>
        <p:spPr>
          <a:xfrm>
            <a:off x="868680" y="2743200"/>
            <a:ext cx="2651760" cy="502920"/>
          </a:xfrm>
          <a:prstGeom prst="rect">
            <a:avLst/>
          </a:prstGeom>
          <a:noFill/>
          <a:ln/>
        </p:spPr>
        <p:txBody>
          <a:bodyPr wrap="square" rtlCol="0" anchor="ctr"/>
          <a:lstStyle/>
          <a:p>
            <a:pPr rtl="1" algn="ctr" indent="0" marL="0">
              <a:buNone/>
            </a:pPr>
            <a:r>
              <a:rPr lang="en-US" sz="1250" dirty="0">
                <a:solidFill>
                  <a:srgbClr val="FFFFFF"/>
                </a:solidFill>
                <a:latin typeface="Calibri" pitchFamily="34" charset="0"/>
                <a:ea typeface="Calibri" pitchFamily="34" charset="-122"/>
                <a:cs typeface="Calibri" pitchFamily="34" charset="-120"/>
              </a:rPr>
              <a:t>واجهة السائق</a:t>
            </a:r>
            <a:endParaRPr lang="en-US" sz="1250" dirty="0"/>
          </a:p>
        </p:txBody>
      </p:sp>
      <p:sp>
        <p:nvSpPr>
          <p:cNvPr id="9" name="Shape 7"/>
          <p:cNvSpPr/>
          <p:nvPr/>
        </p:nvSpPr>
        <p:spPr>
          <a:xfrm>
            <a:off x="868680" y="3401568"/>
            <a:ext cx="2651760" cy="502920"/>
          </a:xfrm>
          <a:prstGeom prst="roundRect">
            <a:avLst>
              <a:gd name="adj" fmla="val 12727"/>
            </a:avLst>
          </a:prstGeom>
          <a:solidFill>
            <a:srgbClr val="1F2E52"/>
          </a:solidFill>
          <a:ln/>
        </p:spPr>
      </p:sp>
      <p:sp>
        <p:nvSpPr>
          <p:cNvPr id="10" name="Text 8"/>
          <p:cNvSpPr/>
          <p:nvPr/>
        </p:nvSpPr>
        <p:spPr>
          <a:xfrm>
            <a:off x="868680" y="3401568"/>
            <a:ext cx="2651760" cy="502920"/>
          </a:xfrm>
          <a:prstGeom prst="rect">
            <a:avLst/>
          </a:prstGeom>
          <a:noFill/>
          <a:ln/>
        </p:spPr>
        <p:txBody>
          <a:bodyPr wrap="square" rtlCol="0" anchor="ctr"/>
          <a:lstStyle/>
          <a:p>
            <a:pPr rtl="1" algn="ctr" indent="0" marL="0">
              <a:buNone/>
            </a:pPr>
            <a:r>
              <a:rPr lang="en-US" sz="1250" dirty="0">
                <a:solidFill>
                  <a:srgbClr val="FFFFFF"/>
                </a:solidFill>
                <a:latin typeface="Calibri" pitchFamily="34" charset="0"/>
                <a:ea typeface="Calibri" pitchFamily="34" charset="-122"/>
                <a:cs typeface="Calibri" pitchFamily="34" charset="-120"/>
              </a:rPr>
              <a:t>واجهة الشركة</a:t>
            </a:r>
            <a:endParaRPr lang="en-US" sz="1250" dirty="0"/>
          </a:p>
        </p:txBody>
      </p:sp>
      <p:sp>
        <p:nvSpPr>
          <p:cNvPr id="11" name="Shape 9"/>
          <p:cNvSpPr/>
          <p:nvPr/>
        </p:nvSpPr>
        <p:spPr>
          <a:xfrm>
            <a:off x="868680" y="4059936"/>
            <a:ext cx="2651760" cy="502920"/>
          </a:xfrm>
          <a:prstGeom prst="roundRect">
            <a:avLst>
              <a:gd name="adj" fmla="val 12727"/>
            </a:avLst>
          </a:prstGeom>
          <a:solidFill>
            <a:srgbClr val="1F2E52"/>
          </a:solidFill>
          <a:ln/>
        </p:spPr>
      </p:sp>
      <p:sp>
        <p:nvSpPr>
          <p:cNvPr id="12" name="Text 10"/>
          <p:cNvSpPr/>
          <p:nvPr/>
        </p:nvSpPr>
        <p:spPr>
          <a:xfrm>
            <a:off x="868680" y="4059936"/>
            <a:ext cx="2651760" cy="502920"/>
          </a:xfrm>
          <a:prstGeom prst="rect">
            <a:avLst/>
          </a:prstGeom>
          <a:noFill/>
          <a:ln/>
        </p:spPr>
        <p:txBody>
          <a:bodyPr wrap="square" rtlCol="0" anchor="ctr"/>
          <a:lstStyle/>
          <a:p>
            <a:pPr rtl="1" algn="ctr" indent="0" marL="0">
              <a:buNone/>
            </a:pPr>
            <a:r>
              <a:rPr lang="en-US" sz="1250" dirty="0">
                <a:solidFill>
                  <a:srgbClr val="FFFFFF"/>
                </a:solidFill>
                <a:latin typeface="Calibri" pitchFamily="34" charset="0"/>
                <a:ea typeface="Calibri" pitchFamily="34" charset="-122"/>
                <a:cs typeface="Calibri" pitchFamily="34" charset="-120"/>
              </a:rPr>
              <a:t>واجهة الإدارة</a:t>
            </a:r>
            <a:endParaRPr lang="en-US" sz="1250" dirty="0"/>
          </a:p>
        </p:txBody>
      </p:sp>
      <p:sp>
        <p:nvSpPr>
          <p:cNvPr id="13" name="Text 11"/>
          <p:cNvSpPr/>
          <p:nvPr/>
        </p:nvSpPr>
        <p:spPr>
          <a:xfrm>
            <a:off x="685800" y="4892040"/>
            <a:ext cx="3017520" cy="320040"/>
          </a:xfrm>
          <a:prstGeom prst="rect">
            <a:avLst/>
          </a:prstGeom>
          <a:noFill/>
          <a:ln/>
        </p:spPr>
        <p:txBody>
          <a:bodyPr wrap="square" rtlCol="0" anchor="ctr"/>
          <a:lstStyle/>
          <a:p>
            <a:pPr algn="ctr" indent="0" marL="0">
              <a:buNone/>
            </a:pPr>
            <a:r>
              <a:rPr lang="en-US" sz="950" i="1" dirty="0">
                <a:solidFill>
                  <a:srgbClr val="AEB6C4"/>
                </a:solidFill>
                <a:latin typeface="Calibri" pitchFamily="34" charset="0"/>
                <a:ea typeface="Calibri" pitchFamily="34" charset="-122"/>
                <a:cs typeface="Calibri" pitchFamily="34" charset="-120"/>
              </a:rPr>
              <a:t>HTTP / REST — Bearer Token (Sanctum)</a:t>
            </a:r>
            <a:endParaRPr lang="en-US" sz="950" dirty="0"/>
          </a:p>
        </p:txBody>
      </p:sp>
      <p:sp>
        <p:nvSpPr>
          <p:cNvPr id="14" name="Text 12"/>
          <p:cNvSpPr/>
          <p:nvPr/>
        </p:nvSpPr>
        <p:spPr>
          <a:xfrm>
            <a:off x="3886200" y="3200400"/>
            <a:ext cx="777240" cy="731520"/>
          </a:xfrm>
          <a:prstGeom prst="rect">
            <a:avLst/>
          </a:prstGeom>
          <a:noFill/>
          <a:ln/>
        </p:spPr>
        <p:txBody>
          <a:bodyPr wrap="square" rtlCol="0" anchor="ctr"/>
          <a:lstStyle/>
          <a:p>
            <a:pPr algn="ctr" indent="0" marL="0">
              <a:buNone/>
            </a:pPr>
            <a:r>
              <a:rPr lang="en-US" sz="3000" b="1" dirty="0">
                <a:solidFill>
                  <a:srgbClr val="B8962E"/>
                </a:solidFill>
                <a:latin typeface="Calibri" pitchFamily="34" charset="0"/>
                <a:ea typeface="Calibri" pitchFamily="34" charset="-122"/>
                <a:cs typeface="Calibri" pitchFamily="34" charset="-120"/>
              </a:rPr>
              <a:t>⇄</a:t>
            </a:r>
            <a:endParaRPr lang="en-US" sz="3000" dirty="0"/>
          </a:p>
        </p:txBody>
      </p:sp>
      <p:sp>
        <p:nvSpPr>
          <p:cNvPr id="15" name="Shape 13"/>
          <p:cNvSpPr/>
          <p:nvPr/>
        </p:nvSpPr>
        <p:spPr>
          <a:xfrm>
            <a:off x="4709160" y="1737360"/>
            <a:ext cx="3291840" cy="3566160"/>
          </a:xfrm>
          <a:prstGeom prst="roundRect">
            <a:avLst>
              <a:gd name="adj" fmla="val 2500"/>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6" name="Text 14"/>
          <p:cNvSpPr/>
          <p:nvPr/>
        </p:nvSpPr>
        <p:spPr>
          <a:xfrm>
            <a:off x="4937760" y="1920240"/>
            <a:ext cx="2834640" cy="365760"/>
          </a:xfrm>
          <a:prstGeom prst="rect">
            <a:avLst/>
          </a:prstGeom>
          <a:noFill/>
          <a:ln/>
        </p:spPr>
        <p:txBody>
          <a:bodyPr wrap="square" rtlCol="0" anchor="ctr"/>
          <a:lstStyle/>
          <a:p>
            <a:pPr rtl="1" algn="ctr" indent="0" marL="0">
              <a:buNone/>
            </a:pPr>
            <a:r>
              <a:rPr lang="en-US" sz="1500" b="1" dirty="0">
                <a:solidFill>
                  <a:srgbClr val="0B1F3A"/>
                </a:solidFill>
                <a:latin typeface="Calibri" pitchFamily="34" charset="0"/>
                <a:ea typeface="Calibri" pitchFamily="34" charset="-122"/>
                <a:cs typeface="Calibri" pitchFamily="34" charset="-120"/>
              </a:rPr>
              <a:t>الخادم (Backend)</a:t>
            </a:r>
            <a:endParaRPr lang="en-US" sz="1500" dirty="0"/>
          </a:p>
        </p:txBody>
      </p:sp>
      <p:sp>
        <p:nvSpPr>
          <p:cNvPr id="17" name="Text 15"/>
          <p:cNvSpPr/>
          <p:nvPr/>
        </p:nvSpPr>
        <p:spPr>
          <a:xfrm>
            <a:off x="4937760" y="2267712"/>
            <a:ext cx="2834640" cy="274320"/>
          </a:xfrm>
          <a:prstGeom prst="rect">
            <a:avLst/>
          </a:prstGeom>
          <a:noFill/>
          <a:ln/>
        </p:spPr>
        <p:txBody>
          <a:bodyPr wrap="square"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Laravel 12 (PHP)</a:t>
            </a:r>
            <a:endParaRPr lang="en-US" sz="1100" dirty="0"/>
          </a:p>
        </p:txBody>
      </p:sp>
      <p:sp>
        <p:nvSpPr>
          <p:cNvPr id="18" name="Shape 16"/>
          <p:cNvSpPr/>
          <p:nvPr/>
        </p:nvSpPr>
        <p:spPr>
          <a:xfrm>
            <a:off x="5029200" y="2670048"/>
            <a:ext cx="2651760" cy="438912"/>
          </a:xfrm>
          <a:prstGeom prst="roundRect">
            <a:avLst>
              <a:gd name="adj" fmla="val 14583"/>
            </a:avLst>
          </a:prstGeom>
          <a:solidFill>
            <a:srgbClr val="F7F8FA"/>
          </a:solidFill>
          <a:ln w="12700">
            <a:solidFill>
              <a:srgbClr val="E3E5EA"/>
            </a:solidFill>
            <a:prstDash val="solid"/>
          </a:ln>
        </p:spPr>
      </p:sp>
      <p:sp>
        <p:nvSpPr>
          <p:cNvPr id="19" name="Text 17"/>
          <p:cNvSpPr/>
          <p:nvPr/>
        </p:nvSpPr>
        <p:spPr>
          <a:xfrm>
            <a:off x="5029200" y="2670048"/>
            <a:ext cx="2651760" cy="438912"/>
          </a:xfrm>
          <a:prstGeom prst="rect">
            <a:avLst/>
          </a:prstGeom>
          <a:noFill/>
          <a:ln/>
        </p:spPr>
        <p:txBody>
          <a:bodyPr wrap="square" rtlCol="0" anchor="ctr"/>
          <a:lstStyle/>
          <a:p>
            <a:pPr algn="ctr" indent="0" marL="0">
              <a:buNone/>
            </a:pPr>
            <a:r>
              <a:rPr lang="en-US" sz="1150" dirty="0">
                <a:solidFill>
                  <a:srgbClr val="0B1F3A"/>
                </a:solidFill>
                <a:latin typeface="Calibri" pitchFamily="34" charset="0"/>
                <a:ea typeface="Calibri" pitchFamily="34" charset="-122"/>
                <a:cs typeface="Calibri" pitchFamily="34" charset="-120"/>
              </a:rPr>
              <a:t>Controllers + REST API</a:t>
            </a:r>
            <a:endParaRPr lang="en-US" sz="1150" dirty="0"/>
          </a:p>
        </p:txBody>
      </p:sp>
      <p:sp>
        <p:nvSpPr>
          <p:cNvPr id="20" name="Shape 18"/>
          <p:cNvSpPr/>
          <p:nvPr/>
        </p:nvSpPr>
        <p:spPr>
          <a:xfrm>
            <a:off x="5029200" y="3246120"/>
            <a:ext cx="2651760" cy="438912"/>
          </a:xfrm>
          <a:prstGeom prst="roundRect">
            <a:avLst>
              <a:gd name="adj" fmla="val 14583"/>
            </a:avLst>
          </a:prstGeom>
          <a:solidFill>
            <a:srgbClr val="F7F8FA"/>
          </a:solidFill>
          <a:ln w="12700">
            <a:solidFill>
              <a:srgbClr val="E3E5EA"/>
            </a:solidFill>
            <a:prstDash val="solid"/>
          </a:ln>
        </p:spPr>
      </p:sp>
      <p:sp>
        <p:nvSpPr>
          <p:cNvPr id="21" name="Text 19"/>
          <p:cNvSpPr/>
          <p:nvPr/>
        </p:nvSpPr>
        <p:spPr>
          <a:xfrm>
            <a:off x="5029200" y="3246120"/>
            <a:ext cx="2651760" cy="438912"/>
          </a:xfrm>
          <a:prstGeom prst="rect">
            <a:avLst/>
          </a:prstGeom>
          <a:noFill/>
          <a:ln/>
        </p:spPr>
        <p:txBody>
          <a:bodyPr wrap="square" rtlCol="0" anchor="ctr"/>
          <a:lstStyle/>
          <a:p>
            <a:pPr algn="ctr" indent="0" marL="0">
              <a:buNone/>
            </a:pPr>
            <a:r>
              <a:rPr lang="en-US" sz="1150" dirty="0">
                <a:solidFill>
                  <a:srgbClr val="0B1F3A"/>
                </a:solidFill>
                <a:latin typeface="Calibri" pitchFamily="34" charset="0"/>
                <a:ea typeface="Calibri" pitchFamily="34" charset="-122"/>
                <a:cs typeface="Calibri" pitchFamily="34" charset="-120"/>
              </a:rPr>
              <a:t>PricingService</a:t>
            </a:r>
            <a:endParaRPr lang="en-US" sz="1150" dirty="0"/>
          </a:p>
        </p:txBody>
      </p:sp>
      <p:sp>
        <p:nvSpPr>
          <p:cNvPr id="22" name="Shape 20"/>
          <p:cNvSpPr/>
          <p:nvPr/>
        </p:nvSpPr>
        <p:spPr>
          <a:xfrm>
            <a:off x="5029200" y="3822192"/>
            <a:ext cx="2651760" cy="438912"/>
          </a:xfrm>
          <a:prstGeom prst="roundRect">
            <a:avLst>
              <a:gd name="adj" fmla="val 14583"/>
            </a:avLst>
          </a:prstGeom>
          <a:solidFill>
            <a:srgbClr val="F7F8FA"/>
          </a:solidFill>
          <a:ln w="12700">
            <a:solidFill>
              <a:srgbClr val="E3E5EA"/>
            </a:solidFill>
            <a:prstDash val="solid"/>
          </a:ln>
        </p:spPr>
      </p:sp>
      <p:sp>
        <p:nvSpPr>
          <p:cNvPr id="23" name="Text 21"/>
          <p:cNvSpPr/>
          <p:nvPr/>
        </p:nvSpPr>
        <p:spPr>
          <a:xfrm>
            <a:off x="5029200" y="3822192"/>
            <a:ext cx="2651760" cy="438912"/>
          </a:xfrm>
          <a:prstGeom prst="rect">
            <a:avLst/>
          </a:prstGeom>
          <a:noFill/>
          <a:ln/>
        </p:spPr>
        <p:txBody>
          <a:bodyPr wrap="square" rtlCol="0" anchor="ctr"/>
          <a:lstStyle/>
          <a:p>
            <a:pPr algn="ctr" indent="0" marL="0">
              <a:buNone/>
            </a:pPr>
            <a:r>
              <a:rPr lang="en-US" sz="1150" dirty="0">
                <a:solidFill>
                  <a:srgbClr val="0B1F3A"/>
                </a:solidFill>
                <a:latin typeface="Calibri" pitchFamily="34" charset="0"/>
                <a:ea typeface="Calibri" pitchFamily="34" charset="-122"/>
                <a:cs typeface="Calibri" pitchFamily="34" charset="-120"/>
              </a:rPr>
              <a:t>MatchingService</a:t>
            </a:r>
            <a:endParaRPr lang="en-US" sz="1150" dirty="0"/>
          </a:p>
        </p:txBody>
      </p:sp>
      <p:sp>
        <p:nvSpPr>
          <p:cNvPr id="24" name="Shape 22"/>
          <p:cNvSpPr/>
          <p:nvPr/>
        </p:nvSpPr>
        <p:spPr>
          <a:xfrm>
            <a:off x="5029200" y="4398264"/>
            <a:ext cx="2651760" cy="438912"/>
          </a:xfrm>
          <a:prstGeom prst="roundRect">
            <a:avLst>
              <a:gd name="adj" fmla="val 14583"/>
            </a:avLst>
          </a:prstGeom>
          <a:solidFill>
            <a:srgbClr val="F7F8FA"/>
          </a:solidFill>
          <a:ln w="12700">
            <a:solidFill>
              <a:srgbClr val="E3E5EA"/>
            </a:solidFill>
            <a:prstDash val="solid"/>
          </a:ln>
        </p:spPr>
      </p:sp>
      <p:sp>
        <p:nvSpPr>
          <p:cNvPr id="25" name="Text 23"/>
          <p:cNvSpPr/>
          <p:nvPr/>
        </p:nvSpPr>
        <p:spPr>
          <a:xfrm>
            <a:off x="5029200" y="4398264"/>
            <a:ext cx="2651760" cy="438912"/>
          </a:xfrm>
          <a:prstGeom prst="rect">
            <a:avLst/>
          </a:prstGeom>
          <a:noFill/>
          <a:ln/>
        </p:spPr>
        <p:txBody>
          <a:bodyPr wrap="square" rtlCol="0" anchor="ctr"/>
          <a:lstStyle/>
          <a:p>
            <a:pPr algn="ctr" indent="0" marL="0">
              <a:buNone/>
            </a:pPr>
            <a:r>
              <a:rPr lang="en-US" sz="1150" dirty="0">
                <a:solidFill>
                  <a:srgbClr val="0B1F3A"/>
                </a:solidFill>
                <a:latin typeface="Calibri" pitchFamily="34" charset="0"/>
                <a:ea typeface="Calibri" pitchFamily="34" charset="-122"/>
                <a:cs typeface="Calibri" pitchFamily="34" charset="-120"/>
              </a:rPr>
              <a:t>LedgerService</a:t>
            </a:r>
            <a:endParaRPr lang="en-US" sz="1150" dirty="0"/>
          </a:p>
        </p:txBody>
      </p:sp>
      <p:sp>
        <p:nvSpPr>
          <p:cNvPr id="26" name="Text 24"/>
          <p:cNvSpPr/>
          <p:nvPr/>
        </p:nvSpPr>
        <p:spPr>
          <a:xfrm>
            <a:off x="8138160" y="3200400"/>
            <a:ext cx="640080" cy="731520"/>
          </a:xfrm>
          <a:prstGeom prst="rect">
            <a:avLst/>
          </a:prstGeom>
          <a:noFill/>
          <a:ln/>
        </p:spPr>
        <p:txBody>
          <a:bodyPr wrap="square" rtlCol="0" anchor="ctr"/>
          <a:lstStyle/>
          <a:p>
            <a:pPr algn="ctr" indent="0" marL="0">
              <a:buNone/>
            </a:pPr>
            <a:r>
              <a:rPr lang="en-US" sz="3000" b="1" dirty="0">
                <a:solidFill>
                  <a:srgbClr val="B8962E"/>
                </a:solidFill>
                <a:latin typeface="Calibri" pitchFamily="34" charset="0"/>
                <a:ea typeface="Calibri" pitchFamily="34" charset="-122"/>
                <a:cs typeface="Calibri" pitchFamily="34" charset="-120"/>
              </a:rPr>
              <a:t>⇄</a:t>
            </a:r>
            <a:endParaRPr lang="en-US" sz="3000" dirty="0"/>
          </a:p>
        </p:txBody>
      </p:sp>
      <p:sp>
        <p:nvSpPr>
          <p:cNvPr id="27" name="Shape 25"/>
          <p:cNvSpPr/>
          <p:nvPr/>
        </p:nvSpPr>
        <p:spPr>
          <a:xfrm>
            <a:off x="8778240" y="1737360"/>
            <a:ext cx="2880360" cy="3566160"/>
          </a:xfrm>
          <a:prstGeom prst="roundRect">
            <a:avLst>
              <a:gd name="adj" fmla="val 2857"/>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8" name="Text 26"/>
          <p:cNvSpPr/>
          <p:nvPr/>
        </p:nvSpPr>
        <p:spPr>
          <a:xfrm>
            <a:off x="9006840" y="1920240"/>
            <a:ext cx="2423160" cy="365760"/>
          </a:xfrm>
          <a:prstGeom prst="rect">
            <a:avLst/>
          </a:prstGeom>
          <a:noFill/>
          <a:ln/>
        </p:spPr>
        <p:txBody>
          <a:bodyPr wrap="square" rtlCol="0" anchor="ctr"/>
          <a:lstStyle/>
          <a:p>
            <a:pPr rtl="1" algn="ctr" indent="0" marL="0">
              <a:buNone/>
            </a:pPr>
            <a:r>
              <a:rPr lang="en-US" sz="1500" b="1" dirty="0">
                <a:solidFill>
                  <a:srgbClr val="0B1F3A"/>
                </a:solidFill>
                <a:latin typeface="Calibri" pitchFamily="34" charset="0"/>
                <a:ea typeface="Calibri" pitchFamily="34" charset="-122"/>
                <a:cs typeface="Calibri" pitchFamily="34" charset="-120"/>
              </a:rPr>
              <a:t>قاعدة البيانات</a:t>
            </a:r>
            <a:endParaRPr lang="en-US" sz="1500" dirty="0"/>
          </a:p>
        </p:txBody>
      </p:sp>
      <p:sp>
        <p:nvSpPr>
          <p:cNvPr id="29" name="Text 27"/>
          <p:cNvSpPr/>
          <p:nvPr/>
        </p:nvSpPr>
        <p:spPr>
          <a:xfrm>
            <a:off x="9006840" y="2267712"/>
            <a:ext cx="2423160" cy="274320"/>
          </a:xfrm>
          <a:prstGeom prst="rect">
            <a:avLst/>
          </a:prstGeom>
          <a:noFill/>
          <a:ln/>
        </p:spPr>
        <p:txBody>
          <a:bodyPr wrap="square" rtlCol="0" anchor="ctr"/>
          <a:lstStyle/>
          <a:p>
            <a:pPr algn="ctr" indent="0" marL="0">
              <a:buNone/>
            </a:pPr>
            <a:r>
              <a:rPr lang="en-US" sz="1100" dirty="0">
                <a:solidFill>
                  <a:srgbClr val="5B6472"/>
                </a:solidFill>
                <a:latin typeface="Calibri" pitchFamily="34" charset="0"/>
                <a:ea typeface="Calibri" pitchFamily="34" charset="-122"/>
                <a:cs typeface="Calibri" pitchFamily="34" charset="-120"/>
              </a:rPr>
              <a:t>PostgreSQL (Neon)</a:t>
            </a:r>
            <a:endParaRPr lang="en-US" sz="1100" dirty="0"/>
          </a:p>
        </p:txBody>
      </p:sp>
      <p:sp>
        <p:nvSpPr>
          <p:cNvPr id="30" name="Shape 28"/>
          <p:cNvSpPr/>
          <p:nvPr/>
        </p:nvSpPr>
        <p:spPr>
          <a:xfrm>
            <a:off x="9098280" y="2670048"/>
            <a:ext cx="2240280" cy="438912"/>
          </a:xfrm>
          <a:prstGeom prst="roundRect">
            <a:avLst>
              <a:gd name="adj" fmla="val 14583"/>
            </a:avLst>
          </a:prstGeom>
          <a:solidFill>
            <a:srgbClr val="F7F8FA"/>
          </a:solidFill>
          <a:ln w="12700">
            <a:solidFill>
              <a:srgbClr val="E3E5EA"/>
            </a:solidFill>
            <a:prstDash val="solid"/>
          </a:ln>
        </p:spPr>
      </p:sp>
      <p:sp>
        <p:nvSpPr>
          <p:cNvPr id="31" name="Text 29"/>
          <p:cNvSpPr/>
          <p:nvPr/>
        </p:nvSpPr>
        <p:spPr>
          <a:xfrm>
            <a:off x="9098280" y="2670048"/>
            <a:ext cx="2240280" cy="438912"/>
          </a:xfrm>
          <a:prstGeom prst="rect">
            <a:avLst/>
          </a:prstGeom>
          <a:noFill/>
          <a:ln/>
        </p:spPr>
        <p:txBody>
          <a:bodyPr wrap="square" rtlCol="0" anchor="ctr"/>
          <a:lstStyle/>
          <a:p>
            <a:pPr algn="ctr" indent="0" marL="0">
              <a:buNone/>
            </a:pPr>
            <a:r>
              <a:rPr lang="en-US" sz="1050" dirty="0">
                <a:solidFill>
                  <a:srgbClr val="0B1F3A"/>
                </a:solidFill>
                <a:latin typeface="Calibri" pitchFamily="34" charset="0"/>
                <a:ea typeface="Calibri" pitchFamily="34" charset="-122"/>
                <a:cs typeface="Calibri" pitchFamily="34" charset="-120"/>
              </a:rPr>
              <a:t>Shipments / Offers</a:t>
            </a:r>
            <a:endParaRPr lang="en-US" sz="1050" dirty="0"/>
          </a:p>
        </p:txBody>
      </p:sp>
      <p:sp>
        <p:nvSpPr>
          <p:cNvPr id="32" name="Shape 30"/>
          <p:cNvSpPr/>
          <p:nvPr/>
        </p:nvSpPr>
        <p:spPr>
          <a:xfrm>
            <a:off x="9098280" y="3246120"/>
            <a:ext cx="2240280" cy="438912"/>
          </a:xfrm>
          <a:prstGeom prst="roundRect">
            <a:avLst>
              <a:gd name="adj" fmla="val 14583"/>
            </a:avLst>
          </a:prstGeom>
          <a:solidFill>
            <a:srgbClr val="F7F8FA"/>
          </a:solidFill>
          <a:ln w="12700">
            <a:solidFill>
              <a:srgbClr val="E3E5EA"/>
            </a:solidFill>
            <a:prstDash val="solid"/>
          </a:ln>
        </p:spPr>
      </p:sp>
      <p:sp>
        <p:nvSpPr>
          <p:cNvPr id="33" name="Text 31"/>
          <p:cNvSpPr/>
          <p:nvPr/>
        </p:nvSpPr>
        <p:spPr>
          <a:xfrm>
            <a:off x="9098280" y="3246120"/>
            <a:ext cx="2240280" cy="438912"/>
          </a:xfrm>
          <a:prstGeom prst="rect">
            <a:avLst/>
          </a:prstGeom>
          <a:noFill/>
          <a:ln/>
        </p:spPr>
        <p:txBody>
          <a:bodyPr wrap="square" rtlCol="0" anchor="ctr"/>
          <a:lstStyle/>
          <a:p>
            <a:pPr algn="ctr" indent="0" marL="0">
              <a:buNone/>
            </a:pPr>
            <a:r>
              <a:rPr lang="en-US" sz="1050" dirty="0">
                <a:solidFill>
                  <a:srgbClr val="0B1F3A"/>
                </a:solidFill>
                <a:latin typeface="Calibri" pitchFamily="34" charset="0"/>
                <a:ea typeface="Calibri" pitchFamily="34" charset="-122"/>
                <a:cs typeface="Calibri" pitchFamily="34" charset="-120"/>
              </a:rPr>
              <a:t>Drivers / Trucks</a:t>
            </a:r>
            <a:endParaRPr lang="en-US" sz="1050" dirty="0"/>
          </a:p>
        </p:txBody>
      </p:sp>
      <p:sp>
        <p:nvSpPr>
          <p:cNvPr id="34" name="Shape 32"/>
          <p:cNvSpPr/>
          <p:nvPr/>
        </p:nvSpPr>
        <p:spPr>
          <a:xfrm>
            <a:off x="9098280" y="3822192"/>
            <a:ext cx="2240280" cy="438912"/>
          </a:xfrm>
          <a:prstGeom prst="roundRect">
            <a:avLst>
              <a:gd name="adj" fmla="val 14583"/>
            </a:avLst>
          </a:prstGeom>
          <a:solidFill>
            <a:srgbClr val="F7F8FA"/>
          </a:solidFill>
          <a:ln w="12700">
            <a:solidFill>
              <a:srgbClr val="E3E5EA"/>
            </a:solidFill>
            <a:prstDash val="solid"/>
          </a:ln>
        </p:spPr>
      </p:sp>
      <p:sp>
        <p:nvSpPr>
          <p:cNvPr id="35" name="Text 33"/>
          <p:cNvSpPr/>
          <p:nvPr/>
        </p:nvSpPr>
        <p:spPr>
          <a:xfrm>
            <a:off x="9098280" y="3822192"/>
            <a:ext cx="2240280" cy="438912"/>
          </a:xfrm>
          <a:prstGeom prst="rect">
            <a:avLst/>
          </a:prstGeom>
          <a:noFill/>
          <a:ln/>
        </p:spPr>
        <p:txBody>
          <a:bodyPr wrap="square" rtlCol="0" anchor="ctr"/>
          <a:lstStyle/>
          <a:p>
            <a:pPr algn="ctr" indent="0" marL="0">
              <a:buNone/>
            </a:pPr>
            <a:r>
              <a:rPr lang="en-US" sz="1050" dirty="0">
                <a:solidFill>
                  <a:srgbClr val="0B1F3A"/>
                </a:solidFill>
                <a:latin typeface="Calibri" pitchFamily="34" charset="0"/>
                <a:ea typeface="Calibri" pitchFamily="34" charset="-122"/>
                <a:cs typeface="Calibri" pitchFamily="34" charset="-120"/>
              </a:rPr>
              <a:t>Zones / Pricing</a:t>
            </a:r>
            <a:endParaRPr lang="en-US" sz="1050" dirty="0"/>
          </a:p>
        </p:txBody>
      </p:sp>
      <p:sp>
        <p:nvSpPr>
          <p:cNvPr id="36" name="Shape 34"/>
          <p:cNvSpPr/>
          <p:nvPr/>
        </p:nvSpPr>
        <p:spPr>
          <a:xfrm>
            <a:off x="9098280" y="4398264"/>
            <a:ext cx="2240280" cy="438912"/>
          </a:xfrm>
          <a:prstGeom prst="roundRect">
            <a:avLst>
              <a:gd name="adj" fmla="val 14583"/>
            </a:avLst>
          </a:prstGeom>
          <a:solidFill>
            <a:srgbClr val="F7F8FA"/>
          </a:solidFill>
          <a:ln w="12700">
            <a:solidFill>
              <a:srgbClr val="E3E5EA"/>
            </a:solidFill>
            <a:prstDash val="solid"/>
          </a:ln>
        </p:spPr>
      </p:sp>
      <p:sp>
        <p:nvSpPr>
          <p:cNvPr id="37" name="Text 35"/>
          <p:cNvSpPr/>
          <p:nvPr/>
        </p:nvSpPr>
        <p:spPr>
          <a:xfrm>
            <a:off x="9098280" y="4398264"/>
            <a:ext cx="2240280" cy="438912"/>
          </a:xfrm>
          <a:prstGeom prst="rect">
            <a:avLst/>
          </a:prstGeom>
          <a:noFill/>
          <a:ln/>
        </p:spPr>
        <p:txBody>
          <a:bodyPr wrap="square" rtlCol="0" anchor="ctr"/>
          <a:lstStyle/>
          <a:p>
            <a:pPr algn="ctr" indent="0" marL="0">
              <a:buNone/>
            </a:pPr>
            <a:r>
              <a:rPr lang="en-US" sz="1050" dirty="0">
                <a:solidFill>
                  <a:srgbClr val="0B1F3A"/>
                </a:solidFill>
                <a:latin typeface="Calibri" pitchFamily="34" charset="0"/>
                <a:ea typeface="Calibri" pitchFamily="34" charset="-122"/>
                <a:cs typeface="Calibri" pitchFamily="34" charset="-120"/>
              </a:rPr>
              <a:t>Ledger / Payouts</a:t>
            </a:r>
            <a:endParaRPr lang="en-US" sz="1050" dirty="0"/>
          </a:p>
        </p:txBody>
      </p:sp>
      <p:sp>
        <p:nvSpPr>
          <p:cNvPr id="38" name="Shape 36"/>
          <p:cNvSpPr/>
          <p:nvPr/>
        </p:nvSpPr>
        <p:spPr>
          <a:xfrm>
            <a:off x="548640" y="5532120"/>
            <a:ext cx="11109960" cy="731520"/>
          </a:xfrm>
          <a:prstGeom prst="roundRect">
            <a:avLst>
              <a:gd name="adj" fmla="val 11250"/>
            </a:avLst>
          </a:prstGeom>
          <a:solidFill>
            <a:srgbClr val="EAF1FE"/>
          </a:solidFill>
          <a:ln w="12700">
            <a:solidFill>
              <a:srgbClr val="EAF1FE"/>
            </a:solidFill>
            <a:prstDash val="solid"/>
          </a:ln>
        </p:spPr>
      </p:sp>
      <p:sp>
        <p:nvSpPr>
          <p:cNvPr id="39" name="Text 37"/>
          <p:cNvSpPr/>
          <p:nvPr/>
        </p:nvSpPr>
        <p:spPr>
          <a:xfrm>
            <a:off x="822960" y="5532120"/>
            <a:ext cx="10561320" cy="731520"/>
          </a:xfrm>
          <a:prstGeom prst="rect">
            <a:avLst/>
          </a:prstGeom>
          <a:noFill/>
          <a:ln/>
        </p:spPr>
        <p:txBody>
          <a:bodyPr wrap="square" rtlCol="0" anchor="ctr"/>
          <a:lstStyle/>
          <a:p>
            <a:pPr rtl="1" algn="ctr" indent="0" marL="0">
              <a:buNone/>
            </a:pPr>
            <a:r>
              <a:rPr lang="en-US" sz="1200" b="1" dirty="0">
                <a:solidFill>
                  <a:srgbClr val="2563EB"/>
                </a:solidFill>
                <a:latin typeface="Calibri" pitchFamily="34" charset="0"/>
                <a:ea typeface="Calibri" pitchFamily="34" charset="-122"/>
                <a:cs typeface="Calibri" pitchFamily="34" charset="-120"/>
              </a:rPr>
              <a:t>خدمات مساندة: Firebase Cloud Messaging (إشعارات) · استضافة الخادم على Render · تخزين ملفات خاص للمستندات الحساسة</a:t>
            </a:r>
            <a:endParaRPr lang="en-US" sz="1200" dirty="0"/>
          </a:p>
        </p:txBody>
      </p:sp>
      <p:sp>
        <p:nvSpPr>
          <p:cNvPr id="40" name="Text 38"/>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41" name="Text 39"/>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الأطراف الثلاثة في النظام</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من يستخدم النظام وماذا يفعل؟</a:t>
            </a:r>
            <a:endParaRPr lang="en-US" sz="3000" dirty="0"/>
          </a:p>
        </p:txBody>
      </p:sp>
      <p:sp>
        <p:nvSpPr>
          <p:cNvPr id="4" name="Shape 2"/>
          <p:cNvSpPr/>
          <p:nvPr/>
        </p:nvSpPr>
        <p:spPr>
          <a:xfrm>
            <a:off x="548640" y="1783080"/>
            <a:ext cx="3520440" cy="4160520"/>
          </a:xfrm>
          <a:prstGeom prst="roundRect">
            <a:avLst>
              <a:gd name="adj" fmla="val 233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5" name="Shape 3"/>
          <p:cNvSpPr/>
          <p:nvPr/>
        </p:nvSpPr>
        <p:spPr>
          <a:xfrm>
            <a:off x="548640" y="1783080"/>
            <a:ext cx="3520440" cy="914400"/>
          </a:xfrm>
          <a:prstGeom prst="roundRect">
            <a:avLst>
              <a:gd name="adj" fmla="val 9000"/>
            </a:avLst>
          </a:prstGeom>
          <a:solidFill>
            <a:srgbClr val="16213E"/>
          </a:solidFill>
          <a:ln/>
        </p:spPr>
      </p:sp>
      <p:sp>
        <p:nvSpPr>
          <p:cNvPr id="6" name="Text 4"/>
          <p:cNvSpPr/>
          <p:nvPr/>
        </p:nvSpPr>
        <p:spPr>
          <a:xfrm>
            <a:off x="548640" y="1892808"/>
            <a:ext cx="3520440" cy="457200"/>
          </a:xfrm>
          <a:prstGeom prst="rect">
            <a:avLst/>
          </a:prstGeom>
          <a:noFill/>
          <a:ln/>
        </p:spPr>
        <p:txBody>
          <a:bodyPr wrap="square" rtlCol="0" anchor="ctr"/>
          <a:lstStyle/>
          <a:p>
            <a:pPr rtl="1" algn="ctr" indent="0" marL="0">
              <a:buNone/>
            </a:pPr>
            <a:r>
              <a:rPr lang="en-US" sz="1900" b="1" dirty="0">
                <a:solidFill>
                  <a:srgbClr val="FFFFFF"/>
                </a:solidFill>
                <a:latin typeface="Cambria" pitchFamily="34" charset="0"/>
                <a:ea typeface="Cambria" pitchFamily="34" charset="-122"/>
                <a:cs typeface="Cambria" pitchFamily="34" charset="-120"/>
              </a:rPr>
              <a:t>الشركة</a:t>
            </a:r>
            <a:endParaRPr lang="en-US" sz="1900" dirty="0"/>
          </a:p>
        </p:txBody>
      </p:sp>
      <p:sp>
        <p:nvSpPr>
          <p:cNvPr id="7" name="Text 5"/>
          <p:cNvSpPr/>
          <p:nvPr/>
        </p:nvSpPr>
        <p:spPr>
          <a:xfrm>
            <a:off x="548640" y="2313432"/>
            <a:ext cx="3520440" cy="320040"/>
          </a:xfrm>
          <a:prstGeom prst="rect">
            <a:avLst/>
          </a:prstGeom>
          <a:noFill/>
          <a:ln/>
        </p:spPr>
        <p:txBody>
          <a:bodyPr wrap="square" rtlCol="0" anchor="ctr"/>
          <a:lstStyle/>
          <a:p>
            <a:pPr algn="ctr" indent="0" marL="0">
              <a:buNone/>
            </a:pPr>
            <a:r>
              <a:rPr lang="en-US" sz="1100" dirty="0">
                <a:solidFill>
                  <a:srgbClr val="AEB6C4"/>
                </a:solidFill>
                <a:latin typeface="Calibri" pitchFamily="34" charset="0"/>
                <a:ea typeface="Calibri" pitchFamily="34" charset="-122"/>
                <a:cs typeface="Calibri" pitchFamily="34" charset="-120"/>
              </a:rPr>
              <a:t>Company</a:t>
            </a:r>
            <a:endParaRPr lang="en-US" sz="1100" dirty="0"/>
          </a:p>
        </p:txBody>
      </p:sp>
      <p:sp>
        <p:nvSpPr>
          <p:cNvPr id="8" name="Text 6"/>
          <p:cNvSpPr/>
          <p:nvPr/>
        </p:nvSpPr>
        <p:spPr>
          <a:xfrm>
            <a:off x="822960" y="2971800"/>
            <a:ext cx="2971800" cy="2697480"/>
          </a:xfrm>
          <a:prstGeom prst="rect">
            <a:avLst/>
          </a:prstGeom>
          <a:noFill/>
          <a:ln/>
        </p:spPr>
        <p:txBody>
          <a:bodyPr wrap="square" rtlCol="0" anchor="t"/>
          <a:lstStyle/>
          <a:p>
            <a:pPr rtl="1" algn="r" indent="0" marL="0">
              <a:lnSpc>
                <a:spcPct val="130000"/>
              </a:lnSpc>
              <a:buNone/>
            </a:pPr>
            <a:r>
              <a:rPr lang="en-US" sz="1300" dirty="0">
                <a:solidFill>
                  <a:srgbClr val="14161A"/>
                </a:solidFill>
                <a:latin typeface="Calibri" pitchFamily="34" charset="0"/>
                <a:ea typeface="Calibri" pitchFamily="34" charset="-122"/>
                <a:cs typeface="Calibri" pitchFamily="34" charset="-120"/>
              </a:rPr>
              <a:t>تنشئ عروض شحن، تتابع حالتها، تدير رصيدها المالي، وتقيّم السائقين بعد التسليم.</a:t>
            </a:r>
            <a:endParaRPr lang="en-US" sz="1300" dirty="0"/>
          </a:p>
        </p:txBody>
      </p:sp>
      <p:sp>
        <p:nvSpPr>
          <p:cNvPr id="9" name="Shape 7"/>
          <p:cNvSpPr/>
          <p:nvPr/>
        </p:nvSpPr>
        <p:spPr>
          <a:xfrm>
            <a:off x="4343400" y="1783080"/>
            <a:ext cx="3520440" cy="4160520"/>
          </a:xfrm>
          <a:prstGeom prst="roundRect">
            <a:avLst>
              <a:gd name="adj" fmla="val 233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0" name="Shape 8"/>
          <p:cNvSpPr/>
          <p:nvPr/>
        </p:nvSpPr>
        <p:spPr>
          <a:xfrm>
            <a:off x="4343400" y="1783080"/>
            <a:ext cx="3520440" cy="914400"/>
          </a:xfrm>
          <a:prstGeom prst="roundRect">
            <a:avLst>
              <a:gd name="adj" fmla="val 9000"/>
            </a:avLst>
          </a:prstGeom>
          <a:solidFill>
            <a:srgbClr val="B8962E"/>
          </a:solidFill>
          <a:ln/>
        </p:spPr>
      </p:sp>
      <p:sp>
        <p:nvSpPr>
          <p:cNvPr id="11" name="Text 9"/>
          <p:cNvSpPr/>
          <p:nvPr/>
        </p:nvSpPr>
        <p:spPr>
          <a:xfrm>
            <a:off x="4343400" y="1892808"/>
            <a:ext cx="3520440" cy="457200"/>
          </a:xfrm>
          <a:prstGeom prst="rect">
            <a:avLst/>
          </a:prstGeom>
          <a:noFill/>
          <a:ln/>
        </p:spPr>
        <p:txBody>
          <a:bodyPr wrap="square" rtlCol="0" anchor="ctr"/>
          <a:lstStyle/>
          <a:p>
            <a:pPr rtl="1" algn="ctr" indent="0" marL="0">
              <a:buNone/>
            </a:pPr>
            <a:r>
              <a:rPr lang="en-US" sz="1900" b="1" dirty="0">
                <a:solidFill>
                  <a:srgbClr val="FFFFFF"/>
                </a:solidFill>
                <a:latin typeface="Cambria" pitchFamily="34" charset="0"/>
                <a:ea typeface="Cambria" pitchFamily="34" charset="-122"/>
                <a:cs typeface="Cambria" pitchFamily="34" charset="-120"/>
              </a:rPr>
              <a:t>السائق</a:t>
            </a:r>
            <a:endParaRPr lang="en-US" sz="1900" dirty="0"/>
          </a:p>
        </p:txBody>
      </p:sp>
      <p:sp>
        <p:nvSpPr>
          <p:cNvPr id="12" name="Text 10"/>
          <p:cNvSpPr/>
          <p:nvPr/>
        </p:nvSpPr>
        <p:spPr>
          <a:xfrm>
            <a:off x="4343400" y="2313432"/>
            <a:ext cx="3520440" cy="320040"/>
          </a:xfrm>
          <a:prstGeom prst="rect">
            <a:avLst/>
          </a:prstGeom>
          <a:noFill/>
          <a:ln/>
        </p:spPr>
        <p:txBody>
          <a:bodyPr wrap="square" rtlCol="0" anchor="ctr"/>
          <a:lstStyle/>
          <a:p>
            <a:pPr algn="ctr" indent="0" marL="0">
              <a:buNone/>
            </a:pPr>
            <a:r>
              <a:rPr lang="en-US" sz="1100" dirty="0">
                <a:solidFill>
                  <a:srgbClr val="AEB6C4"/>
                </a:solidFill>
                <a:latin typeface="Calibri" pitchFamily="34" charset="0"/>
                <a:ea typeface="Calibri" pitchFamily="34" charset="-122"/>
                <a:cs typeface="Calibri" pitchFamily="34" charset="-120"/>
              </a:rPr>
              <a:t>Driver</a:t>
            </a:r>
            <a:endParaRPr lang="en-US" sz="1100" dirty="0"/>
          </a:p>
        </p:txBody>
      </p:sp>
      <p:sp>
        <p:nvSpPr>
          <p:cNvPr id="13" name="Text 11"/>
          <p:cNvSpPr/>
          <p:nvPr/>
        </p:nvSpPr>
        <p:spPr>
          <a:xfrm>
            <a:off x="4617720" y="2971800"/>
            <a:ext cx="2971800" cy="2697480"/>
          </a:xfrm>
          <a:prstGeom prst="rect">
            <a:avLst/>
          </a:prstGeom>
          <a:noFill/>
          <a:ln/>
        </p:spPr>
        <p:txBody>
          <a:bodyPr wrap="square" rtlCol="0" anchor="t"/>
          <a:lstStyle/>
          <a:p>
            <a:pPr rtl="1" algn="r" indent="0" marL="0">
              <a:lnSpc>
                <a:spcPct val="130000"/>
              </a:lnSpc>
              <a:buNone/>
            </a:pPr>
            <a:r>
              <a:rPr lang="en-US" sz="1300" dirty="0">
                <a:solidFill>
                  <a:srgbClr val="14161A"/>
                </a:solidFill>
                <a:latin typeface="Calibri" pitchFamily="34" charset="0"/>
                <a:ea typeface="Calibri" pitchFamily="34" charset="-122"/>
                <a:cs typeface="Calibri" pitchFamily="34" charset="-120"/>
              </a:rPr>
              <a:t>يستقبل عروضًا مطابَقة له، يقبل أو يرفض، ينفّذ الرحلة مرحلة بمرحلة، ويرفع إثبات التسليم.</a:t>
            </a:r>
            <a:endParaRPr lang="en-US" sz="1300" dirty="0"/>
          </a:p>
        </p:txBody>
      </p:sp>
      <p:sp>
        <p:nvSpPr>
          <p:cNvPr id="14" name="Shape 12"/>
          <p:cNvSpPr/>
          <p:nvPr/>
        </p:nvSpPr>
        <p:spPr>
          <a:xfrm>
            <a:off x="8138160" y="1783080"/>
            <a:ext cx="3520440" cy="4160520"/>
          </a:xfrm>
          <a:prstGeom prst="roundRect">
            <a:avLst>
              <a:gd name="adj" fmla="val 233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5" name="Shape 13"/>
          <p:cNvSpPr/>
          <p:nvPr/>
        </p:nvSpPr>
        <p:spPr>
          <a:xfrm>
            <a:off x="8138160" y="1783080"/>
            <a:ext cx="3520440" cy="914400"/>
          </a:xfrm>
          <a:prstGeom prst="roundRect">
            <a:avLst>
              <a:gd name="adj" fmla="val 9000"/>
            </a:avLst>
          </a:prstGeom>
          <a:solidFill>
            <a:srgbClr val="0B1F3A"/>
          </a:solidFill>
          <a:ln/>
        </p:spPr>
      </p:sp>
      <p:sp>
        <p:nvSpPr>
          <p:cNvPr id="16" name="Text 14"/>
          <p:cNvSpPr/>
          <p:nvPr/>
        </p:nvSpPr>
        <p:spPr>
          <a:xfrm>
            <a:off x="8138160" y="1892808"/>
            <a:ext cx="3520440" cy="457200"/>
          </a:xfrm>
          <a:prstGeom prst="rect">
            <a:avLst/>
          </a:prstGeom>
          <a:noFill/>
          <a:ln/>
        </p:spPr>
        <p:txBody>
          <a:bodyPr wrap="square" rtlCol="0" anchor="ctr"/>
          <a:lstStyle/>
          <a:p>
            <a:pPr rtl="1" algn="ctr" indent="0" marL="0">
              <a:buNone/>
            </a:pPr>
            <a:r>
              <a:rPr lang="en-US" sz="1900" b="1" dirty="0">
                <a:solidFill>
                  <a:srgbClr val="FFFFFF"/>
                </a:solidFill>
                <a:latin typeface="Cambria" pitchFamily="34" charset="0"/>
                <a:ea typeface="Cambria" pitchFamily="34" charset="-122"/>
                <a:cs typeface="Cambria" pitchFamily="34" charset="-120"/>
              </a:rPr>
              <a:t>الإدارة</a:t>
            </a:r>
            <a:endParaRPr lang="en-US" sz="1900" dirty="0"/>
          </a:p>
        </p:txBody>
      </p:sp>
      <p:sp>
        <p:nvSpPr>
          <p:cNvPr id="17" name="Text 15"/>
          <p:cNvSpPr/>
          <p:nvPr/>
        </p:nvSpPr>
        <p:spPr>
          <a:xfrm>
            <a:off x="8138160" y="2313432"/>
            <a:ext cx="3520440" cy="320040"/>
          </a:xfrm>
          <a:prstGeom prst="rect">
            <a:avLst/>
          </a:prstGeom>
          <a:noFill/>
          <a:ln/>
        </p:spPr>
        <p:txBody>
          <a:bodyPr wrap="square" rtlCol="0" anchor="ctr"/>
          <a:lstStyle/>
          <a:p>
            <a:pPr algn="ctr" indent="0" marL="0">
              <a:buNone/>
            </a:pPr>
            <a:r>
              <a:rPr lang="en-US" sz="1100" dirty="0">
                <a:solidFill>
                  <a:srgbClr val="AEB6C4"/>
                </a:solidFill>
                <a:latin typeface="Calibri" pitchFamily="34" charset="0"/>
                <a:ea typeface="Calibri" pitchFamily="34" charset="-122"/>
                <a:cs typeface="Calibri" pitchFamily="34" charset="-120"/>
              </a:rPr>
              <a:t>Admin / Sub-Admin</a:t>
            </a:r>
            <a:endParaRPr lang="en-US" sz="1100" dirty="0"/>
          </a:p>
        </p:txBody>
      </p:sp>
      <p:sp>
        <p:nvSpPr>
          <p:cNvPr id="18" name="Text 16"/>
          <p:cNvSpPr/>
          <p:nvPr/>
        </p:nvSpPr>
        <p:spPr>
          <a:xfrm>
            <a:off x="8412480" y="2971800"/>
            <a:ext cx="2971800" cy="2697480"/>
          </a:xfrm>
          <a:prstGeom prst="rect">
            <a:avLst/>
          </a:prstGeom>
          <a:noFill/>
          <a:ln/>
        </p:spPr>
        <p:txBody>
          <a:bodyPr wrap="square" rtlCol="0" anchor="t"/>
          <a:lstStyle/>
          <a:p>
            <a:pPr rtl="1" algn="r" indent="0" marL="0">
              <a:lnSpc>
                <a:spcPct val="130000"/>
              </a:lnSpc>
              <a:buNone/>
            </a:pPr>
            <a:r>
              <a:rPr lang="en-US" sz="1300" dirty="0">
                <a:solidFill>
                  <a:srgbClr val="14161A"/>
                </a:solidFill>
                <a:latin typeface="Calibri" pitchFamily="34" charset="0"/>
                <a:ea typeface="Calibri" pitchFamily="34" charset="-122"/>
                <a:cs typeface="Calibri" pitchFamily="34" charset="-120"/>
              </a:rPr>
              <a:t>تراقب النظام، تعتمد الحسابات والمستندات، تتدخل عند التصعيد، وتدير الصلاحيات والتسويات المالية.</a:t>
            </a:r>
            <a:endParaRPr lang="en-US" sz="1300" dirty="0"/>
          </a:p>
        </p:txBody>
      </p:sp>
      <p:sp>
        <p:nvSpPr>
          <p:cNvPr id="19" name="Text 17"/>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0" name="Text 18"/>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خوارزمية التسعير الذكي</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PricingService — تسعير مبني على بيانات المناطق الجغرافية</a:t>
            </a:r>
            <a:endParaRPr lang="en-US" sz="3000" dirty="0"/>
          </a:p>
        </p:txBody>
      </p:sp>
      <p:sp>
        <p:nvSpPr>
          <p:cNvPr id="4" name="Shape 2"/>
          <p:cNvSpPr/>
          <p:nvPr/>
        </p:nvSpPr>
        <p:spPr>
          <a:xfrm>
            <a:off x="685800" y="1691640"/>
            <a:ext cx="3383280" cy="1783080"/>
          </a:xfrm>
          <a:prstGeom prst="roundRect">
            <a:avLst>
              <a:gd name="adj" fmla="val 4615"/>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5" name="Shape 3"/>
          <p:cNvSpPr/>
          <p:nvPr/>
        </p:nvSpPr>
        <p:spPr>
          <a:xfrm>
            <a:off x="914400" y="1892808"/>
            <a:ext cx="1234440" cy="365760"/>
          </a:xfrm>
          <a:prstGeom prst="roundRect">
            <a:avLst>
              <a:gd name="adj" fmla="val 50000"/>
            </a:avLst>
          </a:prstGeom>
          <a:solidFill>
            <a:srgbClr val="16213E"/>
          </a:solidFill>
          <a:ln/>
        </p:spPr>
      </p:sp>
      <p:sp>
        <p:nvSpPr>
          <p:cNvPr id="6" name="Text 4"/>
          <p:cNvSpPr/>
          <p:nvPr/>
        </p:nvSpPr>
        <p:spPr>
          <a:xfrm>
            <a:off x="914400" y="1892808"/>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المستوى 1</a:t>
            </a:r>
            <a:endParaRPr lang="en-US" sz="1100" dirty="0"/>
          </a:p>
        </p:txBody>
      </p:sp>
      <p:sp>
        <p:nvSpPr>
          <p:cNvPr id="7" name="Text 5"/>
          <p:cNvSpPr/>
          <p:nvPr/>
        </p:nvSpPr>
        <p:spPr>
          <a:xfrm>
            <a:off x="914400" y="2313432"/>
            <a:ext cx="2926080" cy="36576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تطابق دقيق للخط</a:t>
            </a:r>
            <a:endParaRPr lang="en-US" sz="1500" dirty="0"/>
          </a:p>
        </p:txBody>
      </p:sp>
      <p:sp>
        <p:nvSpPr>
          <p:cNvPr id="8" name="Text 6"/>
          <p:cNvSpPr/>
          <p:nvPr/>
        </p:nvSpPr>
        <p:spPr>
          <a:xfrm>
            <a:off x="914400" y="2715768"/>
            <a:ext cx="2926080" cy="640080"/>
          </a:xfrm>
          <a:prstGeom prst="rect">
            <a:avLst/>
          </a:prstGeom>
          <a:noFill/>
          <a:ln/>
        </p:spPr>
        <p:txBody>
          <a:bodyPr wrap="square" rtlCol="0" anchor="ctr"/>
          <a:lstStyle/>
          <a:p>
            <a:pPr algn="l" indent="0" marL="0">
              <a:buNone/>
            </a:pPr>
            <a:r>
              <a:rPr lang="en-US" sz="1050" dirty="0">
                <a:solidFill>
                  <a:srgbClr val="5B6472"/>
                </a:solidFill>
                <a:latin typeface="Consolas" pitchFamily="34" charset="0"/>
                <a:ea typeface="Consolas" pitchFamily="34" charset="-122"/>
                <a:cs typeface="Consolas" pitchFamily="34" charset="-120"/>
              </a:rPr>
              <a:t>origin_zone_id + destination_zone_id</a:t>
            </a:r>
            <a:endParaRPr lang="en-US" sz="1050" dirty="0"/>
          </a:p>
          <a:p>
            <a:pPr algn="l" indent="0" marL="0">
              <a:buNone/>
            </a:pPr>
            <a:r>
              <a:rPr lang="en-US" sz="1050" dirty="0">
                <a:solidFill>
                  <a:srgbClr val="5B6472"/>
                </a:solidFill>
                <a:latin typeface="Consolas" pitchFamily="34" charset="0"/>
                <a:ea typeface="Consolas" pitchFamily="34" charset="-122"/>
                <a:cs typeface="Consolas" pitchFamily="34" charset="-120"/>
              </a:rPr>
              <a:t>+ truck_type</a:t>
            </a:r>
            <a:endParaRPr lang="en-US" sz="1050" dirty="0"/>
          </a:p>
        </p:txBody>
      </p:sp>
      <p:sp>
        <p:nvSpPr>
          <p:cNvPr id="9" name="Text 7"/>
          <p:cNvSpPr/>
          <p:nvPr/>
        </p:nvSpPr>
        <p:spPr>
          <a:xfrm>
            <a:off x="4114800" y="2382012"/>
            <a:ext cx="411480" cy="411480"/>
          </a:xfrm>
          <a:prstGeom prst="rect">
            <a:avLst/>
          </a:prstGeom>
          <a:noFill/>
          <a:ln/>
        </p:spPr>
        <p:txBody>
          <a:bodyPr wrap="square" rtlCol="0" anchor="ctr"/>
          <a:lstStyle/>
          <a:p>
            <a:pPr algn="ctr" indent="0" marL="0">
              <a:buNone/>
            </a:pPr>
            <a:r>
              <a:rPr lang="en-US" sz="2000" b="1" dirty="0">
                <a:solidFill>
                  <a:srgbClr val="B8962E"/>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572000" y="1691640"/>
            <a:ext cx="3383280" cy="1783080"/>
          </a:xfrm>
          <a:prstGeom prst="roundRect">
            <a:avLst>
              <a:gd name="adj" fmla="val 4615"/>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1" name="Shape 9"/>
          <p:cNvSpPr/>
          <p:nvPr/>
        </p:nvSpPr>
        <p:spPr>
          <a:xfrm>
            <a:off x="4800600" y="1892808"/>
            <a:ext cx="1234440" cy="365760"/>
          </a:xfrm>
          <a:prstGeom prst="roundRect">
            <a:avLst>
              <a:gd name="adj" fmla="val 50000"/>
            </a:avLst>
          </a:prstGeom>
          <a:solidFill>
            <a:srgbClr val="B8962E"/>
          </a:solidFill>
          <a:ln/>
        </p:spPr>
      </p:sp>
      <p:sp>
        <p:nvSpPr>
          <p:cNvPr id="12" name="Text 10"/>
          <p:cNvSpPr/>
          <p:nvPr/>
        </p:nvSpPr>
        <p:spPr>
          <a:xfrm>
            <a:off x="4800600" y="1892808"/>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المستوى 2</a:t>
            </a:r>
            <a:endParaRPr lang="en-US" sz="1100" dirty="0"/>
          </a:p>
        </p:txBody>
      </p:sp>
      <p:sp>
        <p:nvSpPr>
          <p:cNvPr id="13" name="Text 11"/>
          <p:cNvSpPr/>
          <p:nvPr/>
        </p:nvSpPr>
        <p:spPr>
          <a:xfrm>
            <a:off x="4800600" y="2313432"/>
            <a:ext cx="2926080" cy="36576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تراجع لمستوى الدولة</a:t>
            </a:r>
            <a:endParaRPr lang="en-US" sz="1500" dirty="0"/>
          </a:p>
        </p:txBody>
      </p:sp>
      <p:sp>
        <p:nvSpPr>
          <p:cNvPr id="14" name="Text 12"/>
          <p:cNvSpPr/>
          <p:nvPr/>
        </p:nvSpPr>
        <p:spPr>
          <a:xfrm>
            <a:off x="4800600" y="2715768"/>
            <a:ext cx="2926080" cy="640080"/>
          </a:xfrm>
          <a:prstGeom prst="rect">
            <a:avLst/>
          </a:prstGeom>
          <a:noFill/>
          <a:ln/>
        </p:spPr>
        <p:txBody>
          <a:bodyPr wrap="square" rtlCol="0" anchor="ctr"/>
          <a:lstStyle/>
          <a:p>
            <a:pPr algn="l" indent="0" marL="0">
              <a:buNone/>
            </a:pPr>
            <a:r>
              <a:rPr lang="en-US" sz="1050" dirty="0">
                <a:solidFill>
                  <a:srgbClr val="5B6472"/>
                </a:solidFill>
                <a:latin typeface="Consolas" pitchFamily="34" charset="0"/>
                <a:ea typeface="Consolas" pitchFamily="34" charset="-122"/>
                <a:cs typeface="Consolas" pitchFamily="34" charset="-120"/>
              </a:rPr>
              <a:t>origin_country + destination_country</a:t>
            </a:r>
            <a:endParaRPr lang="en-US" sz="1050" dirty="0"/>
          </a:p>
          <a:p>
            <a:pPr algn="l" indent="0" marL="0">
              <a:buNone/>
            </a:pPr>
            <a:r>
              <a:rPr lang="en-US" sz="1050" dirty="0">
                <a:solidFill>
                  <a:srgbClr val="5B6472"/>
                </a:solidFill>
                <a:latin typeface="Consolas" pitchFamily="34" charset="0"/>
                <a:ea typeface="Consolas" pitchFamily="34" charset="-122"/>
                <a:cs typeface="Consolas" pitchFamily="34" charset="-120"/>
              </a:rPr>
              <a:t>+ truck_type</a:t>
            </a:r>
            <a:endParaRPr lang="en-US" sz="1050" dirty="0"/>
          </a:p>
        </p:txBody>
      </p:sp>
      <p:sp>
        <p:nvSpPr>
          <p:cNvPr id="15" name="Text 13"/>
          <p:cNvSpPr/>
          <p:nvPr/>
        </p:nvSpPr>
        <p:spPr>
          <a:xfrm>
            <a:off x="8001000" y="2382012"/>
            <a:ext cx="411480" cy="411480"/>
          </a:xfrm>
          <a:prstGeom prst="rect">
            <a:avLst/>
          </a:prstGeom>
          <a:noFill/>
          <a:ln/>
        </p:spPr>
        <p:txBody>
          <a:bodyPr wrap="square" rtlCol="0" anchor="ctr"/>
          <a:lstStyle/>
          <a:p>
            <a:pPr algn="ctr" indent="0" marL="0">
              <a:buNone/>
            </a:pPr>
            <a:r>
              <a:rPr lang="en-US" sz="2000" b="1" dirty="0">
                <a:solidFill>
                  <a:srgbClr val="B8962E"/>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458200" y="1691640"/>
            <a:ext cx="3383280" cy="1783080"/>
          </a:xfrm>
          <a:prstGeom prst="roundRect">
            <a:avLst>
              <a:gd name="adj" fmla="val 4615"/>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7" name="Shape 15"/>
          <p:cNvSpPr/>
          <p:nvPr/>
        </p:nvSpPr>
        <p:spPr>
          <a:xfrm>
            <a:off x="8686800" y="1892808"/>
            <a:ext cx="1234440" cy="365760"/>
          </a:xfrm>
          <a:prstGeom prst="roundRect">
            <a:avLst>
              <a:gd name="adj" fmla="val 50000"/>
            </a:avLst>
          </a:prstGeom>
          <a:solidFill>
            <a:srgbClr val="C0392B"/>
          </a:solidFill>
          <a:ln/>
        </p:spPr>
      </p:sp>
      <p:sp>
        <p:nvSpPr>
          <p:cNvPr id="18" name="Text 16"/>
          <p:cNvSpPr/>
          <p:nvPr/>
        </p:nvSpPr>
        <p:spPr>
          <a:xfrm>
            <a:off x="8686800" y="1892808"/>
            <a:ext cx="1234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المستوى 3</a:t>
            </a:r>
            <a:endParaRPr lang="en-US" sz="1100" dirty="0"/>
          </a:p>
        </p:txBody>
      </p:sp>
      <p:sp>
        <p:nvSpPr>
          <p:cNvPr id="19" name="Text 17"/>
          <p:cNvSpPr/>
          <p:nvPr/>
        </p:nvSpPr>
        <p:spPr>
          <a:xfrm>
            <a:off x="8686800" y="2313432"/>
            <a:ext cx="2926080" cy="36576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لا يوجد تطابق</a:t>
            </a:r>
            <a:endParaRPr lang="en-US" sz="1500" dirty="0"/>
          </a:p>
        </p:txBody>
      </p:sp>
      <p:sp>
        <p:nvSpPr>
          <p:cNvPr id="20" name="Text 18"/>
          <p:cNvSpPr/>
          <p:nvPr/>
        </p:nvSpPr>
        <p:spPr>
          <a:xfrm>
            <a:off x="8686800" y="2715768"/>
            <a:ext cx="2926080" cy="640080"/>
          </a:xfrm>
          <a:prstGeom prst="rect">
            <a:avLst/>
          </a:prstGeom>
          <a:noFill/>
          <a:ln/>
        </p:spPr>
        <p:txBody>
          <a:bodyPr wrap="square" rtlCol="0" anchor="t"/>
          <a:lstStyle/>
          <a:p>
            <a:pPr rtl="1" algn="r" indent="0" marL="0">
              <a:buNone/>
            </a:pPr>
            <a:r>
              <a:rPr lang="en-US" sz="1200" dirty="0">
                <a:solidFill>
                  <a:srgbClr val="5B6472"/>
                </a:solidFill>
                <a:latin typeface="Calibri" pitchFamily="34" charset="0"/>
                <a:ea typeface="Calibri" pitchFamily="34" charset="-122"/>
                <a:cs typeface="Calibri" pitchFamily="34" charset="-120"/>
              </a:rPr>
              <a:t>تسعير يدوي فوري من مسؤول CRM Admin</a:t>
            </a:r>
            <a:endParaRPr lang="en-US" sz="1200" dirty="0"/>
          </a:p>
        </p:txBody>
      </p:sp>
      <p:sp>
        <p:nvSpPr>
          <p:cNvPr id="21" name="Shape 19"/>
          <p:cNvSpPr/>
          <p:nvPr/>
        </p:nvSpPr>
        <p:spPr>
          <a:xfrm>
            <a:off x="685800" y="3794760"/>
            <a:ext cx="5257800" cy="1783080"/>
          </a:xfrm>
          <a:prstGeom prst="roundRect">
            <a:avLst>
              <a:gd name="adj" fmla="val 4615"/>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22" name="Text 20"/>
          <p:cNvSpPr/>
          <p:nvPr/>
        </p:nvSpPr>
        <p:spPr>
          <a:xfrm>
            <a:off x="914400" y="3950208"/>
            <a:ext cx="4800600" cy="320040"/>
          </a:xfrm>
          <a:prstGeom prst="rect">
            <a:avLst/>
          </a:prstGeom>
          <a:noFill/>
          <a:ln/>
        </p:spPr>
        <p:txBody>
          <a:bodyPr wrap="square" rtlCol="0" anchor="ctr"/>
          <a:lstStyle/>
          <a:p>
            <a:pPr rtl="1" algn="r" indent="0" marL="0">
              <a:buNone/>
            </a:pPr>
            <a:r>
              <a:rPr lang="en-US" sz="1300" b="1" dirty="0">
                <a:solidFill>
                  <a:srgbClr val="D4AF37"/>
                </a:solidFill>
                <a:latin typeface="Calibri" pitchFamily="34" charset="0"/>
                <a:ea typeface="Calibri" pitchFamily="34" charset="-122"/>
                <a:cs typeface="Calibri" pitchFamily="34" charset="-120"/>
              </a:rPr>
              <a:t>السعر المقترَح</a:t>
            </a:r>
            <a:endParaRPr lang="en-US" sz="1300" dirty="0"/>
          </a:p>
        </p:txBody>
      </p:sp>
      <p:sp>
        <p:nvSpPr>
          <p:cNvPr id="23" name="Text 21"/>
          <p:cNvSpPr/>
          <p:nvPr/>
        </p:nvSpPr>
        <p:spPr>
          <a:xfrm>
            <a:off x="914400" y="4279392"/>
            <a:ext cx="4800600" cy="457200"/>
          </a:xfrm>
          <a:prstGeom prst="rect">
            <a:avLst/>
          </a:prstGeom>
          <a:noFill/>
          <a:ln/>
        </p:spPr>
        <p:txBody>
          <a:bodyPr wrap="square" rtlCol="0" anchor="ctr"/>
          <a:lstStyle/>
          <a:p>
            <a:pPr algn="l" indent="0" marL="0">
              <a:buNone/>
            </a:pPr>
            <a:r>
              <a:rPr lang="en-US" sz="1200" dirty="0">
                <a:solidFill>
                  <a:srgbClr val="FFFFFF"/>
                </a:solidFill>
                <a:latin typeface="Consolas" pitchFamily="34" charset="0"/>
                <a:ea typeface="Consolas" pitchFamily="34" charset="-122"/>
                <a:cs typeface="Consolas" pitchFamily="34" charset="-120"/>
              </a:rPr>
              <a:t>SuggestedPrice = ReferencePrice × (1 + MarketAdjustment% / 100)</a:t>
            </a:r>
            <a:endParaRPr lang="en-US" sz="1200" dirty="0"/>
          </a:p>
        </p:txBody>
      </p:sp>
      <p:sp>
        <p:nvSpPr>
          <p:cNvPr id="24" name="Shape 22"/>
          <p:cNvSpPr/>
          <p:nvPr/>
        </p:nvSpPr>
        <p:spPr>
          <a:xfrm>
            <a:off x="914400" y="4828032"/>
            <a:ext cx="4800600" cy="0"/>
          </a:xfrm>
          <a:prstGeom prst="line">
            <a:avLst/>
          </a:prstGeom>
          <a:noFill/>
          <a:ln w="12700">
            <a:solidFill>
              <a:srgbClr val="1F2E52"/>
            </a:solidFill>
            <a:prstDash val="solid"/>
          </a:ln>
        </p:spPr>
      </p:sp>
      <p:sp>
        <p:nvSpPr>
          <p:cNvPr id="25" name="Text 23"/>
          <p:cNvSpPr/>
          <p:nvPr/>
        </p:nvSpPr>
        <p:spPr>
          <a:xfrm>
            <a:off x="914400" y="4901184"/>
            <a:ext cx="4800600" cy="274320"/>
          </a:xfrm>
          <a:prstGeom prst="rect">
            <a:avLst/>
          </a:prstGeom>
          <a:noFill/>
          <a:ln/>
        </p:spPr>
        <p:txBody>
          <a:bodyPr wrap="square" rtlCol="0" anchor="ctr"/>
          <a:lstStyle/>
          <a:p>
            <a:pPr rtl="1" algn="r" indent="0" marL="0">
              <a:buNone/>
            </a:pPr>
            <a:r>
              <a:rPr lang="en-US" sz="1200" b="1" dirty="0">
                <a:solidFill>
                  <a:srgbClr val="D4AF37"/>
                </a:solidFill>
                <a:latin typeface="Calibri" pitchFamily="34" charset="0"/>
                <a:ea typeface="Calibri" pitchFamily="34" charset="-122"/>
                <a:cs typeface="Calibri" pitchFamily="34" charset="-120"/>
              </a:rPr>
              <a:t>سعر السائق (بعد خصم الهامش)</a:t>
            </a:r>
            <a:endParaRPr lang="en-US" sz="1200" dirty="0"/>
          </a:p>
        </p:txBody>
      </p:sp>
      <p:sp>
        <p:nvSpPr>
          <p:cNvPr id="26" name="Text 24"/>
          <p:cNvSpPr/>
          <p:nvPr/>
        </p:nvSpPr>
        <p:spPr>
          <a:xfrm>
            <a:off x="914400" y="5193792"/>
            <a:ext cx="4800600" cy="365760"/>
          </a:xfrm>
          <a:prstGeom prst="rect">
            <a:avLst/>
          </a:prstGeom>
          <a:noFill/>
          <a:ln/>
        </p:spPr>
        <p:txBody>
          <a:bodyPr wrap="square" rtlCol="0" anchor="ctr"/>
          <a:lstStyle/>
          <a:p>
            <a:pPr algn="l" indent="0" marL="0">
              <a:buNone/>
            </a:pPr>
            <a:r>
              <a:rPr lang="en-US" sz="1150" dirty="0">
                <a:solidFill>
                  <a:srgbClr val="FFFFFF"/>
                </a:solidFill>
                <a:latin typeface="Consolas" pitchFamily="34" charset="0"/>
                <a:ea typeface="Consolas" pitchFamily="34" charset="-122"/>
                <a:cs typeface="Consolas" pitchFamily="34" charset="-120"/>
              </a:rPr>
              <a:t>PriceToDriver = ClientPrice − (ClientPrice × Margin% / 100)</a:t>
            </a:r>
            <a:endParaRPr lang="en-US" sz="1150" dirty="0"/>
          </a:p>
        </p:txBody>
      </p:sp>
      <p:sp>
        <p:nvSpPr>
          <p:cNvPr id="27" name="Shape 25"/>
          <p:cNvSpPr/>
          <p:nvPr/>
        </p:nvSpPr>
        <p:spPr>
          <a:xfrm>
            <a:off x="6263640" y="3794760"/>
            <a:ext cx="5212080" cy="1783080"/>
          </a:xfrm>
          <a:prstGeom prst="roundRect">
            <a:avLst>
              <a:gd name="adj" fmla="val 4615"/>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8" name="Text 26"/>
          <p:cNvSpPr/>
          <p:nvPr/>
        </p:nvSpPr>
        <p:spPr>
          <a:xfrm>
            <a:off x="6492240" y="3950208"/>
            <a:ext cx="4754880" cy="320040"/>
          </a:xfrm>
          <a:prstGeom prst="rect">
            <a:avLst/>
          </a:prstGeom>
          <a:noFill/>
          <a:ln/>
        </p:spPr>
        <p:txBody>
          <a:bodyPr wrap="square" rtlCol="0" anchor="ctr"/>
          <a:lstStyle/>
          <a:p>
            <a:pPr rtl="1" algn="r" indent="0" marL="0">
              <a:buNone/>
            </a:pPr>
            <a:r>
              <a:rPr lang="en-US" sz="1300" b="1" dirty="0">
                <a:solidFill>
                  <a:srgbClr val="0B1F3A"/>
                </a:solidFill>
                <a:latin typeface="Calibri" pitchFamily="34" charset="0"/>
                <a:ea typeface="Calibri" pitchFamily="34" charset="-122"/>
                <a:cs typeface="Calibri" pitchFamily="34" charset="-120"/>
              </a:rPr>
              <a:t>الحجز المالي الذكي (Credit Reservation)</a:t>
            </a:r>
            <a:endParaRPr lang="en-US" sz="1300" dirty="0"/>
          </a:p>
        </p:txBody>
      </p:sp>
      <p:sp>
        <p:nvSpPr>
          <p:cNvPr id="29" name="Text 27"/>
          <p:cNvSpPr/>
          <p:nvPr/>
        </p:nvSpPr>
        <p:spPr>
          <a:xfrm>
            <a:off x="6492240" y="4315968"/>
            <a:ext cx="4754880" cy="1170432"/>
          </a:xfrm>
          <a:prstGeom prst="rect">
            <a:avLst/>
          </a:prstGeom>
          <a:noFill/>
          <a:ln/>
        </p:spPr>
        <p:txBody>
          <a:bodyPr wrap="square" rtlCol="0" anchor="t"/>
          <a:lstStyle/>
          <a:p>
            <a:pPr rtl="1" algn="r" indent="0" marL="0">
              <a:lnSpc>
                <a:spcPct val="125000"/>
              </a:lnSpc>
              <a:buNone/>
            </a:pPr>
            <a:r>
              <a:rPr lang="en-US" sz="1200" dirty="0">
                <a:solidFill>
                  <a:srgbClr val="14161A"/>
                </a:solidFill>
                <a:latin typeface="Calibri" pitchFamily="34" charset="0"/>
                <a:ea typeface="Calibri" pitchFamily="34" charset="-122"/>
                <a:cs typeface="Calibri" pitchFamily="34" charset="-120"/>
              </a:rPr>
              <a:t>يُحجَز سعر العرض من سقف رصيد الشركة فور تسعيره (بلا خصم فعلي)، ويتحوّل لخصم حقيقي في دفتر الأستاذ (Ledger) فقط عند قبول سائق للعرض. قفل صفوف قاعدة البيانات (Row Locking) يمنع تجاوز السقف الائتماني عند إنشاء عروض متزامنة.</a:t>
            </a:r>
            <a:endParaRPr lang="en-US" sz="1200" dirty="0"/>
          </a:p>
        </p:txBody>
      </p:sp>
      <p:sp>
        <p:nvSpPr>
          <p:cNvPr id="30" name="Text 28"/>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31" name="Text 29"/>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خوارزمية المطابقة — الخطوة 1</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الأهلية الصارمة (Hard Eligibility Gate)</a:t>
            </a:r>
            <a:endParaRPr lang="en-US" sz="3000" dirty="0"/>
          </a:p>
        </p:txBody>
      </p:sp>
      <p:sp>
        <p:nvSpPr>
          <p:cNvPr id="4" name="Shape 2"/>
          <p:cNvSpPr/>
          <p:nvPr/>
        </p:nvSpPr>
        <p:spPr>
          <a:xfrm>
            <a:off x="548640" y="1645920"/>
            <a:ext cx="11109960" cy="658368"/>
          </a:xfrm>
          <a:prstGeom prst="roundRect">
            <a:avLst>
              <a:gd name="adj" fmla="val 12500"/>
            </a:avLst>
          </a:prstGeom>
          <a:solidFill>
            <a:srgbClr val="FBEAEA"/>
          </a:solidFill>
          <a:ln w="12700">
            <a:solidFill>
              <a:srgbClr val="FBEAEA"/>
            </a:solidFill>
            <a:prstDash val="solid"/>
          </a:ln>
        </p:spPr>
      </p:sp>
      <p:sp>
        <p:nvSpPr>
          <p:cNvPr id="5" name="Text 3"/>
          <p:cNvSpPr/>
          <p:nvPr/>
        </p:nvSpPr>
        <p:spPr>
          <a:xfrm>
            <a:off x="822960" y="1645920"/>
            <a:ext cx="10561320" cy="658368"/>
          </a:xfrm>
          <a:prstGeom prst="rect">
            <a:avLst/>
          </a:prstGeom>
          <a:noFill/>
          <a:ln/>
        </p:spPr>
        <p:txBody>
          <a:bodyPr wrap="square" rtlCol="0" anchor="ctr"/>
          <a:lstStyle/>
          <a:p>
            <a:pPr rtl="1" algn="ctr" indent="0" marL="0">
              <a:buNone/>
            </a:pPr>
            <a:r>
              <a:rPr lang="en-US" sz="1350" b="1" dirty="0">
                <a:solidFill>
                  <a:srgbClr val="C0392B"/>
                </a:solidFill>
                <a:latin typeface="Calibri" pitchFamily="34" charset="0"/>
                <a:ea typeface="Calibri" pitchFamily="34" charset="-122"/>
                <a:cs typeface="Calibri" pitchFamily="34" charset="-120"/>
              </a:rPr>
              <a:t>السائق إما يحقق كل الشروط التالية معًا، أو يُستبعد كليًا من المطابقة — لا توجد درجة جزئية هنا إطلاقًا.</a:t>
            </a:r>
            <a:endParaRPr lang="en-US" sz="1350" dirty="0"/>
          </a:p>
        </p:txBody>
      </p:sp>
      <p:sp>
        <p:nvSpPr>
          <p:cNvPr id="6" name="Shape 4"/>
          <p:cNvSpPr/>
          <p:nvPr/>
        </p:nvSpPr>
        <p:spPr>
          <a:xfrm>
            <a:off x="548640" y="2514600"/>
            <a:ext cx="5440680" cy="1207008"/>
          </a:xfrm>
          <a:prstGeom prst="roundRect">
            <a:avLst>
              <a:gd name="adj" fmla="val 681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7" name="Shape 5"/>
          <p:cNvSpPr/>
          <p:nvPr/>
        </p:nvSpPr>
        <p:spPr>
          <a:xfrm>
            <a:off x="5422392" y="2697480"/>
            <a:ext cx="384048" cy="384048"/>
          </a:xfrm>
          <a:prstGeom prst="roundRect">
            <a:avLst>
              <a:gd name="adj" fmla="val 50000"/>
            </a:avLst>
          </a:prstGeom>
          <a:solidFill>
            <a:srgbClr val="E9F8EF"/>
          </a:solidFill>
          <a:ln/>
        </p:spPr>
      </p:sp>
      <p:sp>
        <p:nvSpPr>
          <p:cNvPr id="8" name="Text 6"/>
          <p:cNvSpPr/>
          <p:nvPr/>
        </p:nvSpPr>
        <p:spPr>
          <a:xfrm>
            <a:off x="5422392" y="2697480"/>
            <a:ext cx="384048" cy="384048"/>
          </a:xfrm>
          <a:prstGeom prst="rect">
            <a:avLst/>
          </a:prstGeom>
          <a:noFill/>
          <a:ln/>
        </p:spPr>
        <p:txBody>
          <a:bodyPr wrap="square"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777240" y="2651760"/>
            <a:ext cx="4526280" cy="365760"/>
          </a:xfrm>
          <a:prstGeom prst="rect">
            <a:avLst/>
          </a:prstGeom>
          <a:noFill/>
          <a:ln/>
        </p:spPr>
        <p:txBody>
          <a:bodyPr wrap="square" rtlCol="0" anchor="ctr"/>
          <a:lstStyle/>
          <a:p>
            <a:pPr rtl="1" algn="r" indent="0" marL="0">
              <a:buNone/>
            </a:pPr>
            <a:r>
              <a:rPr lang="en-US" sz="1400" b="1" dirty="0">
                <a:solidFill>
                  <a:srgbClr val="0B1F3A"/>
                </a:solidFill>
                <a:latin typeface="Calibri" pitchFamily="34" charset="0"/>
                <a:ea typeface="Calibri" pitchFamily="34" charset="-122"/>
                <a:cs typeface="Calibri" pitchFamily="34" charset="-120"/>
              </a:rPr>
              <a:t>الحالة والموافقة</a:t>
            </a:r>
            <a:endParaRPr lang="en-US" sz="1400" dirty="0"/>
          </a:p>
        </p:txBody>
      </p:sp>
      <p:sp>
        <p:nvSpPr>
          <p:cNvPr id="10" name="Text 8"/>
          <p:cNvSpPr/>
          <p:nvPr/>
        </p:nvSpPr>
        <p:spPr>
          <a:xfrm>
            <a:off x="777240" y="3044952"/>
            <a:ext cx="4983480" cy="594360"/>
          </a:xfrm>
          <a:prstGeom prst="rect">
            <a:avLst/>
          </a:prstGeom>
          <a:noFill/>
          <a:ln/>
        </p:spPr>
        <p:txBody>
          <a:bodyPr wrap="square" rtlCol="0" anchor="t"/>
          <a:lstStyle/>
          <a:p>
            <a:pPr rtl="1" algn="r" indent="0" marL="0">
              <a:buNone/>
            </a:pPr>
            <a:r>
              <a:rPr lang="en-US" sz="1150" dirty="0">
                <a:solidFill>
                  <a:srgbClr val="5B6472"/>
                </a:solidFill>
                <a:latin typeface="Calibri" pitchFamily="34" charset="0"/>
                <a:ea typeface="Calibri" pitchFamily="34" charset="-122"/>
                <a:cs typeface="Calibri" pitchFamily="34" charset="-120"/>
              </a:rPr>
              <a:t>status = available و approval_status = approved</a:t>
            </a:r>
            <a:endParaRPr lang="en-US" sz="1150" dirty="0"/>
          </a:p>
        </p:txBody>
      </p:sp>
      <p:sp>
        <p:nvSpPr>
          <p:cNvPr id="11" name="Shape 9"/>
          <p:cNvSpPr/>
          <p:nvPr/>
        </p:nvSpPr>
        <p:spPr>
          <a:xfrm>
            <a:off x="6190488" y="2514600"/>
            <a:ext cx="5440680" cy="1207008"/>
          </a:xfrm>
          <a:prstGeom prst="roundRect">
            <a:avLst>
              <a:gd name="adj" fmla="val 681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2" name="Shape 10"/>
          <p:cNvSpPr/>
          <p:nvPr/>
        </p:nvSpPr>
        <p:spPr>
          <a:xfrm>
            <a:off x="11064240" y="2697480"/>
            <a:ext cx="384048" cy="384048"/>
          </a:xfrm>
          <a:prstGeom prst="roundRect">
            <a:avLst>
              <a:gd name="adj" fmla="val 50000"/>
            </a:avLst>
          </a:prstGeom>
          <a:solidFill>
            <a:srgbClr val="E9F8EF"/>
          </a:solidFill>
          <a:ln/>
        </p:spPr>
      </p:sp>
      <p:sp>
        <p:nvSpPr>
          <p:cNvPr id="13" name="Text 11"/>
          <p:cNvSpPr/>
          <p:nvPr/>
        </p:nvSpPr>
        <p:spPr>
          <a:xfrm>
            <a:off x="11064240" y="2697480"/>
            <a:ext cx="384048" cy="384048"/>
          </a:xfrm>
          <a:prstGeom prst="rect">
            <a:avLst/>
          </a:prstGeom>
          <a:noFill/>
          <a:ln/>
        </p:spPr>
        <p:txBody>
          <a:bodyPr wrap="square"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6419088" y="2651760"/>
            <a:ext cx="4526280" cy="365760"/>
          </a:xfrm>
          <a:prstGeom prst="rect">
            <a:avLst/>
          </a:prstGeom>
          <a:noFill/>
          <a:ln/>
        </p:spPr>
        <p:txBody>
          <a:bodyPr wrap="square" rtlCol="0" anchor="ctr"/>
          <a:lstStyle/>
          <a:p>
            <a:pPr rtl="1" algn="r" indent="0" marL="0">
              <a:buNone/>
            </a:pPr>
            <a:r>
              <a:rPr lang="en-US" sz="1400" b="1" dirty="0">
                <a:solidFill>
                  <a:srgbClr val="0B1F3A"/>
                </a:solidFill>
                <a:latin typeface="Calibri" pitchFamily="34" charset="0"/>
                <a:ea typeface="Calibri" pitchFamily="34" charset="-122"/>
                <a:cs typeface="Calibri" pitchFamily="34" charset="-120"/>
              </a:rPr>
              <a:t>الامتثال (Compliance)</a:t>
            </a:r>
            <a:endParaRPr lang="en-US" sz="1400" dirty="0"/>
          </a:p>
        </p:txBody>
      </p:sp>
      <p:sp>
        <p:nvSpPr>
          <p:cNvPr id="15" name="Text 13"/>
          <p:cNvSpPr/>
          <p:nvPr/>
        </p:nvSpPr>
        <p:spPr>
          <a:xfrm>
            <a:off x="6419088" y="3044952"/>
            <a:ext cx="4983480" cy="594360"/>
          </a:xfrm>
          <a:prstGeom prst="rect">
            <a:avLst/>
          </a:prstGeom>
          <a:noFill/>
          <a:ln/>
        </p:spPr>
        <p:txBody>
          <a:bodyPr wrap="square" rtlCol="0" anchor="t"/>
          <a:lstStyle/>
          <a:p>
            <a:pPr rtl="1" algn="r" indent="0" marL="0">
              <a:buNone/>
            </a:pPr>
            <a:r>
              <a:rPr lang="en-US" sz="1150" dirty="0">
                <a:solidFill>
                  <a:srgbClr val="5B6472"/>
                </a:solidFill>
                <a:latin typeface="Calibri" pitchFamily="34" charset="0"/>
                <a:ea typeface="Calibri" pitchFamily="34" charset="-122"/>
                <a:cs typeface="Calibri" pitchFamily="34" charset="-120"/>
              </a:rPr>
              <a:t>active تُقبل دائمًا؛ expiring_soon ضمن نافذة سماح (3 أيام داخلي / 3 أشهر خارجي)</a:t>
            </a:r>
            <a:endParaRPr lang="en-US" sz="1150" dirty="0"/>
          </a:p>
        </p:txBody>
      </p:sp>
      <p:sp>
        <p:nvSpPr>
          <p:cNvPr id="16" name="Shape 14"/>
          <p:cNvSpPr/>
          <p:nvPr/>
        </p:nvSpPr>
        <p:spPr>
          <a:xfrm>
            <a:off x="548640" y="3922776"/>
            <a:ext cx="5440680" cy="1207008"/>
          </a:xfrm>
          <a:prstGeom prst="roundRect">
            <a:avLst>
              <a:gd name="adj" fmla="val 681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7" name="Shape 15"/>
          <p:cNvSpPr/>
          <p:nvPr/>
        </p:nvSpPr>
        <p:spPr>
          <a:xfrm>
            <a:off x="5422392" y="4105656"/>
            <a:ext cx="384048" cy="384048"/>
          </a:xfrm>
          <a:prstGeom prst="roundRect">
            <a:avLst>
              <a:gd name="adj" fmla="val 50000"/>
            </a:avLst>
          </a:prstGeom>
          <a:solidFill>
            <a:srgbClr val="E9F8EF"/>
          </a:solidFill>
          <a:ln/>
        </p:spPr>
      </p:sp>
      <p:sp>
        <p:nvSpPr>
          <p:cNvPr id="18" name="Text 16"/>
          <p:cNvSpPr/>
          <p:nvPr/>
        </p:nvSpPr>
        <p:spPr>
          <a:xfrm>
            <a:off x="5422392" y="4105656"/>
            <a:ext cx="384048" cy="384048"/>
          </a:xfrm>
          <a:prstGeom prst="rect">
            <a:avLst/>
          </a:prstGeom>
          <a:noFill/>
          <a:ln/>
        </p:spPr>
        <p:txBody>
          <a:bodyPr wrap="square"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777240" y="4059936"/>
            <a:ext cx="4526280" cy="365760"/>
          </a:xfrm>
          <a:prstGeom prst="rect">
            <a:avLst/>
          </a:prstGeom>
          <a:noFill/>
          <a:ln/>
        </p:spPr>
        <p:txBody>
          <a:bodyPr wrap="square" rtlCol="0" anchor="ctr"/>
          <a:lstStyle/>
          <a:p>
            <a:pPr rtl="1" algn="r" indent="0" marL="0">
              <a:buNone/>
            </a:pPr>
            <a:r>
              <a:rPr lang="en-US" sz="1400" b="1" dirty="0">
                <a:solidFill>
                  <a:srgbClr val="0B1F3A"/>
                </a:solidFill>
                <a:latin typeface="Calibri" pitchFamily="34" charset="0"/>
                <a:ea typeface="Calibri" pitchFamily="34" charset="-122"/>
                <a:cs typeface="Calibri" pitchFamily="34" charset="-120"/>
              </a:rPr>
              <a:t>لا التزامات مالية معلّقة</a:t>
            </a:r>
            <a:endParaRPr lang="en-US" sz="1400" dirty="0"/>
          </a:p>
        </p:txBody>
      </p:sp>
      <p:sp>
        <p:nvSpPr>
          <p:cNvPr id="20" name="Text 18"/>
          <p:cNvSpPr/>
          <p:nvPr/>
        </p:nvSpPr>
        <p:spPr>
          <a:xfrm>
            <a:off x="777240" y="4453128"/>
            <a:ext cx="4983480" cy="594360"/>
          </a:xfrm>
          <a:prstGeom prst="rect">
            <a:avLst/>
          </a:prstGeom>
          <a:noFill/>
          <a:ln/>
        </p:spPr>
        <p:txBody>
          <a:bodyPr wrap="square" rtlCol="0" anchor="t"/>
          <a:lstStyle/>
          <a:p>
            <a:pPr rtl="1" algn="r" indent="0" marL="0">
              <a:buNone/>
            </a:pPr>
            <a:r>
              <a:rPr lang="en-US" sz="1150" dirty="0">
                <a:solidFill>
                  <a:srgbClr val="5B6472"/>
                </a:solidFill>
                <a:latin typeface="Calibri" pitchFamily="34" charset="0"/>
                <a:ea typeface="Calibri" pitchFamily="34" charset="-122"/>
                <a:cs typeface="Calibri" pitchFamily="34" charset="-120"/>
              </a:rPr>
              <a:t>لا يوجد طلب سحب رصيد في حالة تحجب قبول عمل جديد</a:t>
            </a:r>
            <a:endParaRPr lang="en-US" sz="1150" dirty="0"/>
          </a:p>
        </p:txBody>
      </p:sp>
      <p:sp>
        <p:nvSpPr>
          <p:cNvPr id="21" name="Shape 19"/>
          <p:cNvSpPr/>
          <p:nvPr/>
        </p:nvSpPr>
        <p:spPr>
          <a:xfrm>
            <a:off x="6190488" y="3922776"/>
            <a:ext cx="5440680" cy="1207008"/>
          </a:xfrm>
          <a:prstGeom prst="roundRect">
            <a:avLst>
              <a:gd name="adj" fmla="val 681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2" name="Shape 20"/>
          <p:cNvSpPr/>
          <p:nvPr/>
        </p:nvSpPr>
        <p:spPr>
          <a:xfrm>
            <a:off x="11064240" y="4105656"/>
            <a:ext cx="384048" cy="384048"/>
          </a:xfrm>
          <a:prstGeom prst="roundRect">
            <a:avLst>
              <a:gd name="adj" fmla="val 50000"/>
            </a:avLst>
          </a:prstGeom>
          <a:solidFill>
            <a:srgbClr val="E9F8EF"/>
          </a:solidFill>
          <a:ln/>
        </p:spPr>
      </p:sp>
      <p:sp>
        <p:nvSpPr>
          <p:cNvPr id="23" name="Text 21"/>
          <p:cNvSpPr/>
          <p:nvPr/>
        </p:nvSpPr>
        <p:spPr>
          <a:xfrm>
            <a:off x="11064240" y="4105656"/>
            <a:ext cx="384048" cy="384048"/>
          </a:xfrm>
          <a:prstGeom prst="rect">
            <a:avLst/>
          </a:prstGeom>
          <a:noFill/>
          <a:ln/>
        </p:spPr>
        <p:txBody>
          <a:bodyPr wrap="square"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6419088" y="4059936"/>
            <a:ext cx="4526280" cy="365760"/>
          </a:xfrm>
          <a:prstGeom prst="rect">
            <a:avLst/>
          </a:prstGeom>
          <a:noFill/>
          <a:ln/>
        </p:spPr>
        <p:txBody>
          <a:bodyPr wrap="square" rtlCol="0" anchor="ctr"/>
          <a:lstStyle/>
          <a:p>
            <a:pPr rtl="1" algn="r" indent="0" marL="0">
              <a:buNone/>
            </a:pPr>
            <a:r>
              <a:rPr lang="en-US" sz="1400" b="1" dirty="0">
                <a:solidFill>
                  <a:srgbClr val="0B1F3A"/>
                </a:solidFill>
                <a:latin typeface="Calibri" pitchFamily="34" charset="0"/>
                <a:ea typeface="Calibri" pitchFamily="34" charset="-122"/>
                <a:cs typeface="Calibri" pitchFamily="34" charset="-120"/>
              </a:rPr>
              <a:t>اكتمال الوثائق الشخصية</a:t>
            </a:r>
            <a:endParaRPr lang="en-US" sz="1400" dirty="0"/>
          </a:p>
        </p:txBody>
      </p:sp>
      <p:sp>
        <p:nvSpPr>
          <p:cNvPr id="25" name="Text 23"/>
          <p:cNvSpPr/>
          <p:nvPr/>
        </p:nvSpPr>
        <p:spPr>
          <a:xfrm>
            <a:off x="6419088" y="4453128"/>
            <a:ext cx="4983480" cy="594360"/>
          </a:xfrm>
          <a:prstGeom prst="rect">
            <a:avLst/>
          </a:prstGeom>
          <a:noFill/>
          <a:ln/>
        </p:spPr>
        <p:txBody>
          <a:bodyPr wrap="square" rtlCol="0" anchor="t"/>
          <a:lstStyle/>
          <a:p>
            <a:pPr rtl="1" algn="r" indent="0" marL="0">
              <a:buNone/>
            </a:pPr>
            <a:r>
              <a:rPr lang="en-US" sz="1150" dirty="0">
                <a:solidFill>
                  <a:srgbClr val="5B6472"/>
                </a:solidFill>
                <a:latin typeface="Calibri" pitchFamily="34" charset="0"/>
                <a:ea typeface="Calibri" pitchFamily="34" charset="-122"/>
                <a:cs typeface="Calibri" pitchFamily="34" charset="-120"/>
              </a:rPr>
              <a:t>رخصة + جواز + إقامة سارية؛ الغياب = انتهاء الصلاحية</a:t>
            </a:r>
            <a:endParaRPr lang="en-US" sz="1150" dirty="0"/>
          </a:p>
        </p:txBody>
      </p:sp>
      <p:sp>
        <p:nvSpPr>
          <p:cNvPr id="26" name="Shape 24"/>
          <p:cNvSpPr/>
          <p:nvPr/>
        </p:nvSpPr>
        <p:spPr>
          <a:xfrm>
            <a:off x="548640" y="5330952"/>
            <a:ext cx="5440680" cy="1207008"/>
          </a:xfrm>
          <a:prstGeom prst="roundRect">
            <a:avLst>
              <a:gd name="adj" fmla="val 681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7" name="Shape 25"/>
          <p:cNvSpPr/>
          <p:nvPr/>
        </p:nvSpPr>
        <p:spPr>
          <a:xfrm>
            <a:off x="5422392" y="5513832"/>
            <a:ext cx="384048" cy="384048"/>
          </a:xfrm>
          <a:prstGeom prst="roundRect">
            <a:avLst>
              <a:gd name="adj" fmla="val 50000"/>
            </a:avLst>
          </a:prstGeom>
          <a:solidFill>
            <a:srgbClr val="E9F8EF"/>
          </a:solidFill>
          <a:ln/>
        </p:spPr>
      </p:sp>
      <p:sp>
        <p:nvSpPr>
          <p:cNvPr id="28" name="Text 26"/>
          <p:cNvSpPr/>
          <p:nvPr/>
        </p:nvSpPr>
        <p:spPr>
          <a:xfrm>
            <a:off x="5422392" y="5513832"/>
            <a:ext cx="384048" cy="384048"/>
          </a:xfrm>
          <a:prstGeom prst="rect">
            <a:avLst/>
          </a:prstGeom>
          <a:noFill/>
          <a:ln/>
        </p:spPr>
        <p:txBody>
          <a:bodyPr wrap="square"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777240" y="5468112"/>
            <a:ext cx="4526280" cy="365760"/>
          </a:xfrm>
          <a:prstGeom prst="rect">
            <a:avLst/>
          </a:prstGeom>
          <a:noFill/>
          <a:ln/>
        </p:spPr>
        <p:txBody>
          <a:bodyPr wrap="square" rtlCol="0" anchor="ctr"/>
          <a:lstStyle/>
          <a:p>
            <a:pPr rtl="1" algn="r" indent="0" marL="0">
              <a:buNone/>
            </a:pPr>
            <a:r>
              <a:rPr lang="en-US" sz="1400" b="1" dirty="0">
                <a:solidFill>
                  <a:srgbClr val="0B1F3A"/>
                </a:solidFill>
                <a:latin typeface="Calibri" pitchFamily="34" charset="0"/>
                <a:ea typeface="Calibri" pitchFamily="34" charset="-122"/>
                <a:cs typeface="Calibri" pitchFamily="34" charset="-120"/>
              </a:rPr>
              <a:t>تغطية خط السير</a:t>
            </a:r>
            <a:endParaRPr lang="en-US" sz="1400" dirty="0"/>
          </a:p>
        </p:txBody>
      </p:sp>
      <p:sp>
        <p:nvSpPr>
          <p:cNvPr id="30" name="Text 28"/>
          <p:cNvSpPr/>
          <p:nvPr/>
        </p:nvSpPr>
        <p:spPr>
          <a:xfrm>
            <a:off x="777240" y="5861304"/>
            <a:ext cx="4983480" cy="594360"/>
          </a:xfrm>
          <a:prstGeom prst="rect">
            <a:avLst/>
          </a:prstGeom>
          <a:noFill/>
          <a:ln/>
        </p:spPr>
        <p:txBody>
          <a:bodyPr wrap="square" rtlCol="0" anchor="t"/>
          <a:lstStyle/>
          <a:p>
            <a:pPr rtl="1" algn="r" indent="0" marL="0">
              <a:buNone/>
            </a:pPr>
            <a:r>
              <a:rPr lang="en-US" sz="1150" dirty="0">
                <a:solidFill>
                  <a:srgbClr val="5B6472"/>
                </a:solidFill>
                <a:latin typeface="Calibri" pitchFamily="34" charset="0"/>
                <a:ea typeface="Calibri" pitchFamily="34" charset="-122"/>
                <a:cs typeface="Calibri" pitchFamily="34" charset="-120"/>
              </a:rPr>
              <a:t>يجب تغطية دولتي الانطلاق والوصول معًا في وجهات السائق</a:t>
            </a:r>
            <a:endParaRPr lang="en-US" sz="1150" dirty="0"/>
          </a:p>
        </p:txBody>
      </p:sp>
      <p:sp>
        <p:nvSpPr>
          <p:cNvPr id="31" name="Shape 29"/>
          <p:cNvSpPr/>
          <p:nvPr/>
        </p:nvSpPr>
        <p:spPr>
          <a:xfrm>
            <a:off x="6190488" y="5330952"/>
            <a:ext cx="5440680" cy="1207008"/>
          </a:xfrm>
          <a:prstGeom prst="roundRect">
            <a:avLst>
              <a:gd name="adj" fmla="val 6818"/>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32" name="Shape 30"/>
          <p:cNvSpPr/>
          <p:nvPr/>
        </p:nvSpPr>
        <p:spPr>
          <a:xfrm>
            <a:off x="11064240" y="5513832"/>
            <a:ext cx="384048" cy="384048"/>
          </a:xfrm>
          <a:prstGeom prst="roundRect">
            <a:avLst>
              <a:gd name="adj" fmla="val 50000"/>
            </a:avLst>
          </a:prstGeom>
          <a:solidFill>
            <a:srgbClr val="E9F8EF"/>
          </a:solidFill>
          <a:ln/>
        </p:spPr>
      </p:sp>
      <p:sp>
        <p:nvSpPr>
          <p:cNvPr id="33" name="Text 31"/>
          <p:cNvSpPr/>
          <p:nvPr/>
        </p:nvSpPr>
        <p:spPr>
          <a:xfrm>
            <a:off x="11064240" y="5513832"/>
            <a:ext cx="384048" cy="384048"/>
          </a:xfrm>
          <a:prstGeom prst="rect">
            <a:avLst/>
          </a:prstGeom>
          <a:noFill/>
          <a:ln/>
        </p:spPr>
        <p:txBody>
          <a:bodyPr wrap="square" rtlCol="0" anchor="ctr"/>
          <a:lstStyle/>
          <a:p>
            <a:pPr algn="ctr" indent="0" marL="0">
              <a:buNone/>
            </a:pPr>
            <a:r>
              <a:rPr lang="en-US" sz="1600" b="1" dirty="0">
                <a:solidFill>
                  <a:srgbClr val="16A34A"/>
                </a:solidFill>
                <a:latin typeface="Calibri" pitchFamily="34" charset="0"/>
                <a:ea typeface="Calibri" pitchFamily="34" charset="-122"/>
                <a:cs typeface="Calibri" pitchFamily="34" charset="-120"/>
              </a:rPr>
              <a:t>✓</a:t>
            </a:r>
            <a:endParaRPr lang="en-US" sz="1600" dirty="0"/>
          </a:p>
        </p:txBody>
      </p:sp>
      <p:sp>
        <p:nvSpPr>
          <p:cNvPr id="34" name="Text 32"/>
          <p:cNvSpPr/>
          <p:nvPr/>
        </p:nvSpPr>
        <p:spPr>
          <a:xfrm>
            <a:off x="6419088" y="5468112"/>
            <a:ext cx="4526280" cy="365760"/>
          </a:xfrm>
          <a:prstGeom prst="rect">
            <a:avLst/>
          </a:prstGeom>
          <a:noFill/>
          <a:ln/>
        </p:spPr>
        <p:txBody>
          <a:bodyPr wrap="square" rtlCol="0" anchor="ctr"/>
          <a:lstStyle/>
          <a:p>
            <a:pPr rtl="1" algn="r" indent="0" marL="0">
              <a:buNone/>
            </a:pPr>
            <a:r>
              <a:rPr lang="en-US" sz="1400" b="1" dirty="0">
                <a:solidFill>
                  <a:srgbClr val="0B1F3A"/>
                </a:solidFill>
                <a:latin typeface="Calibri" pitchFamily="34" charset="0"/>
                <a:ea typeface="Calibri" pitchFamily="34" charset="-122"/>
                <a:cs typeface="Calibri" pitchFamily="34" charset="-120"/>
              </a:rPr>
              <a:t>ملاءمة الشاحنة المرتبطة</a:t>
            </a:r>
            <a:endParaRPr lang="en-US" sz="1400" dirty="0"/>
          </a:p>
        </p:txBody>
      </p:sp>
      <p:sp>
        <p:nvSpPr>
          <p:cNvPr id="35" name="Text 33"/>
          <p:cNvSpPr/>
          <p:nvPr/>
        </p:nvSpPr>
        <p:spPr>
          <a:xfrm>
            <a:off x="6419088" y="5861304"/>
            <a:ext cx="4983480" cy="594360"/>
          </a:xfrm>
          <a:prstGeom prst="rect">
            <a:avLst/>
          </a:prstGeom>
          <a:noFill/>
          <a:ln/>
        </p:spPr>
        <p:txBody>
          <a:bodyPr wrap="square" rtlCol="0" anchor="t"/>
          <a:lstStyle/>
          <a:p>
            <a:pPr rtl="1" algn="r" indent="0" marL="0">
              <a:buNone/>
            </a:pPr>
            <a:r>
              <a:rPr lang="en-US" sz="1150" dirty="0">
                <a:solidFill>
                  <a:srgbClr val="5B6472"/>
                </a:solidFill>
                <a:latin typeface="Calibri" pitchFamily="34" charset="0"/>
                <a:ea typeface="Calibri" pitchFamily="34" charset="-122"/>
                <a:cs typeface="Calibri" pitchFamily="34" charset="-120"/>
              </a:rPr>
              <a:t>فعّالة، مستندات سارية، النوع الصحيح، سعة حمولة كافية</a:t>
            </a:r>
            <a:endParaRPr lang="en-US" sz="1150" dirty="0"/>
          </a:p>
        </p:txBody>
      </p:sp>
      <p:sp>
        <p:nvSpPr>
          <p:cNvPr id="36" name="Text 34"/>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37" name="Text 35"/>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خوارزمية المطابقة — الخطوة 2</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الترتيب المرجّح (Weighted Scoring)</a:t>
            </a:r>
            <a:endParaRPr lang="en-US" sz="3000" dirty="0"/>
          </a:p>
        </p:txBody>
      </p:sp>
      <p:sp>
        <p:nvSpPr>
          <p:cNvPr id="4" name="Text 2"/>
          <p:cNvSpPr/>
          <p:nvPr/>
        </p:nvSpPr>
        <p:spPr>
          <a:xfrm>
            <a:off x="548640" y="1691640"/>
            <a:ext cx="5212080" cy="384048"/>
          </a:xfrm>
          <a:prstGeom prst="rect">
            <a:avLst/>
          </a:prstGeom>
          <a:noFill/>
          <a:ln/>
        </p:spPr>
        <p:txBody>
          <a:bodyPr wrap="square" rtlCol="0" anchor="ctr"/>
          <a:lstStyle/>
          <a:p>
            <a:pPr rtl="1" algn="r" indent="0" marL="0">
              <a:buNone/>
            </a:pPr>
            <a:r>
              <a:rPr lang="en-US" sz="1300" dirty="0">
                <a:solidFill>
                  <a:srgbClr val="14161A"/>
                </a:solidFill>
                <a:latin typeface="Calibri" pitchFamily="34" charset="0"/>
                <a:ea typeface="Calibri" pitchFamily="34" charset="-122"/>
                <a:cs typeface="Calibri" pitchFamily="34" charset="-120"/>
              </a:rPr>
              <a:t>القرب الجغرافي (Proximity)</a:t>
            </a:r>
            <a:endParaRPr lang="en-US" sz="1300" dirty="0"/>
          </a:p>
        </p:txBody>
      </p:sp>
      <p:sp>
        <p:nvSpPr>
          <p:cNvPr id="5" name="Shape 3"/>
          <p:cNvSpPr/>
          <p:nvPr/>
        </p:nvSpPr>
        <p:spPr>
          <a:xfrm>
            <a:off x="5989320" y="1737360"/>
            <a:ext cx="5669280" cy="292608"/>
          </a:xfrm>
          <a:prstGeom prst="roundRect">
            <a:avLst>
              <a:gd name="adj" fmla="val 15625"/>
            </a:avLst>
          </a:prstGeom>
          <a:solidFill>
            <a:srgbClr val="E9EBF0"/>
          </a:solidFill>
          <a:ln/>
        </p:spPr>
      </p:sp>
      <p:sp>
        <p:nvSpPr>
          <p:cNvPr id="6" name="Shape 4"/>
          <p:cNvSpPr/>
          <p:nvPr/>
        </p:nvSpPr>
        <p:spPr>
          <a:xfrm>
            <a:off x="5989320" y="1737360"/>
            <a:ext cx="5669280" cy="292608"/>
          </a:xfrm>
          <a:prstGeom prst="roundRect">
            <a:avLst>
              <a:gd name="adj" fmla="val 15625"/>
            </a:avLst>
          </a:prstGeom>
          <a:solidFill>
            <a:srgbClr val="16213E"/>
          </a:solidFill>
          <a:ln/>
        </p:spPr>
      </p:sp>
      <p:sp>
        <p:nvSpPr>
          <p:cNvPr id="7" name="Text 5"/>
          <p:cNvSpPr/>
          <p:nvPr/>
        </p:nvSpPr>
        <p:spPr>
          <a:xfrm>
            <a:off x="11768328" y="1673352"/>
            <a:ext cx="640080" cy="384048"/>
          </a:xfrm>
          <a:prstGeom prst="rect">
            <a:avLst/>
          </a:prstGeom>
          <a:noFill/>
          <a:ln/>
        </p:spPr>
        <p:txBody>
          <a:bodyPr wrap="square" rtlCol="0" anchor="ctr"/>
          <a:lstStyle/>
          <a:p>
            <a:pPr algn="l" indent="0" marL="0">
              <a:buNone/>
            </a:pPr>
            <a:r>
              <a:rPr lang="en-US" sz="1300" b="1" dirty="0">
                <a:solidFill>
                  <a:srgbClr val="0B1F3A"/>
                </a:solidFill>
                <a:latin typeface="Calibri" pitchFamily="34" charset="0"/>
                <a:ea typeface="Calibri" pitchFamily="34" charset="-122"/>
                <a:cs typeface="Calibri" pitchFamily="34" charset="-120"/>
              </a:rPr>
              <a:t>30%</a:t>
            </a:r>
            <a:endParaRPr lang="en-US" sz="1300" dirty="0"/>
          </a:p>
        </p:txBody>
      </p:sp>
      <p:sp>
        <p:nvSpPr>
          <p:cNvPr id="8" name="Text 6"/>
          <p:cNvSpPr/>
          <p:nvPr/>
        </p:nvSpPr>
        <p:spPr>
          <a:xfrm>
            <a:off x="548640" y="2221992"/>
            <a:ext cx="5212080" cy="384048"/>
          </a:xfrm>
          <a:prstGeom prst="rect">
            <a:avLst/>
          </a:prstGeom>
          <a:noFill/>
          <a:ln/>
        </p:spPr>
        <p:txBody>
          <a:bodyPr wrap="square" rtlCol="0" anchor="ctr"/>
          <a:lstStyle/>
          <a:p>
            <a:pPr rtl="1" algn="r" indent="0" marL="0">
              <a:buNone/>
            </a:pPr>
            <a:r>
              <a:rPr lang="en-US" sz="1300" dirty="0">
                <a:solidFill>
                  <a:srgbClr val="14161A"/>
                </a:solidFill>
                <a:latin typeface="Calibri" pitchFamily="34" charset="0"/>
                <a:ea typeface="Calibri" pitchFamily="34" charset="-122"/>
                <a:cs typeface="Calibri" pitchFamily="34" charset="-120"/>
              </a:rPr>
              <a:t>خبرة المسار/المنطقة (Route Experience)</a:t>
            </a:r>
            <a:endParaRPr lang="en-US" sz="1300" dirty="0"/>
          </a:p>
        </p:txBody>
      </p:sp>
      <p:sp>
        <p:nvSpPr>
          <p:cNvPr id="9" name="Shape 7"/>
          <p:cNvSpPr/>
          <p:nvPr/>
        </p:nvSpPr>
        <p:spPr>
          <a:xfrm>
            <a:off x="5989320" y="2267712"/>
            <a:ext cx="5669280" cy="292608"/>
          </a:xfrm>
          <a:prstGeom prst="roundRect">
            <a:avLst>
              <a:gd name="adj" fmla="val 15625"/>
            </a:avLst>
          </a:prstGeom>
          <a:solidFill>
            <a:srgbClr val="E9EBF0"/>
          </a:solidFill>
          <a:ln/>
        </p:spPr>
      </p:sp>
      <p:sp>
        <p:nvSpPr>
          <p:cNvPr id="10" name="Shape 8"/>
          <p:cNvSpPr/>
          <p:nvPr/>
        </p:nvSpPr>
        <p:spPr>
          <a:xfrm>
            <a:off x="5989320" y="2267712"/>
            <a:ext cx="4724400" cy="292608"/>
          </a:xfrm>
          <a:prstGeom prst="roundRect">
            <a:avLst>
              <a:gd name="adj" fmla="val 15625"/>
            </a:avLst>
          </a:prstGeom>
          <a:solidFill>
            <a:srgbClr val="B8962E"/>
          </a:solidFill>
          <a:ln/>
        </p:spPr>
      </p:sp>
      <p:sp>
        <p:nvSpPr>
          <p:cNvPr id="11" name="Text 9"/>
          <p:cNvSpPr/>
          <p:nvPr/>
        </p:nvSpPr>
        <p:spPr>
          <a:xfrm>
            <a:off x="11768328" y="2203704"/>
            <a:ext cx="640080" cy="384048"/>
          </a:xfrm>
          <a:prstGeom prst="rect">
            <a:avLst/>
          </a:prstGeom>
          <a:noFill/>
          <a:ln/>
        </p:spPr>
        <p:txBody>
          <a:bodyPr wrap="square" rtlCol="0" anchor="ctr"/>
          <a:lstStyle/>
          <a:p>
            <a:pPr algn="l" indent="0" marL="0">
              <a:buNone/>
            </a:pPr>
            <a:r>
              <a:rPr lang="en-US" sz="1300" b="1" dirty="0">
                <a:solidFill>
                  <a:srgbClr val="0B1F3A"/>
                </a:solidFill>
                <a:latin typeface="Calibri" pitchFamily="34" charset="0"/>
                <a:ea typeface="Calibri" pitchFamily="34" charset="-122"/>
                <a:cs typeface="Calibri" pitchFamily="34" charset="-120"/>
              </a:rPr>
              <a:t>25%</a:t>
            </a:r>
            <a:endParaRPr lang="en-US" sz="1300" dirty="0"/>
          </a:p>
        </p:txBody>
      </p:sp>
      <p:sp>
        <p:nvSpPr>
          <p:cNvPr id="12" name="Text 10"/>
          <p:cNvSpPr/>
          <p:nvPr/>
        </p:nvSpPr>
        <p:spPr>
          <a:xfrm>
            <a:off x="548640" y="2752344"/>
            <a:ext cx="5212080" cy="384048"/>
          </a:xfrm>
          <a:prstGeom prst="rect">
            <a:avLst/>
          </a:prstGeom>
          <a:noFill/>
          <a:ln/>
        </p:spPr>
        <p:txBody>
          <a:bodyPr wrap="square" rtlCol="0" anchor="ctr"/>
          <a:lstStyle/>
          <a:p>
            <a:pPr rtl="1" algn="r" indent="0" marL="0">
              <a:buNone/>
            </a:pPr>
            <a:r>
              <a:rPr lang="en-US" sz="1300" dirty="0">
                <a:solidFill>
                  <a:srgbClr val="14161A"/>
                </a:solidFill>
                <a:latin typeface="Calibri" pitchFamily="34" charset="0"/>
                <a:ea typeface="Calibri" pitchFamily="34" charset="-122"/>
                <a:cs typeface="Calibri" pitchFamily="34" charset="-120"/>
              </a:rPr>
              <a:t>التقييم (Rating)</a:t>
            </a:r>
            <a:endParaRPr lang="en-US" sz="1300" dirty="0"/>
          </a:p>
        </p:txBody>
      </p:sp>
      <p:sp>
        <p:nvSpPr>
          <p:cNvPr id="13" name="Shape 11"/>
          <p:cNvSpPr/>
          <p:nvPr/>
        </p:nvSpPr>
        <p:spPr>
          <a:xfrm>
            <a:off x="5989320" y="2798064"/>
            <a:ext cx="5669280" cy="292608"/>
          </a:xfrm>
          <a:prstGeom prst="roundRect">
            <a:avLst>
              <a:gd name="adj" fmla="val 15625"/>
            </a:avLst>
          </a:prstGeom>
          <a:solidFill>
            <a:srgbClr val="E9EBF0"/>
          </a:solidFill>
          <a:ln/>
        </p:spPr>
      </p:sp>
      <p:sp>
        <p:nvSpPr>
          <p:cNvPr id="14" name="Shape 12"/>
          <p:cNvSpPr/>
          <p:nvPr/>
        </p:nvSpPr>
        <p:spPr>
          <a:xfrm>
            <a:off x="5989320" y="2798064"/>
            <a:ext cx="3779520" cy="292608"/>
          </a:xfrm>
          <a:prstGeom prst="roundRect">
            <a:avLst>
              <a:gd name="adj" fmla="val 15625"/>
            </a:avLst>
          </a:prstGeom>
          <a:solidFill>
            <a:srgbClr val="1F2E52"/>
          </a:solidFill>
          <a:ln/>
        </p:spPr>
      </p:sp>
      <p:sp>
        <p:nvSpPr>
          <p:cNvPr id="15" name="Text 13"/>
          <p:cNvSpPr/>
          <p:nvPr/>
        </p:nvSpPr>
        <p:spPr>
          <a:xfrm>
            <a:off x="11768328" y="2734056"/>
            <a:ext cx="640080" cy="384048"/>
          </a:xfrm>
          <a:prstGeom prst="rect">
            <a:avLst/>
          </a:prstGeom>
          <a:noFill/>
          <a:ln/>
        </p:spPr>
        <p:txBody>
          <a:bodyPr wrap="square" rtlCol="0" anchor="ctr"/>
          <a:lstStyle/>
          <a:p>
            <a:pPr algn="l" indent="0" marL="0">
              <a:buNone/>
            </a:pPr>
            <a:r>
              <a:rPr lang="en-US" sz="1300" b="1" dirty="0">
                <a:solidFill>
                  <a:srgbClr val="0B1F3A"/>
                </a:solidFill>
                <a:latin typeface="Calibri" pitchFamily="34" charset="0"/>
                <a:ea typeface="Calibri" pitchFamily="34" charset="-122"/>
                <a:cs typeface="Calibri" pitchFamily="34" charset="-120"/>
              </a:rPr>
              <a:t>20%</a:t>
            </a:r>
            <a:endParaRPr lang="en-US" sz="1300" dirty="0"/>
          </a:p>
        </p:txBody>
      </p:sp>
      <p:sp>
        <p:nvSpPr>
          <p:cNvPr id="16" name="Text 14"/>
          <p:cNvSpPr/>
          <p:nvPr/>
        </p:nvSpPr>
        <p:spPr>
          <a:xfrm>
            <a:off x="548640" y="3282696"/>
            <a:ext cx="5212080" cy="384048"/>
          </a:xfrm>
          <a:prstGeom prst="rect">
            <a:avLst/>
          </a:prstGeom>
          <a:noFill/>
          <a:ln/>
        </p:spPr>
        <p:txBody>
          <a:bodyPr wrap="square" rtlCol="0" anchor="ctr"/>
          <a:lstStyle/>
          <a:p>
            <a:pPr rtl="1" algn="r" indent="0" marL="0">
              <a:buNone/>
            </a:pPr>
            <a:r>
              <a:rPr lang="en-US" sz="1300" dirty="0">
                <a:solidFill>
                  <a:srgbClr val="14161A"/>
                </a:solidFill>
                <a:latin typeface="Calibri" pitchFamily="34" charset="0"/>
                <a:ea typeface="Calibri" pitchFamily="34" charset="-122"/>
                <a:cs typeface="Calibri" pitchFamily="34" charset="-120"/>
              </a:rPr>
              <a:t>موثوقية القبول (Acceptance)</a:t>
            </a:r>
            <a:endParaRPr lang="en-US" sz="1300" dirty="0"/>
          </a:p>
        </p:txBody>
      </p:sp>
      <p:sp>
        <p:nvSpPr>
          <p:cNvPr id="17" name="Shape 15"/>
          <p:cNvSpPr/>
          <p:nvPr/>
        </p:nvSpPr>
        <p:spPr>
          <a:xfrm>
            <a:off x="5989320" y="3328416"/>
            <a:ext cx="5669280" cy="292608"/>
          </a:xfrm>
          <a:prstGeom prst="roundRect">
            <a:avLst>
              <a:gd name="adj" fmla="val 15625"/>
            </a:avLst>
          </a:prstGeom>
          <a:solidFill>
            <a:srgbClr val="E9EBF0"/>
          </a:solidFill>
          <a:ln/>
        </p:spPr>
      </p:sp>
      <p:sp>
        <p:nvSpPr>
          <p:cNvPr id="18" name="Shape 16"/>
          <p:cNvSpPr/>
          <p:nvPr/>
        </p:nvSpPr>
        <p:spPr>
          <a:xfrm>
            <a:off x="5989320" y="3328416"/>
            <a:ext cx="2834640" cy="292608"/>
          </a:xfrm>
          <a:prstGeom prst="roundRect">
            <a:avLst>
              <a:gd name="adj" fmla="val 15625"/>
            </a:avLst>
          </a:prstGeom>
          <a:solidFill>
            <a:srgbClr val="6B7A99"/>
          </a:solidFill>
          <a:ln/>
        </p:spPr>
      </p:sp>
      <p:sp>
        <p:nvSpPr>
          <p:cNvPr id="19" name="Text 17"/>
          <p:cNvSpPr/>
          <p:nvPr/>
        </p:nvSpPr>
        <p:spPr>
          <a:xfrm>
            <a:off x="11768328" y="3264408"/>
            <a:ext cx="640080" cy="384048"/>
          </a:xfrm>
          <a:prstGeom prst="rect">
            <a:avLst/>
          </a:prstGeom>
          <a:noFill/>
          <a:ln/>
        </p:spPr>
        <p:txBody>
          <a:bodyPr wrap="square" rtlCol="0" anchor="ctr"/>
          <a:lstStyle/>
          <a:p>
            <a:pPr algn="l" indent="0" marL="0">
              <a:buNone/>
            </a:pPr>
            <a:r>
              <a:rPr lang="en-US" sz="1300" b="1" dirty="0">
                <a:solidFill>
                  <a:srgbClr val="0B1F3A"/>
                </a:solidFill>
                <a:latin typeface="Calibri" pitchFamily="34" charset="0"/>
                <a:ea typeface="Calibri" pitchFamily="34" charset="-122"/>
                <a:cs typeface="Calibri" pitchFamily="34" charset="-120"/>
              </a:rPr>
              <a:t>15%</a:t>
            </a:r>
            <a:endParaRPr lang="en-US" sz="1300" dirty="0"/>
          </a:p>
        </p:txBody>
      </p:sp>
      <p:sp>
        <p:nvSpPr>
          <p:cNvPr id="20" name="Text 18"/>
          <p:cNvSpPr/>
          <p:nvPr/>
        </p:nvSpPr>
        <p:spPr>
          <a:xfrm>
            <a:off x="548640" y="3813048"/>
            <a:ext cx="5212080" cy="384048"/>
          </a:xfrm>
          <a:prstGeom prst="rect">
            <a:avLst/>
          </a:prstGeom>
          <a:noFill/>
          <a:ln/>
        </p:spPr>
        <p:txBody>
          <a:bodyPr wrap="square" rtlCol="0" anchor="ctr"/>
          <a:lstStyle/>
          <a:p>
            <a:pPr rtl="1" algn="r" indent="0" marL="0">
              <a:buNone/>
            </a:pPr>
            <a:r>
              <a:rPr lang="en-US" sz="1300" dirty="0">
                <a:solidFill>
                  <a:srgbClr val="14161A"/>
                </a:solidFill>
                <a:latin typeface="Calibri" pitchFamily="34" charset="0"/>
                <a:ea typeface="Calibri" pitchFamily="34" charset="-122"/>
                <a:cs typeface="Calibri" pitchFamily="34" charset="-120"/>
              </a:rPr>
              <a:t>العدالة / آخر مطابقة (Fairness)</a:t>
            </a:r>
            <a:endParaRPr lang="en-US" sz="1300" dirty="0"/>
          </a:p>
        </p:txBody>
      </p:sp>
      <p:sp>
        <p:nvSpPr>
          <p:cNvPr id="21" name="Shape 19"/>
          <p:cNvSpPr/>
          <p:nvPr/>
        </p:nvSpPr>
        <p:spPr>
          <a:xfrm>
            <a:off x="5989320" y="3858768"/>
            <a:ext cx="5669280" cy="292608"/>
          </a:xfrm>
          <a:prstGeom prst="roundRect">
            <a:avLst>
              <a:gd name="adj" fmla="val 15625"/>
            </a:avLst>
          </a:prstGeom>
          <a:solidFill>
            <a:srgbClr val="E9EBF0"/>
          </a:solidFill>
          <a:ln/>
        </p:spPr>
      </p:sp>
      <p:sp>
        <p:nvSpPr>
          <p:cNvPr id="22" name="Shape 20"/>
          <p:cNvSpPr/>
          <p:nvPr/>
        </p:nvSpPr>
        <p:spPr>
          <a:xfrm>
            <a:off x="5989320" y="3858768"/>
            <a:ext cx="1889760" cy="292608"/>
          </a:xfrm>
          <a:prstGeom prst="roundRect">
            <a:avLst>
              <a:gd name="adj" fmla="val 15625"/>
            </a:avLst>
          </a:prstGeom>
          <a:solidFill>
            <a:srgbClr val="9AA5BD"/>
          </a:solidFill>
          <a:ln/>
        </p:spPr>
      </p:sp>
      <p:sp>
        <p:nvSpPr>
          <p:cNvPr id="23" name="Text 21"/>
          <p:cNvSpPr/>
          <p:nvPr/>
        </p:nvSpPr>
        <p:spPr>
          <a:xfrm>
            <a:off x="11768328" y="3794760"/>
            <a:ext cx="640080" cy="384048"/>
          </a:xfrm>
          <a:prstGeom prst="rect">
            <a:avLst/>
          </a:prstGeom>
          <a:noFill/>
          <a:ln/>
        </p:spPr>
        <p:txBody>
          <a:bodyPr wrap="square" rtlCol="0" anchor="ctr"/>
          <a:lstStyle/>
          <a:p>
            <a:pPr algn="l" indent="0" marL="0">
              <a:buNone/>
            </a:pPr>
            <a:r>
              <a:rPr lang="en-US" sz="1300" b="1" dirty="0">
                <a:solidFill>
                  <a:srgbClr val="0B1F3A"/>
                </a:solidFill>
                <a:latin typeface="Calibri" pitchFamily="34" charset="0"/>
                <a:ea typeface="Calibri" pitchFamily="34" charset="-122"/>
                <a:cs typeface="Calibri" pitchFamily="34" charset="-120"/>
              </a:rPr>
              <a:t>10%</a:t>
            </a:r>
            <a:endParaRPr lang="en-US" sz="1300" dirty="0"/>
          </a:p>
        </p:txBody>
      </p:sp>
      <p:sp>
        <p:nvSpPr>
          <p:cNvPr id="24" name="Shape 22"/>
          <p:cNvSpPr/>
          <p:nvPr/>
        </p:nvSpPr>
        <p:spPr>
          <a:xfrm>
            <a:off x="548640" y="4434840"/>
            <a:ext cx="11109960" cy="1051560"/>
          </a:xfrm>
          <a:prstGeom prst="roundRect">
            <a:avLst>
              <a:gd name="adj" fmla="val 7826"/>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25" name="Text 23"/>
          <p:cNvSpPr/>
          <p:nvPr/>
        </p:nvSpPr>
        <p:spPr>
          <a:xfrm>
            <a:off x="822960" y="4434840"/>
            <a:ext cx="10561320" cy="1051560"/>
          </a:xfrm>
          <a:prstGeom prst="rect">
            <a:avLst/>
          </a:prstGeom>
          <a:noFill/>
          <a:ln/>
        </p:spPr>
        <p:txBody>
          <a:bodyPr wrap="square" rtlCol="0" anchor="ctr"/>
          <a:lstStyle/>
          <a:p>
            <a:pPr algn="ctr" indent="0" marL="0">
              <a:buNone/>
            </a:pPr>
            <a:r>
              <a:rPr lang="en-US" sz="1400" b="1" dirty="0">
                <a:solidFill>
                  <a:srgbClr val="D4AF37"/>
                </a:solidFill>
                <a:latin typeface="Consolas" pitchFamily="34" charset="0"/>
                <a:ea typeface="Consolas" pitchFamily="34" charset="-122"/>
                <a:cs typeface="Consolas" pitchFamily="34" charset="-120"/>
              </a:rPr>
              <a:t>Score = 0.30×Proximity + 0.25×RouteExperience + 0.20×Rating + 0.15×Acceptance + 0.10×Fairness</a:t>
            </a:r>
            <a:endParaRPr lang="en-US" sz="1400" dirty="0"/>
          </a:p>
        </p:txBody>
      </p:sp>
      <p:sp>
        <p:nvSpPr>
          <p:cNvPr id="26" name="Shape 24"/>
          <p:cNvSpPr/>
          <p:nvPr/>
        </p:nvSpPr>
        <p:spPr>
          <a:xfrm>
            <a:off x="548640" y="5623560"/>
            <a:ext cx="11109960" cy="685800"/>
          </a:xfrm>
          <a:prstGeom prst="roundRect">
            <a:avLst>
              <a:gd name="adj" fmla="val 12000"/>
            </a:avLst>
          </a:prstGeom>
          <a:solidFill>
            <a:srgbClr val="EAF1FE"/>
          </a:solidFill>
          <a:ln w="12700">
            <a:solidFill>
              <a:srgbClr val="EAF1FE"/>
            </a:solidFill>
            <a:prstDash val="solid"/>
          </a:ln>
        </p:spPr>
      </p:sp>
      <p:sp>
        <p:nvSpPr>
          <p:cNvPr id="27" name="Text 25"/>
          <p:cNvSpPr/>
          <p:nvPr/>
        </p:nvSpPr>
        <p:spPr>
          <a:xfrm>
            <a:off x="822960" y="5623560"/>
            <a:ext cx="10561320" cy="685800"/>
          </a:xfrm>
          <a:prstGeom prst="rect">
            <a:avLst/>
          </a:prstGeom>
          <a:noFill/>
          <a:ln/>
        </p:spPr>
        <p:txBody>
          <a:bodyPr wrap="square" rtlCol="0" anchor="ctr"/>
          <a:lstStyle/>
          <a:p>
            <a:pPr rtl="1" algn="ctr" indent="0" marL="0">
              <a:buNone/>
            </a:pPr>
            <a:r>
              <a:rPr lang="en-US" sz="1200" b="1" dirty="0">
                <a:solidFill>
                  <a:srgbClr val="2563EB"/>
                </a:solidFill>
                <a:latin typeface="Calibri" pitchFamily="34" charset="0"/>
                <a:ea typeface="Calibri" pitchFamily="34" charset="-122"/>
                <a:cs typeface="Calibri" pitchFamily="34" charset="-120"/>
              </a:rPr>
              <a:t>تُرسَل دفعات من أفضل 5 سائقين، بمهلة 5 دقائق لكل دفعة — عند الاستنفاد بلا قبول تُصعَّد الشحنة لتدخّل يدوي من Super Admin.</a:t>
            </a:r>
            <a:endParaRPr lang="en-US" sz="1200" dirty="0"/>
          </a:p>
        </p:txBody>
      </p:sp>
      <p:sp>
        <p:nvSpPr>
          <p:cNvPr id="28" name="Text 26"/>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9" name="Text 27"/>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دورة حياة الشحنة</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من إنشاء العرض حتى تأكيد الاستلام والدفع</a:t>
            </a:r>
            <a:endParaRPr lang="en-US" sz="3000" dirty="0"/>
          </a:p>
        </p:txBody>
      </p:sp>
      <p:sp>
        <p:nvSpPr>
          <p:cNvPr id="4" name="Shape 2"/>
          <p:cNvSpPr/>
          <p:nvPr/>
        </p:nvSpPr>
        <p:spPr>
          <a:xfrm>
            <a:off x="548640" y="2286000"/>
            <a:ext cx="1714500" cy="2194560"/>
          </a:xfrm>
          <a:prstGeom prst="roundRect">
            <a:avLst>
              <a:gd name="adj" fmla="val 4800"/>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5" name="Shape 3"/>
          <p:cNvSpPr/>
          <p:nvPr/>
        </p:nvSpPr>
        <p:spPr>
          <a:xfrm>
            <a:off x="1186434" y="1783080"/>
            <a:ext cx="438912" cy="438912"/>
          </a:xfrm>
          <a:prstGeom prst="ellipse">
            <a:avLst/>
          </a:prstGeom>
          <a:solidFill>
            <a:srgbClr val="16213E"/>
          </a:solidFill>
          <a:ln/>
        </p:spPr>
      </p:sp>
      <p:sp>
        <p:nvSpPr>
          <p:cNvPr id="6" name="Text 4"/>
          <p:cNvSpPr/>
          <p:nvPr/>
        </p:nvSpPr>
        <p:spPr>
          <a:xfrm>
            <a:off x="1186434" y="1783080"/>
            <a:ext cx="438912" cy="438912"/>
          </a:xfrm>
          <a:prstGeom prst="rect">
            <a:avLst/>
          </a:prstGeom>
          <a:noFill/>
          <a:ln/>
        </p:spPr>
        <p:txBody>
          <a:bodyPr wrap="square"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621792" y="2487168"/>
            <a:ext cx="1568196" cy="502920"/>
          </a:xfrm>
          <a:prstGeom prst="rect">
            <a:avLst/>
          </a:prstGeom>
          <a:noFill/>
          <a:ln/>
        </p:spPr>
        <p:txBody>
          <a:bodyPr wrap="square" rtlCol="0" anchor="ctr"/>
          <a:lstStyle/>
          <a:p>
            <a:pPr rtl="1" algn="ctr" indent="0" marL="0">
              <a:buNone/>
            </a:pPr>
            <a:r>
              <a:rPr lang="en-US" sz="1300" b="1" dirty="0">
                <a:solidFill>
                  <a:srgbClr val="0B1F3A"/>
                </a:solidFill>
                <a:latin typeface="Calibri" pitchFamily="34" charset="0"/>
                <a:ea typeface="Calibri" pitchFamily="34" charset="-122"/>
                <a:cs typeface="Calibri" pitchFamily="34" charset="-120"/>
              </a:rPr>
              <a:t>إنشاء العرض</a:t>
            </a:r>
            <a:endParaRPr lang="en-US" sz="1300" dirty="0"/>
          </a:p>
        </p:txBody>
      </p:sp>
      <p:sp>
        <p:nvSpPr>
          <p:cNvPr id="8" name="Text 6"/>
          <p:cNvSpPr/>
          <p:nvPr/>
        </p:nvSpPr>
        <p:spPr>
          <a:xfrm>
            <a:off x="621792" y="3063240"/>
            <a:ext cx="1568196" cy="1188720"/>
          </a:xfrm>
          <a:prstGeom prst="rect">
            <a:avLst/>
          </a:prstGeom>
          <a:noFill/>
          <a:ln/>
        </p:spPr>
        <p:txBody>
          <a:bodyPr wrap="square" rtlCol="0" anchor="t"/>
          <a:lstStyle/>
          <a:p>
            <a:pPr rtl="1" algn="ctr" indent="0" marL="0">
              <a:buNone/>
            </a:pPr>
            <a:r>
              <a:rPr lang="en-US" sz="1050" dirty="0">
                <a:solidFill>
                  <a:srgbClr val="5B6472"/>
                </a:solidFill>
                <a:latin typeface="Calibri" pitchFamily="34" charset="0"/>
                <a:ea typeface="Calibri" pitchFamily="34" charset="-122"/>
                <a:cs typeface="Calibri" pitchFamily="34" charset="-120"/>
              </a:rPr>
              <a:t>تسعير تلقائي</a:t>
            </a:r>
            <a:endParaRPr lang="en-US" sz="1050" dirty="0"/>
          </a:p>
          <a:p>
            <a:pPr rtl="1" algn="ctr" indent="0" marL="0">
              <a:buNone/>
            </a:pPr>
            <a:r>
              <a:rPr lang="en-US" sz="1050" dirty="0">
                <a:solidFill>
                  <a:srgbClr val="5B6472"/>
                </a:solidFill>
                <a:latin typeface="Calibri" pitchFamily="34" charset="0"/>
                <a:ea typeface="Calibri" pitchFamily="34" charset="-122"/>
                <a:cs typeface="Calibri" pitchFamily="34" charset="-120"/>
              </a:rPr>
              <a:t>+ حجز ائتماني</a:t>
            </a:r>
            <a:endParaRPr lang="en-US" sz="1050" dirty="0"/>
          </a:p>
        </p:txBody>
      </p:sp>
      <p:sp>
        <p:nvSpPr>
          <p:cNvPr id="9" name="Text 7"/>
          <p:cNvSpPr/>
          <p:nvPr/>
        </p:nvSpPr>
        <p:spPr>
          <a:xfrm>
            <a:off x="365760" y="3246120"/>
            <a:ext cx="192024" cy="274320"/>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427732" y="2286000"/>
            <a:ext cx="1714500" cy="2194560"/>
          </a:xfrm>
          <a:prstGeom prst="roundRect">
            <a:avLst>
              <a:gd name="adj" fmla="val 4800"/>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1" name="Shape 9"/>
          <p:cNvSpPr/>
          <p:nvPr/>
        </p:nvSpPr>
        <p:spPr>
          <a:xfrm>
            <a:off x="3065526" y="1783080"/>
            <a:ext cx="438912" cy="438912"/>
          </a:xfrm>
          <a:prstGeom prst="ellipse">
            <a:avLst/>
          </a:prstGeom>
          <a:solidFill>
            <a:srgbClr val="16213E"/>
          </a:solidFill>
          <a:ln/>
        </p:spPr>
      </p:sp>
      <p:sp>
        <p:nvSpPr>
          <p:cNvPr id="12" name="Text 10"/>
          <p:cNvSpPr/>
          <p:nvPr/>
        </p:nvSpPr>
        <p:spPr>
          <a:xfrm>
            <a:off x="3065526" y="1783080"/>
            <a:ext cx="438912" cy="438912"/>
          </a:xfrm>
          <a:prstGeom prst="rect">
            <a:avLst/>
          </a:prstGeom>
          <a:noFill/>
          <a:ln/>
        </p:spPr>
        <p:txBody>
          <a:bodyPr wrap="square"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2500884" y="2487168"/>
            <a:ext cx="1568196" cy="502920"/>
          </a:xfrm>
          <a:prstGeom prst="rect">
            <a:avLst/>
          </a:prstGeom>
          <a:noFill/>
          <a:ln/>
        </p:spPr>
        <p:txBody>
          <a:bodyPr wrap="square" rtlCol="0" anchor="ctr"/>
          <a:lstStyle/>
          <a:p>
            <a:pPr rtl="1" algn="ctr" indent="0" marL="0">
              <a:buNone/>
            </a:pPr>
            <a:r>
              <a:rPr lang="en-US" sz="1300" b="1" dirty="0">
                <a:solidFill>
                  <a:srgbClr val="0B1F3A"/>
                </a:solidFill>
                <a:latin typeface="Calibri" pitchFamily="34" charset="0"/>
                <a:ea typeface="Calibri" pitchFamily="34" charset="-122"/>
                <a:cs typeface="Calibri" pitchFamily="34" charset="-120"/>
              </a:rPr>
              <a:t>المطابقة</a:t>
            </a:r>
            <a:endParaRPr lang="en-US" sz="1300" dirty="0"/>
          </a:p>
        </p:txBody>
      </p:sp>
      <p:sp>
        <p:nvSpPr>
          <p:cNvPr id="14" name="Text 12"/>
          <p:cNvSpPr/>
          <p:nvPr/>
        </p:nvSpPr>
        <p:spPr>
          <a:xfrm>
            <a:off x="2500884" y="3063240"/>
            <a:ext cx="1568196" cy="1188720"/>
          </a:xfrm>
          <a:prstGeom prst="rect">
            <a:avLst/>
          </a:prstGeom>
          <a:noFill/>
          <a:ln/>
        </p:spPr>
        <p:txBody>
          <a:bodyPr wrap="square" rtlCol="0" anchor="t"/>
          <a:lstStyle/>
          <a:p>
            <a:pPr rtl="1" algn="ctr" indent="0" marL="0">
              <a:buNone/>
            </a:pPr>
            <a:r>
              <a:rPr lang="en-US" sz="1050" dirty="0">
                <a:solidFill>
                  <a:srgbClr val="5B6472"/>
                </a:solidFill>
                <a:latin typeface="Calibri" pitchFamily="34" charset="0"/>
                <a:ea typeface="Calibri" pitchFamily="34" charset="-122"/>
                <a:cs typeface="Calibri" pitchFamily="34" charset="-120"/>
              </a:rPr>
              <a:t>إرسال لأفضل</a:t>
            </a:r>
            <a:endParaRPr lang="en-US" sz="1050" dirty="0"/>
          </a:p>
          <a:p>
            <a:pPr rtl="1" algn="ctr" indent="0" marL="0">
              <a:buNone/>
            </a:pPr>
            <a:r>
              <a:rPr lang="en-US" sz="1050" dirty="0">
                <a:solidFill>
                  <a:srgbClr val="5B6472"/>
                </a:solidFill>
                <a:latin typeface="Calibri" pitchFamily="34" charset="0"/>
                <a:ea typeface="Calibri" pitchFamily="34" charset="-122"/>
                <a:cs typeface="Calibri" pitchFamily="34" charset="-120"/>
              </a:rPr>
              <a:t>السائقين</a:t>
            </a:r>
            <a:endParaRPr lang="en-US" sz="1050" dirty="0"/>
          </a:p>
        </p:txBody>
      </p:sp>
      <p:sp>
        <p:nvSpPr>
          <p:cNvPr id="15" name="Text 13"/>
          <p:cNvSpPr/>
          <p:nvPr/>
        </p:nvSpPr>
        <p:spPr>
          <a:xfrm>
            <a:off x="2244852" y="3246120"/>
            <a:ext cx="192024" cy="274320"/>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4306824" y="2286000"/>
            <a:ext cx="1714500" cy="2194560"/>
          </a:xfrm>
          <a:prstGeom prst="roundRect">
            <a:avLst>
              <a:gd name="adj" fmla="val 4800"/>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7" name="Shape 15"/>
          <p:cNvSpPr/>
          <p:nvPr/>
        </p:nvSpPr>
        <p:spPr>
          <a:xfrm>
            <a:off x="4944618" y="1783080"/>
            <a:ext cx="438912" cy="438912"/>
          </a:xfrm>
          <a:prstGeom prst="ellipse">
            <a:avLst/>
          </a:prstGeom>
          <a:solidFill>
            <a:srgbClr val="16213E"/>
          </a:solidFill>
          <a:ln/>
        </p:spPr>
      </p:sp>
      <p:sp>
        <p:nvSpPr>
          <p:cNvPr id="18" name="Text 16"/>
          <p:cNvSpPr/>
          <p:nvPr/>
        </p:nvSpPr>
        <p:spPr>
          <a:xfrm>
            <a:off x="4944618" y="1783080"/>
            <a:ext cx="438912" cy="438912"/>
          </a:xfrm>
          <a:prstGeom prst="rect">
            <a:avLst/>
          </a:prstGeom>
          <a:noFill/>
          <a:ln/>
        </p:spPr>
        <p:txBody>
          <a:bodyPr wrap="square"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4379976" y="2487168"/>
            <a:ext cx="1568196" cy="502920"/>
          </a:xfrm>
          <a:prstGeom prst="rect">
            <a:avLst/>
          </a:prstGeom>
          <a:noFill/>
          <a:ln/>
        </p:spPr>
        <p:txBody>
          <a:bodyPr wrap="square" rtlCol="0" anchor="ctr"/>
          <a:lstStyle/>
          <a:p>
            <a:pPr rtl="1" algn="ctr" indent="0" marL="0">
              <a:buNone/>
            </a:pPr>
            <a:r>
              <a:rPr lang="en-US" sz="1300" b="1" dirty="0">
                <a:solidFill>
                  <a:srgbClr val="0B1F3A"/>
                </a:solidFill>
                <a:latin typeface="Calibri" pitchFamily="34" charset="0"/>
                <a:ea typeface="Calibri" pitchFamily="34" charset="-122"/>
                <a:cs typeface="Calibri" pitchFamily="34" charset="-120"/>
              </a:rPr>
              <a:t>القبول</a:t>
            </a:r>
            <a:endParaRPr lang="en-US" sz="1300" dirty="0"/>
          </a:p>
        </p:txBody>
      </p:sp>
      <p:sp>
        <p:nvSpPr>
          <p:cNvPr id="20" name="Text 18"/>
          <p:cNvSpPr/>
          <p:nvPr/>
        </p:nvSpPr>
        <p:spPr>
          <a:xfrm>
            <a:off x="4379976" y="3063240"/>
            <a:ext cx="1568196" cy="1188720"/>
          </a:xfrm>
          <a:prstGeom prst="rect">
            <a:avLst/>
          </a:prstGeom>
          <a:noFill/>
          <a:ln/>
        </p:spPr>
        <p:txBody>
          <a:bodyPr wrap="square" rtlCol="0" anchor="t"/>
          <a:lstStyle/>
          <a:p>
            <a:pPr rtl="1" algn="ctr" indent="0" marL="0">
              <a:buNone/>
            </a:pPr>
            <a:r>
              <a:rPr lang="en-US" sz="1050" dirty="0">
                <a:solidFill>
                  <a:srgbClr val="5B6472"/>
                </a:solidFill>
                <a:latin typeface="Calibri" pitchFamily="34" charset="0"/>
                <a:ea typeface="Calibri" pitchFamily="34" charset="-122"/>
                <a:cs typeface="Calibri" pitchFamily="34" charset="-120"/>
              </a:rPr>
              <a:t>تحويل العرض</a:t>
            </a:r>
            <a:endParaRPr lang="en-US" sz="1050" dirty="0"/>
          </a:p>
          <a:p>
            <a:pPr rtl="1" algn="ctr" indent="0" marL="0">
              <a:buNone/>
            </a:pPr>
            <a:r>
              <a:rPr lang="en-US" sz="1050" dirty="0">
                <a:solidFill>
                  <a:srgbClr val="5B6472"/>
                </a:solidFill>
                <a:latin typeface="Calibri" pitchFamily="34" charset="0"/>
                <a:ea typeface="Calibri" pitchFamily="34" charset="-122"/>
                <a:cs typeface="Calibri" pitchFamily="34" charset="-120"/>
              </a:rPr>
              <a:t>لشحنة فعلية</a:t>
            </a:r>
            <a:endParaRPr lang="en-US" sz="1050" dirty="0"/>
          </a:p>
        </p:txBody>
      </p:sp>
      <p:sp>
        <p:nvSpPr>
          <p:cNvPr id="21" name="Text 19"/>
          <p:cNvSpPr/>
          <p:nvPr/>
        </p:nvSpPr>
        <p:spPr>
          <a:xfrm>
            <a:off x="4123944" y="3246120"/>
            <a:ext cx="192024" cy="274320"/>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6185916" y="2286000"/>
            <a:ext cx="1714500" cy="2194560"/>
          </a:xfrm>
          <a:prstGeom prst="roundRect">
            <a:avLst>
              <a:gd name="adj" fmla="val 4800"/>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3" name="Shape 21"/>
          <p:cNvSpPr/>
          <p:nvPr/>
        </p:nvSpPr>
        <p:spPr>
          <a:xfrm>
            <a:off x="6823710" y="1783080"/>
            <a:ext cx="438912" cy="438912"/>
          </a:xfrm>
          <a:prstGeom prst="ellipse">
            <a:avLst/>
          </a:prstGeom>
          <a:solidFill>
            <a:srgbClr val="16213E"/>
          </a:solidFill>
          <a:ln/>
        </p:spPr>
      </p:sp>
      <p:sp>
        <p:nvSpPr>
          <p:cNvPr id="24" name="Text 22"/>
          <p:cNvSpPr/>
          <p:nvPr/>
        </p:nvSpPr>
        <p:spPr>
          <a:xfrm>
            <a:off x="6823710" y="1783080"/>
            <a:ext cx="438912" cy="438912"/>
          </a:xfrm>
          <a:prstGeom prst="rect">
            <a:avLst/>
          </a:prstGeom>
          <a:noFill/>
          <a:ln/>
        </p:spPr>
        <p:txBody>
          <a:bodyPr wrap="square"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6259068" y="2487168"/>
            <a:ext cx="1568196" cy="502920"/>
          </a:xfrm>
          <a:prstGeom prst="rect">
            <a:avLst/>
          </a:prstGeom>
          <a:noFill/>
          <a:ln/>
        </p:spPr>
        <p:txBody>
          <a:bodyPr wrap="square" rtlCol="0" anchor="ctr"/>
          <a:lstStyle/>
          <a:p>
            <a:pPr rtl="1" algn="ctr" indent="0" marL="0">
              <a:buNone/>
            </a:pPr>
            <a:r>
              <a:rPr lang="en-US" sz="1300" b="1" dirty="0">
                <a:solidFill>
                  <a:srgbClr val="0B1F3A"/>
                </a:solidFill>
                <a:latin typeface="Calibri" pitchFamily="34" charset="0"/>
                <a:ea typeface="Calibri" pitchFamily="34" charset="-122"/>
                <a:cs typeface="Calibri" pitchFamily="34" charset="-120"/>
              </a:rPr>
              <a:t>التتبع الحي</a:t>
            </a:r>
            <a:endParaRPr lang="en-US" sz="1300" dirty="0"/>
          </a:p>
        </p:txBody>
      </p:sp>
      <p:sp>
        <p:nvSpPr>
          <p:cNvPr id="26" name="Text 24"/>
          <p:cNvSpPr/>
          <p:nvPr/>
        </p:nvSpPr>
        <p:spPr>
          <a:xfrm>
            <a:off x="6259068" y="3063240"/>
            <a:ext cx="1568196" cy="1188720"/>
          </a:xfrm>
          <a:prstGeom prst="rect">
            <a:avLst/>
          </a:prstGeom>
          <a:noFill/>
          <a:ln/>
        </p:spPr>
        <p:txBody>
          <a:bodyPr wrap="square" rtlCol="0" anchor="t"/>
          <a:lstStyle/>
          <a:p>
            <a:pPr rtl="1" algn="ctr" indent="0" marL="0">
              <a:buNone/>
            </a:pPr>
            <a:r>
              <a:rPr lang="en-US" sz="1050" dirty="0">
                <a:solidFill>
                  <a:srgbClr val="5B6472"/>
                </a:solidFill>
                <a:latin typeface="Calibri" pitchFamily="34" charset="0"/>
                <a:ea typeface="Calibri" pitchFamily="34" charset="-122"/>
                <a:cs typeface="Calibri" pitchFamily="34" charset="-120"/>
              </a:rPr>
              <a:t>تقدّم مرحلي</a:t>
            </a:r>
            <a:endParaRPr lang="en-US" sz="1050" dirty="0"/>
          </a:p>
          <a:p>
            <a:pPr rtl="1" algn="ctr" indent="0" marL="0">
              <a:buNone/>
            </a:pPr>
            <a:r>
              <a:rPr lang="en-US" sz="1050" dirty="0">
                <a:solidFill>
                  <a:srgbClr val="5B6472"/>
                </a:solidFill>
                <a:latin typeface="Calibri" pitchFamily="34" charset="0"/>
                <a:ea typeface="Calibri" pitchFamily="34" charset="-122"/>
                <a:cs typeface="Calibri" pitchFamily="34" charset="-120"/>
              </a:rPr>
              <a:t>+ GPS</a:t>
            </a:r>
            <a:endParaRPr lang="en-US" sz="1050" dirty="0"/>
          </a:p>
        </p:txBody>
      </p:sp>
      <p:sp>
        <p:nvSpPr>
          <p:cNvPr id="27" name="Text 25"/>
          <p:cNvSpPr/>
          <p:nvPr/>
        </p:nvSpPr>
        <p:spPr>
          <a:xfrm>
            <a:off x="6003036" y="3246120"/>
            <a:ext cx="192024" cy="274320"/>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8065008" y="2286000"/>
            <a:ext cx="1714500" cy="2194560"/>
          </a:xfrm>
          <a:prstGeom prst="roundRect">
            <a:avLst>
              <a:gd name="adj" fmla="val 4800"/>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9" name="Shape 27"/>
          <p:cNvSpPr/>
          <p:nvPr/>
        </p:nvSpPr>
        <p:spPr>
          <a:xfrm>
            <a:off x="8702802" y="1783080"/>
            <a:ext cx="438912" cy="438912"/>
          </a:xfrm>
          <a:prstGeom prst="ellipse">
            <a:avLst/>
          </a:prstGeom>
          <a:solidFill>
            <a:srgbClr val="16213E"/>
          </a:solidFill>
          <a:ln/>
        </p:spPr>
      </p:sp>
      <p:sp>
        <p:nvSpPr>
          <p:cNvPr id="30" name="Text 28"/>
          <p:cNvSpPr/>
          <p:nvPr/>
        </p:nvSpPr>
        <p:spPr>
          <a:xfrm>
            <a:off x="8702802" y="1783080"/>
            <a:ext cx="438912" cy="438912"/>
          </a:xfrm>
          <a:prstGeom prst="rect">
            <a:avLst/>
          </a:prstGeom>
          <a:noFill/>
          <a:ln/>
        </p:spPr>
        <p:txBody>
          <a:bodyPr wrap="square"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5</a:t>
            </a:r>
            <a:endParaRPr lang="en-US" sz="2000" dirty="0"/>
          </a:p>
        </p:txBody>
      </p:sp>
      <p:sp>
        <p:nvSpPr>
          <p:cNvPr id="31" name="Text 29"/>
          <p:cNvSpPr/>
          <p:nvPr/>
        </p:nvSpPr>
        <p:spPr>
          <a:xfrm>
            <a:off x="8138160" y="2487168"/>
            <a:ext cx="1568196" cy="502920"/>
          </a:xfrm>
          <a:prstGeom prst="rect">
            <a:avLst/>
          </a:prstGeom>
          <a:noFill/>
          <a:ln/>
        </p:spPr>
        <p:txBody>
          <a:bodyPr wrap="square" rtlCol="0" anchor="ctr"/>
          <a:lstStyle/>
          <a:p>
            <a:pPr rtl="1" algn="ctr" indent="0" marL="0">
              <a:buNone/>
            </a:pPr>
            <a:r>
              <a:rPr lang="en-US" sz="1300" b="1" dirty="0">
                <a:solidFill>
                  <a:srgbClr val="0B1F3A"/>
                </a:solidFill>
                <a:latin typeface="Calibri" pitchFamily="34" charset="0"/>
                <a:ea typeface="Calibri" pitchFamily="34" charset="-122"/>
                <a:cs typeface="Calibri" pitchFamily="34" charset="-120"/>
              </a:rPr>
              <a:t>التسليم</a:t>
            </a:r>
            <a:endParaRPr lang="en-US" sz="1300" dirty="0"/>
          </a:p>
        </p:txBody>
      </p:sp>
      <p:sp>
        <p:nvSpPr>
          <p:cNvPr id="32" name="Text 30"/>
          <p:cNvSpPr/>
          <p:nvPr/>
        </p:nvSpPr>
        <p:spPr>
          <a:xfrm>
            <a:off x="8138160" y="3063240"/>
            <a:ext cx="1568196" cy="1188720"/>
          </a:xfrm>
          <a:prstGeom prst="rect">
            <a:avLst/>
          </a:prstGeom>
          <a:noFill/>
          <a:ln/>
        </p:spPr>
        <p:txBody>
          <a:bodyPr wrap="square" rtlCol="0" anchor="t"/>
          <a:lstStyle/>
          <a:p>
            <a:pPr rtl="1" algn="ctr" indent="0" marL="0">
              <a:buNone/>
            </a:pPr>
            <a:r>
              <a:rPr lang="en-US" sz="1050" dirty="0">
                <a:solidFill>
                  <a:srgbClr val="5B6472"/>
                </a:solidFill>
                <a:latin typeface="Calibri" pitchFamily="34" charset="0"/>
                <a:ea typeface="Calibri" pitchFamily="34" charset="-122"/>
                <a:cs typeface="Calibri" pitchFamily="34" charset="-120"/>
              </a:rPr>
              <a:t>إثبات تسليم</a:t>
            </a:r>
            <a:endParaRPr lang="en-US" sz="1050" dirty="0"/>
          </a:p>
          <a:p>
            <a:pPr rtl="1" algn="ctr" indent="0" marL="0">
              <a:buNone/>
            </a:pPr>
            <a:r>
              <a:rPr lang="en-US" sz="1050" dirty="0">
                <a:solidFill>
                  <a:srgbClr val="5B6472"/>
                </a:solidFill>
                <a:latin typeface="Calibri" pitchFamily="34" charset="0"/>
                <a:ea typeface="Calibri" pitchFamily="34" charset="-122"/>
                <a:cs typeface="Calibri" pitchFamily="34" charset="-120"/>
              </a:rPr>
              <a:t>(صورة)</a:t>
            </a:r>
            <a:endParaRPr lang="en-US" sz="1050" dirty="0"/>
          </a:p>
        </p:txBody>
      </p:sp>
      <p:sp>
        <p:nvSpPr>
          <p:cNvPr id="33" name="Text 31"/>
          <p:cNvSpPr/>
          <p:nvPr/>
        </p:nvSpPr>
        <p:spPr>
          <a:xfrm>
            <a:off x="7882128" y="3246120"/>
            <a:ext cx="192024" cy="274320"/>
          </a:xfrm>
          <a:prstGeom prst="rect">
            <a:avLst/>
          </a:prstGeom>
          <a:noFill/>
          <a:ln/>
        </p:spPr>
        <p:txBody>
          <a:bodyPr wrap="square" rtlCol="0" anchor="ctr"/>
          <a:lstStyle/>
          <a:p>
            <a:pPr algn="ctr" indent="0" marL="0">
              <a:buNone/>
            </a:pPr>
            <a:r>
              <a:rPr lang="en-US" sz="1300" b="1" dirty="0">
                <a:solidFill>
                  <a:srgbClr val="B8962E"/>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9944100" y="2286000"/>
            <a:ext cx="1714500" cy="2194560"/>
          </a:xfrm>
          <a:prstGeom prst="roundRect">
            <a:avLst>
              <a:gd name="adj" fmla="val 4800"/>
            </a:avLst>
          </a:prstGeom>
          <a:solidFill>
            <a:srgbClr val="16213E"/>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35" name="Shape 33"/>
          <p:cNvSpPr/>
          <p:nvPr/>
        </p:nvSpPr>
        <p:spPr>
          <a:xfrm>
            <a:off x="10581894" y="1783080"/>
            <a:ext cx="438912" cy="438912"/>
          </a:xfrm>
          <a:prstGeom prst="ellipse">
            <a:avLst/>
          </a:prstGeom>
          <a:solidFill>
            <a:srgbClr val="16213E"/>
          </a:solidFill>
          <a:ln/>
        </p:spPr>
      </p:sp>
      <p:sp>
        <p:nvSpPr>
          <p:cNvPr id="36" name="Text 34"/>
          <p:cNvSpPr/>
          <p:nvPr/>
        </p:nvSpPr>
        <p:spPr>
          <a:xfrm>
            <a:off x="10581894" y="1783080"/>
            <a:ext cx="438912" cy="438912"/>
          </a:xfrm>
          <a:prstGeom prst="rect">
            <a:avLst/>
          </a:prstGeom>
          <a:noFill/>
          <a:ln/>
        </p:spPr>
        <p:txBody>
          <a:bodyPr wrap="square" rtlCol="0" anchor="ctr"/>
          <a:lstStyle/>
          <a:p>
            <a:pPr algn="ctr" indent="0" marL="0">
              <a:buNone/>
            </a:pPr>
            <a:r>
              <a:rPr lang="en-US" sz="2000" b="1" dirty="0">
                <a:solidFill>
                  <a:srgbClr val="D4AF37"/>
                </a:solidFill>
                <a:latin typeface="Cambria" pitchFamily="34" charset="0"/>
                <a:ea typeface="Cambria" pitchFamily="34" charset="-122"/>
                <a:cs typeface="Cambria" pitchFamily="34" charset="-120"/>
              </a:rPr>
              <a:t>6</a:t>
            </a:r>
            <a:endParaRPr lang="en-US" sz="2000" dirty="0"/>
          </a:p>
        </p:txBody>
      </p:sp>
      <p:sp>
        <p:nvSpPr>
          <p:cNvPr id="37" name="Text 35"/>
          <p:cNvSpPr/>
          <p:nvPr/>
        </p:nvSpPr>
        <p:spPr>
          <a:xfrm>
            <a:off x="10017252" y="2487168"/>
            <a:ext cx="1568196" cy="502920"/>
          </a:xfrm>
          <a:prstGeom prst="rect">
            <a:avLst/>
          </a:prstGeom>
          <a:noFill/>
          <a:ln/>
        </p:spPr>
        <p:txBody>
          <a:bodyPr wrap="square" rtlCol="0" anchor="ctr"/>
          <a:lstStyle/>
          <a:p>
            <a:pPr rtl="1" algn="ctr" indent="0" marL="0">
              <a:buNone/>
            </a:pPr>
            <a:r>
              <a:rPr lang="en-US" sz="1300" b="1" dirty="0">
                <a:solidFill>
                  <a:srgbClr val="D4AF37"/>
                </a:solidFill>
                <a:latin typeface="Calibri" pitchFamily="34" charset="0"/>
                <a:ea typeface="Calibri" pitchFamily="34" charset="-122"/>
                <a:cs typeface="Calibri" pitchFamily="34" charset="-120"/>
              </a:rPr>
              <a:t>التأكيد والدفع</a:t>
            </a:r>
            <a:endParaRPr lang="en-US" sz="1300" dirty="0"/>
          </a:p>
        </p:txBody>
      </p:sp>
      <p:sp>
        <p:nvSpPr>
          <p:cNvPr id="38" name="Text 36"/>
          <p:cNvSpPr/>
          <p:nvPr/>
        </p:nvSpPr>
        <p:spPr>
          <a:xfrm>
            <a:off x="10017252" y="3063240"/>
            <a:ext cx="1568196" cy="1188720"/>
          </a:xfrm>
          <a:prstGeom prst="rect">
            <a:avLst/>
          </a:prstGeom>
          <a:noFill/>
          <a:ln/>
        </p:spPr>
        <p:txBody>
          <a:bodyPr wrap="square" rtlCol="0" anchor="t"/>
          <a:lstStyle/>
          <a:p>
            <a:pPr rtl="1" algn="ctr" indent="0" marL="0">
              <a:buNone/>
            </a:pPr>
            <a:r>
              <a:rPr lang="en-US" sz="1050" dirty="0">
                <a:solidFill>
                  <a:srgbClr val="AEB6C4"/>
                </a:solidFill>
                <a:latin typeface="Calibri" pitchFamily="34" charset="0"/>
                <a:ea typeface="Calibri" pitchFamily="34" charset="-122"/>
                <a:cs typeface="Calibri" pitchFamily="34" charset="-120"/>
              </a:rPr>
              <a:t>خصم فعلي</a:t>
            </a:r>
            <a:endParaRPr lang="en-US" sz="1050" dirty="0"/>
          </a:p>
          <a:p>
            <a:pPr rtl="1" algn="ctr" indent="0" marL="0">
              <a:buNone/>
            </a:pPr>
            <a:r>
              <a:rPr lang="en-US" sz="1050" dirty="0">
                <a:solidFill>
                  <a:srgbClr val="AEB6C4"/>
                </a:solidFill>
                <a:latin typeface="Calibri" pitchFamily="34" charset="0"/>
                <a:ea typeface="Calibri" pitchFamily="34" charset="-122"/>
                <a:cs typeface="Calibri" pitchFamily="34" charset="-120"/>
              </a:rPr>
              <a:t>+ تحرير الرصيد</a:t>
            </a:r>
            <a:endParaRPr lang="en-US" sz="1050" dirty="0"/>
          </a:p>
        </p:txBody>
      </p:sp>
      <p:sp>
        <p:nvSpPr>
          <p:cNvPr id="39" name="Shape 37"/>
          <p:cNvSpPr/>
          <p:nvPr/>
        </p:nvSpPr>
        <p:spPr>
          <a:xfrm>
            <a:off x="548640" y="4892040"/>
            <a:ext cx="11109960" cy="1051560"/>
          </a:xfrm>
          <a:prstGeom prst="roundRect">
            <a:avLst>
              <a:gd name="adj" fmla="val 7826"/>
            </a:avLst>
          </a:prstGeom>
          <a:solidFill>
            <a:srgbClr val="F7F8FA"/>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40" name="Text 38"/>
          <p:cNvSpPr/>
          <p:nvPr/>
        </p:nvSpPr>
        <p:spPr>
          <a:xfrm>
            <a:off x="822960" y="4892040"/>
            <a:ext cx="10561320" cy="1051560"/>
          </a:xfrm>
          <a:prstGeom prst="rect">
            <a:avLst/>
          </a:prstGeom>
          <a:noFill/>
          <a:ln/>
        </p:spPr>
        <p:txBody>
          <a:bodyPr wrap="square" rtlCol="0" anchor="ctr"/>
          <a:lstStyle/>
          <a:p>
            <a:pPr rtl="1" algn="ctr" indent="0" marL="0">
              <a:buNone/>
            </a:pPr>
            <a:r>
              <a:rPr lang="en-US" sz="1250" i="1" dirty="0">
                <a:solidFill>
                  <a:srgbClr val="5B6472"/>
                </a:solidFill>
                <a:latin typeface="Calibri" pitchFamily="34" charset="0"/>
                <a:ea typeface="Calibri" pitchFamily="34" charset="-122"/>
                <a:cs typeface="Calibri" pitchFamily="34" charset="-120"/>
              </a:rPr>
              <a:t>عند وجود نزاع (Dispute)، تبقى الشحنة معلّقة الدفع حتى يحسم Super Admin أو CRM Admin القرار — لا يُصرف أي مبلغ للسائق قبل التأكيد الفعلي من الشركة أو حسم النزاع.</a:t>
            </a:r>
            <a:endParaRPr lang="en-US" sz="1250" dirty="0"/>
          </a:p>
        </p:txBody>
      </p:sp>
      <p:sp>
        <p:nvSpPr>
          <p:cNvPr id="41" name="Text 39"/>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42" name="Text 40"/>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تطبيق Flutter — البنية</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تطبيق واحد بثلاث تجارب حسب الدور</a:t>
            </a:r>
            <a:endParaRPr lang="en-US" sz="3000" dirty="0"/>
          </a:p>
        </p:txBody>
      </p:sp>
      <p:sp>
        <p:nvSpPr>
          <p:cNvPr id="4" name="Shape 2"/>
          <p:cNvSpPr/>
          <p:nvPr/>
        </p:nvSpPr>
        <p:spPr>
          <a:xfrm>
            <a:off x="548640" y="1664208"/>
            <a:ext cx="3520440" cy="4114800"/>
          </a:xfrm>
          <a:prstGeom prst="roundRect">
            <a:avLst>
              <a:gd name="adj" fmla="val 2338"/>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5" name="Text 3"/>
          <p:cNvSpPr/>
          <p:nvPr/>
        </p:nvSpPr>
        <p:spPr>
          <a:xfrm>
            <a:off x="822960" y="1828800"/>
            <a:ext cx="2971800" cy="365760"/>
          </a:xfrm>
          <a:prstGeom prst="rect">
            <a:avLst/>
          </a:prstGeom>
          <a:noFill/>
          <a:ln/>
        </p:spPr>
        <p:txBody>
          <a:bodyPr wrap="square" rtlCol="0" anchor="ctr"/>
          <a:lstStyle/>
          <a:p>
            <a:pPr algn="ctr" indent="0" marL="0">
              <a:buNone/>
            </a:pPr>
            <a:r>
              <a:rPr lang="en-US" sz="1500" b="1" dirty="0">
                <a:solidFill>
                  <a:srgbClr val="D4AF37"/>
                </a:solidFill>
                <a:latin typeface="Consolas" pitchFamily="34" charset="0"/>
                <a:ea typeface="Consolas" pitchFamily="34" charset="-122"/>
                <a:cs typeface="Consolas" pitchFamily="34" charset="-120"/>
              </a:rPr>
              <a:t>HomeScreen</a:t>
            </a:r>
            <a:endParaRPr lang="en-US" sz="1500" dirty="0"/>
          </a:p>
        </p:txBody>
      </p:sp>
      <p:sp>
        <p:nvSpPr>
          <p:cNvPr id="6" name="Text 4"/>
          <p:cNvSpPr/>
          <p:nvPr/>
        </p:nvSpPr>
        <p:spPr>
          <a:xfrm>
            <a:off x="822960" y="2212848"/>
            <a:ext cx="2971800" cy="640080"/>
          </a:xfrm>
          <a:prstGeom prst="rect">
            <a:avLst/>
          </a:prstGeom>
          <a:noFill/>
          <a:ln/>
        </p:spPr>
        <p:txBody>
          <a:bodyPr wrap="square" rtlCol="0" anchor="ctr"/>
          <a:lstStyle/>
          <a:p>
            <a:pPr rtl="1" algn="ctr" indent="0" marL="0">
              <a:buNone/>
            </a:pPr>
            <a:r>
              <a:rPr lang="en-US" sz="1100" dirty="0">
                <a:solidFill>
                  <a:srgbClr val="AEB6C4"/>
                </a:solidFill>
                <a:latin typeface="Calibri" pitchFamily="34" charset="0"/>
                <a:ea typeface="Calibri" pitchFamily="34" charset="-122"/>
                <a:cs typeface="Calibri" pitchFamily="34" charset="-120"/>
              </a:rPr>
              <a:t>نقطة انطلاق موحّدة تقرأ دور المستخدم</a:t>
            </a:r>
            <a:endParaRPr lang="en-US" sz="1100" dirty="0"/>
          </a:p>
          <a:p>
            <a:pPr rtl="1" algn="ctr" indent="0" marL="0">
              <a:buNone/>
            </a:pPr>
            <a:r>
              <a:rPr lang="en-US" sz="1100" dirty="0">
                <a:solidFill>
                  <a:srgbClr val="AEB6C4"/>
                </a:solidFill>
                <a:latin typeface="Calibri" pitchFamily="34" charset="0"/>
                <a:ea typeface="Calibri" pitchFamily="34" charset="-122"/>
                <a:cs typeface="Calibri" pitchFamily="34" charset="-120"/>
              </a:rPr>
              <a:t>(role) القادم من الخادم بعد الدخول</a:t>
            </a:r>
            <a:endParaRPr lang="en-US" sz="1100" dirty="0"/>
          </a:p>
        </p:txBody>
      </p:sp>
      <p:sp>
        <p:nvSpPr>
          <p:cNvPr id="7" name="Shape 5"/>
          <p:cNvSpPr/>
          <p:nvPr/>
        </p:nvSpPr>
        <p:spPr>
          <a:xfrm>
            <a:off x="914400" y="2926080"/>
            <a:ext cx="2788920" cy="0"/>
          </a:xfrm>
          <a:prstGeom prst="line">
            <a:avLst/>
          </a:prstGeom>
          <a:noFill/>
          <a:ln w="12700">
            <a:solidFill>
              <a:srgbClr val="1F2E52"/>
            </a:solidFill>
            <a:prstDash val="solid"/>
          </a:ln>
        </p:spPr>
      </p:sp>
      <p:sp>
        <p:nvSpPr>
          <p:cNvPr id="8" name="Shape 6"/>
          <p:cNvSpPr/>
          <p:nvPr/>
        </p:nvSpPr>
        <p:spPr>
          <a:xfrm>
            <a:off x="777240" y="3108960"/>
            <a:ext cx="2880360" cy="777240"/>
          </a:xfrm>
          <a:prstGeom prst="roundRect">
            <a:avLst>
              <a:gd name="adj" fmla="val 9412"/>
            </a:avLst>
          </a:prstGeom>
          <a:solidFill>
            <a:srgbClr val="1F2E52"/>
          </a:solidFill>
          <a:ln/>
        </p:spPr>
      </p:sp>
      <p:sp>
        <p:nvSpPr>
          <p:cNvPr id="9" name="Text 7"/>
          <p:cNvSpPr/>
          <p:nvPr/>
        </p:nvSpPr>
        <p:spPr>
          <a:xfrm>
            <a:off x="914400" y="3200400"/>
            <a:ext cx="2606040" cy="274320"/>
          </a:xfrm>
          <a:prstGeom prst="rect">
            <a:avLst/>
          </a:prstGeom>
          <a:noFill/>
          <a:ln/>
        </p:spPr>
        <p:txBody>
          <a:bodyPr wrap="square" rtlCol="0" anchor="ctr"/>
          <a:lstStyle/>
          <a:p>
            <a:pPr algn="ctr" indent="0" marL="0">
              <a:buNone/>
            </a:pPr>
            <a:r>
              <a:rPr lang="en-US" sz="1100" b="1" dirty="0">
                <a:solidFill>
                  <a:srgbClr val="D4AF37"/>
                </a:solidFill>
                <a:latin typeface="Consolas" pitchFamily="34" charset="0"/>
                <a:ea typeface="Consolas" pitchFamily="34" charset="-122"/>
                <a:cs typeface="Consolas" pitchFamily="34" charset="-120"/>
              </a:rPr>
              <a:t>role = driver</a:t>
            </a:r>
            <a:endParaRPr lang="en-US" sz="1100" dirty="0"/>
          </a:p>
        </p:txBody>
      </p:sp>
      <p:sp>
        <p:nvSpPr>
          <p:cNvPr id="10" name="Text 8"/>
          <p:cNvSpPr/>
          <p:nvPr/>
        </p:nvSpPr>
        <p:spPr>
          <a:xfrm>
            <a:off x="914400" y="3474720"/>
            <a:ext cx="2606040" cy="365760"/>
          </a:xfrm>
          <a:prstGeom prst="rect">
            <a:avLst/>
          </a:prstGeom>
          <a:noFill/>
          <a:ln/>
        </p:spPr>
        <p:txBody>
          <a:bodyPr wrap="square" rtlCol="0" anchor="ctr"/>
          <a:lstStyle/>
          <a:p>
            <a:pPr rtl="1" algn="ctr" indent="0" marL="0">
              <a:buNone/>
            </a:pPr>
            <a:r>
              <a:rPr lang="en-US" sz="1050" dirty="0">
                <a:solidFill>
                  <a:srgbClr val="FFFFFF"/>
                </a:solidFill>
                <a:latin typeface="Calibri" pitchFamily="34" charset="0"/>
                <a:ea typeface="Calibri" pitchFamily="34" charset="-122"/>
                <a:cs typeface="Calibri" pitchFamily="34" charset="-120"/>
              </a:rPr>
              <a:t>لوحة، عروض، محفظة، ملف</a:t>
            </a:r>
            <a:endParaRPr lang="en-US" sz="1050" dirty="0"/>
          </a:p>
        </p:txBody>
      </p:sp>
      <p:sp>
        <p:nvSpPr>
          <p:cNvPr id="11" name="Shape 9"/>
          <p:cNvSpPr/>
          <p:nvPr/>
        </p:nvSpPr>
        <p:spPr>
          <a:xfrm>
            <a:off x="777240" y="4023360"/>
            <a:ext cx="2880360" cy="777240"/>
          </a:xfrm>
          <a:prstGeom prst="roundRect">
            <a:avLst>
              <a:gd name="adj" fmla="val 9412"/>
            </a:avLst>
          </a:prstGeom>
          <a:solidFill>
            <a:srgbClr val="1F2E52"/>
          </a:solidFill>
          <a:ln/>
        </p:spPr>
      </p:sp>
      <p:sp>
        <p:nvSpPr>
          <p:cNvPr id="12" name="Text 10"/>
          <p:cNvSpPr/>
          <p:nvPr/>
        </p:nvSpPr>
        <p:spPr>
          <a:xfrm>
            <a:off x="914400" y="4114800"/>
            <a:ext cx="2606040" cy="274320"/>
          </a:xfrm>
          <a:prstGeom prst="rect">
            <a:avLst/>
          </a:prstGeom>
          <a:noFill/>
          <a:ln/>
        </p:spPr>
        <p:txBody>
          <a:bodyPr wrap="square" rtlCol="0" anchor="ctr"/>
          <a:lstStyle/>
          <a:p>
            <a:pPr algn="ctr" indent="0" marL="0">
              <a:buNone/>
            </a:pPr>
            <a:r>
              <a:rPr lang="en-US" sz="1100" b="1" dirty="0">
                <a:solidFill>
                  <a:srgbClr val="D4AF37"/>
                </a:solidFill>
                <a:latin typeface="Consolas" pitchFamily="34" charset="0"/>
                <a:ea typeface="Consolas" pitchFamily="34" charset="-122"/>
                <a:cs typeface="Consolas" pitchFamily="34" charset="-120"/>
              </a:rPr>
              <a:t>role = company</a:t>
            </a:r>
            <a:endParaRPr lang="en-US" sz="1100" dirty="0"/>
          </a:p>
        </p:txBody>
      </p:sp>
      <p:sp>
        <p:nvSpPr>
          <p:cNvPr id="13" name="Text 11"/>
          <p:cNvSpPr/>
          <p:nvPr/>
        </p:nvSpPr>
        <p:spPr>
          <a:xfrm>
            <a:off x="914400" y="4389120"/>
            <a:ext cx="2606040" cy="365760"/>
          </a:xfrm>
          <a:prstGeom prst="rect">
            <a:avLst/>
          </a:prstGeom>
          <a:noFill/>
          <a:ln/>
        </p:spPr>
        <p:txBody>
          <a:bodyPr wrap="square" rtlCol="0" anchor="ctr"/>
          <a:lstStyle/>
          <a:p>
            <a:pPr rtl="1" algn="ctr" indent="0" marL="0">
              <a:buNone/>
            </a:pPr>
            <a:r>
              <a:rPr lang="en-US" sz="1050" dirty="0">
                <a:solidFill>
                  <a:srgbClr val="FFFFFF"/>
                </a:solidFill>
                <a:latin typeface="Calibri" pitchFamily="34" charset="0"/>
                <a:ea typeface="Calibri" pitchFamily="34" charset="-122"/>
                <a:cs typeface="Calibri" pitchFamily="34" charset="-120"/>
              </a:rPr>
              <a:t>لوحة، شحنات، رصيد، ملف</a:t>
            </a:r>
            <a:endParaRPr lang="en-US" sz="1050" dirty="0"/>
          </a:p>
        </p:txBody>
      </p:sp>
      <p:sp>
        <p:nvSpPr>
          <p:cNvPr id="14" name="Shape 12"/>
          <p:cNvSpPr/>
          <p:nvPr/>
        </p:nvSpPr>
        <p:spPr>
          <a:xfrm>
            <a:off x="777240" y="4937760"/>
            <a:ext cx="2880360" cy="777240"/>
          </a:xfrm>
          <a:prstGeom prst="roundRect">
            <a:avLst>
              <a:gd name="adj" fmla="val 9412"/>
            </a:avLst>
          </a:prstGeom>
          <a:solidFill>
            <a:srgbClr val="1F2E52"/>
          </a:solidFill>
          <a:ln/>
        </p:spPr>
      </p:sp>
      <p:sp>
        <p:nvSpPr>
          <p:cNvPr id="15" name="Text 13"/>
          <p:cNvSpPr/>
          <p:nvPr/>
        </p:nvSpPr>
        <p:spPr>
          <a:xfrm>
            <a:off x="914400" y="5029200"/>
            <a:ext cx="2606040" cy="274320"/>
          </a:xfrm>
          <a:prstGeom prst="rect">
            <a:avLst/>
          </a:prstGeom>
          <a:noFill/>
          <a:ln/>
        </p:spPr>
        <p:txBody>
          <a:bodyPr wrap="square" rtlCol="0" anchor="ctr"/>
          <a:lstStyle/>
          <a:p>
            <a:pPr algn="ctr" indent="0" marL="0">
              <a:buNone/>
            </a:pPr>
            <a:r>
              <a:rPr lang="en-US" sz="1100" b="1" dirty="0">
                <a:solidFill>
                  <a:srgbClr val="D4AF37"/>
                </a:solidFill>
                <a:latin typeface="Consolas" pitchFamily="34" charset="0"/>
                <a:ea typeface="Consolas" pitchFamily="34" charset="-122"/>
                <a:cs typeface="Consolas" pitchFamily="34" charset="-120"/>
              </a:rPr>
              <a:t>role = admin/sub_admin</a:t>
            </a:r>
            <a:endParaRPr lang="en-US" sz="1100" dirty="0"/>
          </a:p>
        </p:txBody>
      </p:sp>
      <p:sp>
        <p:nvSpPr>
          <p:cNvPr id="16" name="Text 14"/>
          <p:cNvSpPr/>
          <p:nvPr/>
        </p:nvSpPr>
        <p:spPr>
          <a:xfrm>
            <a:off x="914400" y="5303520"/>
            <a:ext cx="2606040" cy="365760"/>
          </a:xfrm>
          <a:prstGeom prst="rect">
            <a:avLst/>
          </a:prstGeom>
          <a:noFill/>
          <a:ln/>
        </p:spPr>
        <p:txBody>
          <a:bodyPr wrap="square" rtlCol="0" anchor="ctr"/>
          <a:lstStyle/>
          <a:p>
            <a:pPr rtl="1" algn="ctr" indent="0" marL="0">
              <a:buNone/>
            </a:pPr>
            <a:r>
              <a:rPr lang="en-US" sz="1050" dirty="0">
                <a:solidFill>
                  <a:srgbClr val="FFFFFF"/>
                </a:solidFill>
                <a:latin typeface="Calibri" pitchFamily="34" charset="0"/>
                <a:ea typeface="Calibri" pitchFamily="34" charset="-122"/>
                <a:cs typeface="Calibri" pitchFamily="34" charset="-120"/>
              </a:rPr>
              <a:t>سائقون، شركات، شحنات، تقارير</a:t>
            </a:r>
            <a:endParaRPr lang="en-US" sz="1050" dirty="0"/>
          </a:p>
        </p:txBody>
      </p:sp>
      <p:sp>
        <p:nvSpPr>
          <p:cNvPr id="17" name="Shape 15"/>
          <p:cNvSpPr/>
          <p:nvPr/>
        </p:nvSpPr>
        <p:spPr>
          <a:xfrm>
            <a:off x="4251960" y="1664208"/>
            <a:ext cx="7406640" cy="932688"/>
          </a:xfrm>
          <a:prstGeom prst="roundRect">
            <a:avLst>
              <a:gd name="adj" fmla="val 8824"/>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8" name="Text 16"/>
          <p:cNvSpPr/>
          <p:nvPr/>
        </p:nvSpPr>
        <p:spPr>
          <a:xfrm>
            <a:off x="4480560" y="1755648"/>
            <a:ext cx="6949440" cy="320040"/>
          </a:xfrm>
          <a:prstGeom prst="rect">
            <a:avLst/>
          </a:prstGeom>
          <a:noFill/>
          <a:ln/>
        </p:spPr>
        <p:txBody>
          <a:bodyPr wrap="square" rtlCol="0" anchor="ctr"/>
          <a:lstStyle/>
          <a:p>
            <a:pPr rtl="1" algn="r" indent="0" marL="0">
              <a:buNone/>
            </a:pPr>
            <a:r>
              <a:rPr lang="en-US" sz="1300" b="1" dirty="0">
                <a:solidFill>
                  <a:srgbClr val="0B1F3A"/>
                </a:solidFill>
                <a:latin typeface="Calibri" pitchFamily="34" charset="0"/>
                <a:ea typeface="Calibri" pitchFamily="34" charset="-122"/>
                <a:cs typeface="Calibri" pitchFamily="34" charset="-120"/>
              </a:rPr>
              <a:t>IndexedStack + BottomNavigation</a:t>
            </a:r>
            <a:endParaRPr lang="en-US" sz="1300" dirty="0"/>
          </a:p>
        </p:txBody>
      </p:sp>
      <p:sp>
        <p:nvSpPr>
          <p:cNvPr id="19" name="Text 17"/>
          <p:cNvSpPr/>
          <p:nvPr/>
        </p:nvSpPr>
        <p:spPr>
          <a:xfrm>
            <a:off x="4480560" y="2084832"/>
            <a:ext cx="6949440" cy="457200"/>
          </a:xfrm>
          <a:prstGeom prst="rect">
            <a:avLst/>
          </a:prstGeom>
          <a:noFill/>
          <a:ln/>
        </p:spPr>
        <p:txBody>
          <a:bodyPr wrap="square" rtlCol="0" anchor="ctr"/>
          <a:lstStyle/>
          <a:p>
            <a:pPr rtl="1" algn="r" indent="0" marL="0">
              <a:buNone/>
            </a:pPr>
            <a:r>
              <a:rPr lang="en-US" sz="1100" dirty="0">
                <a:solidFill>
                  <a:srgbClr val="5B6472"/>
                </a:solidFill>
                <a:latin typeface="Calibri" pitchFamily="34" charset="0"/>
                <a:ea typeface="Calibri" pitchFamily="34" charset="-122"/>
                <a:cs typeface="Calibri" pitchFamily="34" charset="-120"/>
              </a:rPr>
              <a:t>شريط تنقّل وتصميم مختلف تمامًا لكل دور، مع الحفاظ على حالة كل تبويب دون إعادة بنائه.</a:t>
            </a:r>
            <a:endParaRPr lang="en-US" sz="1100" dirty="0"/>
          </a:p>
        </p:txBody>
      </p:sp>
      <p:sp>
        <p:nvSpPr>
          <p:cNvPr id="20" name="Shape 18"/>
          <p:cNvSpPr/>
          <p:nvPr/>
        </p:nvSpPr>
        <p:spPr>
          <a:xfrm>
            <a:off x="4251960" y="2734056"/>
            <a:ext cx="7406640" cy="932688"/>
          </a:xfrm>
          <a:prstGeom prst="roundRect">
            <a:avLst>
              <a:gd name="adj" fmla="val 8824"/>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1" name="Text 19"/>
          <p:cNvSpPr/>
          <p:nvPr/>
        </p:nvSpPr>
        <p:spPr>
          <a:xfrm>
            <a:off x="4480560" y="2825496"/>
            <a:ext cx="6949440" cy="320040"/>
          </a:xfrm>
          <a:prstGeom prst="rect">
            <a:avLst/>
          </a:prstGeom>
          <a:noFill/>
          <a:ln/>
        </p:spPr>
        <p:txBody>
          <a:bodyPr wrap="square" rtlCol="0" anchor="ctr"/>
          <a:lstStyle/>
          <a:p>
            <a:pPr rtl="1" algn="r" indent="0" marL="0">
              <a:buNone/>
            </a:pPr>
            <a:r>
              <a:rPr lang="en-US" sz="1300" b="1" dirty="0">
                <a:solidFill>
                  <a:srgbClr val="0B1F3A"/>
                </a:solidFill>
                <a:latin typeface="Calibri" pitchFamily="34" charset="0"/>
                <a:ea typeface="Calibri" pitchFamily="34" charset="-122"/>
                <a:cs typeface="Calibri" pitchFamily="34" charset="-120"/>
              </a:rPr>
              <a:t>إدارة الحالة: StatefulWidget + setState</a:t>
            </a:r>
            <a:endParaRPr lang="en-US" sz="1300" dirty="0"/>
          </a:p>
        </p:txBody>
      </p:sp>
      <p:sp>
        <p:nvSpPr>
          <p:cNvPr id="22" name="Text 20"/>
          <p:cNvSpPr/>
          <p:nvPr/>
        </p:nvSpPr>
        <p:spPr>
          <a:xfrm>
            <a:off x="4480560" y="3154680"/>
            <a:ext cx="6949440" cy="457200"/>
          </a:xfrm>
          <a:prstGeom prst="rect">
            <a:avLst/>
          </a:prstGeom>
          <a:noFill/>
          <a:ln/>
        </p:spPr>
        <p:txBody>
          <a:bodyPr wrap="square" rtlCol="0" anchor="ctr"/>
          <a:lstStyle/>
          <a:p>
            <a:pPr rtl="1" algn="r" indent="0" marL="0">
              <a:buNone/>
            </a:pPr>
            <a:r>
              <a:rPr lang="en-US" sz="1100" dirty="0">
                <a:solidFill>
                  <a:srgbClr val="5B6472"/>
                </a:solidFill>
                <a:latin typeface="Calibri" pitchFamily="34" charset="0"/>
                <a:ea typeface="Calibri" pitchFamily="34" charset="-122"/>
                <a:cs typeface="Calibri" pitchFamily="34" charset="-120"/>
              </a:rPr>
              <a:t>بلا مكتبات خارجية (Provider/Bloc)، مع ValueNotifier فقط للحالة المشتركة بين شاشات غير مرتبطة مباشرة.</a:t>
            </a:r>
            <a:endParaRPr lang="en-US" sz="1100" dirty="0"/>
          </a:p>
        </p:txBody>
      </p:sp>
      <p:sp>
        <p:nvSpPr>
          <p:cNvPr id="23" name="Shape 21"/>
          <p:cNvSpPr/>
          <p:nvPr/>
        </p:nvSpPr>
        <p:spPr>
          <a:xfrm>
            <a:off x="4251960" y="3803904"/>
            <a:ext cx="7406640" cy="932688"/>
          </a:xfrm>
          <a:prstGeom prst="roundRect">
            <a:avLst>
              <a:gd name="adj" fmla="val 8824"/>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4" name="Text 22"/>
          <p:cNvSpPr/>
          <p:nvPr/>
        </p:nvSpPr>
        <p:spPr>
          <a:xfrm>
            <a:off x="4480560" y="3895344"/>
            <a:ext cx="6949440" cy="320040"/>
          </a:xfrm>
          <a:prstGeom prst="rect">
            <a:avLst/>
          </a:prstGeom>
          <a:noFill/>
          <a:ln/>
        </p:spPr>
        <p:txBody>
          <a:bodyPr wrap="square" rtlCol="0" anchor="ctr"/>
          <a:lstStyle/>
          <a:p>
            <a:pPr rtl="1" algn="r" indent="0" marL="0">
              <a:buNone/>
            </a:pPr>
            <a:r>
              <a:rPr lang="en-US" sz="1300" b="1" dirty="0">
                <a:solidFill>
                  <a:srgbClr val="0B1F3A"/>
                </a:solidFill>
                <a:latin typeface="Calibri" pitchFamily="34" charset="0"/>
                <a:ea typeface="Calibri" pitchFamily="34" charset="-122"/>
                <a:cs typeface="Calibri" pitchFamily="34" charset="-120"/>
              </a:rPr>
              <a:t>جلسة تلقائية ذكية (Auto-Login)</a:t>
            </a:r>
            <a:endParaRPr lang="en-US" sz="1300" dirty="0"/>
          </a:p>
        </p:txBody>
      </p:sp>
      <p:sp>
        <p:nvSpPr>
          <p:cNvPr id="25" name="Text 23"/>
          <p:cNvSpPr/>
          <p:nvPr/>
        </p:nvSpPr>
        <p:spPr>
          <a:xfrm>
            <a:off x="4480560" y="4224528"/>
            <a:ext cx="6949440" cy="457200"/>
          </a:xfrm>
          <a:prstGeom prst="rect">
            <a:avLst/>
          </a:prstGeom>
          <a:noFill/>
          <a:ln/>
        </p:spPr>
        <p:txBody>
          <a:bodyPr wrap="square" rtlCol="0" anchor="ctr"/>
          <a:lstStyle/>
          <a:p>
            <a:pPr rtl="1" algn="r" indent="0" marL="0">
              <a:buNone/>
            </a:pPr>
            <a:r>
              <a:rPr lang="en-US" sz="1100" dirty="0">
                <a:solidFill>
                  <a:srgbClr val="5B6472"/>
                </a:solidFill>
                <a:latin typeface="Calibri" pitchFamily="34" charset="0"/>
                <a:ea typeface="Calibri" pitchFamily="34" charset="-122"/>
                <a:cs typeface="Calibri" pitchFamily="34" charset="-120"/>
              </a:rPr>
              <a:t>تفريق دقيق بين رفض صريح للجلسة (401) وخطأ اتصال مؤقت — لا تُفقَد الجلسة بسبب ضعف الشبكة.</a:t>
            </a:r>
            <a:endParaRPr lang="en-US" sz="1100" dirty="0"/>
          </a:p>
        </p:txBody>
      </p:sp>
      <p:sp>
        <p:nvSpPr>
          <p:cNvPr id="26" name="Shape 24"/>
          <p:cNvSpPr/>
          <p:nvPr/>
        </p:nvSpPr>
        <p:spPr>
          <a:xfrm>
            <a:off x="4251960" y="4873752"/>
            <a:ext cx="7406640" cy="932688"/>
          </a:xfrm>
          <a:prstGeom prst="roundRect">
            <a:avLst>
              <a:gd name="adj" fmla="val 8824"/>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7" name="Text 25"/>
          <p:cNvSpPr/>
          <p:nvPr/>
        </p:nvSpPr>
        <p:spPr>
          <a:xfrm>
            <a:off x="4480560" y="4965192"/>
            <a:ext cx="6949440" cy="320040"/>
          </a:xfrm>
          <a:prstGeom prst="rect">
            <a:avLst/>
          </a:prstGeom>
          <a:noFill/>
          <a:ln/>
        </p:spPr>
        <p:txBody>
          <a:bodyPr wrap="square" rtlCol="0" anchor="ctr"/>
          <a:lstStyle/>
          <a:p>
            <a:pPr rtl="1" algn="r" indent="0" marL="0">
              <a:buNone/>
            </a:pPr>
            <a:r>
              <a:rPr lang="en-US" sz="1300" b="1" dirty="0">
                <a:solidFill>
                  <a:srgbClr val="0B1F3A"/>
                </a:solidFill>
                <a:latin typeface="Calibri" pitchFamily="34" charset="0"/>
                <a:ea typeface="Calibri" pitchFamily="34" charset="-122"/>
                <a:cs typeface="Calibri" pitchFamily="34" charset="-120"/>
              </a:rPr>
              <a:t>قائمة جانبية مبنية على الصلاحيات</a:t>
            </a:r>
            <a:endParaRPr lang="en-US" sz="1300" dirty="0"/>
          </a:p>
        </p:txBody>
      </p:sp>
      <p:sp>
        <p:nvSpPr>
          <p:cNvPr id="28" name="Text 26"/>
          <p:cNvSpPr/>
          <p:nvPr/>
        </p:nvSpPr>
        <p:spPr>
          <a:xfrm>
            <a:off x="4480560" y="5294376"/>
            <a:ext cx="6949440" cy="457200"/>
          </a:xfrm>
          <a:prstGeom prst="rect">
            <a:avLst/>
          </a:prstGeom>
          <a:noFill/>
          <a:ln/>
        </p:spPr>
        <p:txBody>
          <a:bodyPr wrap="square" rtlCol="0" anchor="ctr"/>
          <a:lstStyle/>
          <a:p>
            <a:pPr rtl="1" algn="r" indent="0" marL="0">
              <a:buNone/>
            </a:pPr>
            <a:r>
              <a:rPr lang="en-US" sz="1100" dirty="0">
                <a:solidFill>
                  <a:srgbClr val="5B6472"/>
                </a:solidFill>
                <a:latin typeface="Calibri" pitchFamily="34" charset="0"/>
                <a:ea typeface="Calibri" pitchFamily="34" charset="-122"/>
                <a:cs typeface="Calibri" pitchFamily="34" charset="-120"/>
              </a:rPr>
              <a:t>Sub-Admin يرى فقط عناصر القائمة المطابقة لصلاحياته الفعلية القادمة من الخادم.</a:t>
            </a:r>
            <a:endParaRPr lang="en-US" sz="1100" dirty="0"/>
          </a:p>
        </p:txBody>
      </p:sp>
      <p:sp>
        <p:nvSpPr>
          <p:cNvPr id="29" name="Text 27"/>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30" name="Text 28"/>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تطبيق Flutter — الميزات المتقدمة</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قدرات تقنية تتجاوز شاشات CRUD الاعتيادية</a:t>
            </a:r>
            <a:endParaRPr lang="en-US" sz="3000" dirty="0"/>
          </a:p>
        </p:txBody>
      </p:sp>
      <p:sp>
        <p:nvSpPr>
          <p:cNvPr id="4" name="Shape 2"/>
          <p:cNvSpPr/>
          <p:nvPr/>
        </p:nvSpPr>
        <p:spPr>
          <a:xfrm>
            <a:off x="548640" y="169164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5" name="Shape 3"/>
          <p:cNvSpPr/>
          <p:nvPr/>
        </p:nvSpPr>
        <p:spPr>
          <a:xfrm>
            <a:off x="3840480" y="1892808"/>
            <a:ext cx="1920240" cy="365760"/>
          </a:xfrm>
          <a:prstGeom prst="roundRect">
            <a:avLst>
              <a:gd name="adj" fmla="val 50000"/>
            </a:avLst>
          </a:prstGeom>
          <a:solidFill>
            <a:srgbClr val="16213E"/>
          </a:solidFill>
          <a:ln/>
        </p:spPr>
      </p:sp>
      <p:sp>
        <p:nvSpPr>
          <p:cNvPr id="6" name="Text 4"/>
          <p:cNvSpPr/>
          <p:nvPr/>
        </p:nvSpPr>
        <p:spPr>
          <a:xfrm>
            <a:off x="3840480" y="1892808"/>
            <a:ext cx="1920240" cy="365760"/>
          </a:xfrm>
          <a:prstGeom prst="rect">
            <a:avLst/>
          </a:prstGeom>
          <a:noFill/>
          <a:ln/>
        </p:spPr>
        <p:txBody>
          <a:bodyPr wrap="square"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Geolocator</a:t>
            </a:r>
            <a:endParaRPr lang="en-US" sz="950" dirty="0"/>
          </a:p>
        </p:txBody>
      </p:sp>
      <p:sp>
        <p:nvSpPr>
          <p:cNvPr id="7" name="Text 5"/>
          <p:cNvSpPr/>
          <p:nvPr/>
        </p:nvSpPr>
        <p:spPr>
          <a:xfrm>
            <a:off x="777240" y="1874520"/>
            <a:ext cx="2971800" cy="502920"/>
          </a:xfrm>
          <a:prstGeom prst="rect">
            <a:avLst/>
          </a:prstGeom>
          <a:noFill/>
          <a:ln/>
        </p:spPr>
        <p:txBody>
          <a:bodyPr wrap="square" rtlCol="0" anchor="ctr"/>
          <a:lstStyle/>
          <a:p>
            <a:pPr rtl="1" algn="r" indent="0" marL="0">
              <a:buNone/>
            </a:pPr>
            <a:r>
              <a:rPr lang="en-US" sz="1450" b="1" dirty="0">
                <a:solidFill>
                  <a:srgbClr val="0B1F3A"/>
                </a:solidFill>
                <a:latin typeface="Calibri" pitchFamily="34" charset="0"/>
                <a:ea typeface="Calibri" pitchFamily="34" charset="-122"/>
                <a:cs typeface="Calibri" pitchFamily="34" charset="-120"/>
              </a:rPr>
              <a:t>تتبّع الموقع الحي في الخلفية</a:t>
            </a:r>
            <a:endParaRPr lang="en-US" sz="1450" dirty="0"/>
          </a:p>
        </p:txBody>
      </p:sp>
      <p:sp>
        <p:nvSpPr>
          <p:cNvPr id="8" name="Text 6"/>
          <p:cNvSpPr/>
          <p:nvPr/>
        </p:nvSpPr>
        <p:spPr>
          <a:xfrm>
            <a:off x="822960" y="2441448"/>
            <a:ext cx="4892040" cy="1051560"/>
          </a:xfrm>
          <a:prstGeom prst="rect">
            <a:avLst/>
          </a:prstGeom>
          <a:noFill/>
          <a:ln/>
        </p:spPr>
        <p:txBody>
          <a:bodyPr wrap="square" rtlCol="0" anchor="t"/>
          <a:lstStyle/>
          <a:p>
            <a:pPr rtl="1" algn="r" indent="0" marL="0">
              <a:lnSpc>
                <a:spcPct val="120000"/>
              </a:lnSpc>
              <a:buNone/>
            </a:pPr>
            <a:r>
              <a:rPr lang="en-US" sz="1150" dirty="0">
                <a:solidFill>
                  <a:srgbClr val="5B6472"/>
                </a:solidFill>
                <a:latin typeface="Calibri" pitchFamily="34" charset="0"/>
                <a:ea typeface="Calibri" pitchFamily="34" charset="-122"/>
                <a:cs typeface="Calibri" pitchFamily="34" charset="-120"/>
              </a:rPr>
              <a:t>يعمل حتى مع إغلاق الشاشة، عبر خدمة أمامية دائمة على أندرويد وBackground Location Updates على iOS — مُفعَّل فقط أثناء وجود رحلة نشطة فعليًا.</a:t>
            </a:r>
            <a:endParaRPr lang="en-US" sz="1150" dirty="0"/>
          </a:p>
        </p:txBody>
      </p:sp>
      <p:sp>
        <p:nvSpPr>
          <p:cNvPr id="9" name="Shape 7"/>
          <p:cNvSpPr/>
          <p:nvPr/>
        </p:nvSpPr>
        <p:spPr>
          <a:xfrm>
            <a:off x="6217920" y="169164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0" name="Shape 8"/>
          <p:cNvSpPr/>
          <p:nvPr/>
        </p:nvSpPr>
        <p:spPr>
          <a:xfrm>
            <a:off x="9509760" y="1892808"/>
            <a:ext cx="1920240" cy="365760"/>
          </a:xfrm>
          <a:prstGeom prst="roundRect">
            <a:avLst>
              <a:gd name="adj" fmla="val 50000"/>
            </a:avLst>
          </a:prstGeom>
          <a:solidFill>
            <a:srgbClr val="B8962E"/>
          </a:solidFill>
          <a:ln/>
        </p:spPr>
      </p:sp>
      <p:sp>
        <p:nvSpPr>
          <p:cNvPr id="11" name="Text 9"/>
          <p:cNvSpPr/>
          <p:nvPr/>
        </p:nvSpPr>
        <p:spPr>
          <a:xfrm>
            <a:off x="9509760" y="1892808"/>
            <a:ext cx="1920240" cy="365760"/>
          </a:xfrm>
          <a:prstGeom prst="rect">
            <a:avLst/>
          </a:prstGeom>
          <a:noFill/>
          <a:ln/>
        </p:spPr>
        <p:txBody>
          <a:bodyPr wrap="square"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Firebase Cloud Messaging</a:t>
            </a:r>
            <a:endParaRPr lang="en-US" sz="950" dirty="0"/>
          </a:p>
        </p:txBody>
      </p:sp>
      <p:sp>
        <p:nvSpPr>
          <p:cNvPr id="12" name="Text 10"/>
          <p:cNvSpPr/>
          <p:nvPr/>
        </p:nvSpPr>
        <p:spPr>
          <a:xfrm>
            <a:off x="6446520" y="1874520"/>
            <a:ext cx="2971800" cy="502920"/>
          </a:xfrm>
          <a:prstGeom prst="rect">
            <a:avLst/>
          </a:prstGeom>
          <a:noFill/>
          <a:ln/>
        </p:spPr>
        <p:txBody>
          <a:bodyPr wrap="square" rtlCol="0" anchor="ctr"/>
          <a:lstStyle/>
          <a:p>
            <a:pPr rtl="1" algn="r" indent="0" marL="0">
              <a:buNone/>
            </a:pPr>
            <a:r>
              <a:rPr lang="en-US" sz="1450" b="1" dirty="0">
                <a:solidFill>
                  <a:srgbClr val="0B1F3A"/>
                </a:solidFill>
                <a:latin typeface="Calibri" pitchFamily="34" charset="0"/>
                <a:ea typeface="Calibri" pitchFamily="34" charset="-122"/>
                <a:cs typeface="Calibri" pitchFamily="34" charset="-120"/>
              </a:rPr>
              <a:t>الإشعارات الفورية</a:t>
            </a:r>
            <a:endParaRPr lang="en-US" sz="1450" dirty="0"/>
          </a:p>
        </p:txBody>
      </p:sp>
      <p:sp>
        <p:nvSpPr>
          <p:cNvPr id="13" name="Text 11"/>
          <p:cNvSpPr/>
          <p:nvPr/>
        </p:nvSpPr>
        <p:spPr>
          <a:xfrm>
            <a:off x="6492240" y="2441448"/>
            <a:ext cx="4892040" cy="1051560"/>
          </a:xfrm>
          <a:prstGeom prst="rect">
            <a:avLst/>
          </a:prstGeom>
          <a:noFill/>
          <a:ln/>
        </p:spPr>
        <p:txBody>
          <a:bodyPr wrap="square" rtlCol="0" anchor="t"/>
          <a:lstStyle/>
          <a:p>
            <a:pPr rtl="1" algn="r" indent="0" marL="0">
              <a:lnSpc>
                <a:spcPct val="120000"/>
              </a:lnSpc>
              <a:buNone/>
            </a:pPr>
            <a:r>
              <a:rPr lang="en-US" sz="1150" dirty="0">
                <a:solidFill>
                  <a:srgbClr val="5B6472"/>
                </a:solidFill>
                <a:latin typeface="Calibri" pitchFamily="34" charset="0"/>
                <a:ea typeface="Calibri" pitchFamily="34" charset="-122"/>
                <a:cs typeface="Calibri" pitchFamily="34" charset="-120"/>
              </a:rPr>
              <a:t>تسجيل تلقائي لرمز الجهاز، معالج خلفية منفصل (Isolate) للرسائل أثناء إغلاق التطبيق، وبانر داخلي فوري عند فتحه.</a:t>
            </a:r>
            <a:endParaRPr lang="en-US" sz="1150" dirty="0"/>
          </a:p>
        </p:txBody>
      </p:sp>
      <p:sp>
        <p:nvSpPr>
          <p:cNvPr id="14" name="Shape 12"/>
          <p:cNvSpPr/>
          <p:nvPr/>
        </p:nvSpPr>
        <p:spPr>
          <a:xfrm>
            <a:off x="548640" y="388620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5" name="Shape 13"/>
          <p:cNvSpPr/>
          <p:nvPr/>
        </p:nvSpPr>
        <p:spPr>
          <a:xfrm>
            <a:off x="3840480" y="4087368"/>
            <a:ext cx="1920240" cy="365760"/>
          </a:xfrm>
          <a:prstGeom prst="roundRect">
            <a:avLst>
              <a:gd name="adj" fmla="val 50000"/>
            </a:avLst>
          </a:prstGeom>
          <a:solidFill>
            <a:srgbClr val="1F2E52"/>
          </a:solidFill>
          <a:ln/>
        </p:spPr>
      </p:sp>
      <p:sp>
        <p:nvSpPr>
          <p:cNvPr id="16" name="Text 14"/>
          <p:cNvSpPr/>
          <p:nvPr/>
        </p:nvSpPr>
        <p:spPr>
          <a:xfrm>
            <a:off x="3840480" y="4087368"/>
            <a:ext cx="1920240" cy="365760"/>
          </a:xfrm>
          <a:prstGeom prst="rect">
            <a:avLst/>
          </a:prstGeom>
          <a:noFill/>
          <a:ln/>
        </p:spPr>
        <p:txBody>
          <a:bodyPr wrap="square"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flutter_map</a:t>
            </a:r>
            <a:endParaRPr lang="en-US" sz="950" dirty="0"/>
          </a:p>
        </p:txBody>
      </p:sp>
      <p:sp>
        <p:nvSpPr>
          <p:cNvPr id="17" name="Text 15"/>
          <p:cNvSpPr/>
          <p:nvPr/>
        </p:nvSpPr>
        <p:spPr>
          <a:xfrm>
            <a:off x="777240" y="4069080"/>
            <a:ext cx="2971800" cy="502920"/>
          </a:xfrm>
          <a:prstGeom prst="rect">
            <a:avLst/>
          </a:prstGeom>
          <a:noFill/>
          <a:ln/>
        </p:spPr>
        <p:txBody>
          <a:bodyPr wrap="square" rtlCol="0" anchor="ctr"/>
          <a:lstStyle/>
          <a:p>
            <a:pPr rtl="1" algn="r" indent="0" marL="0">
              <a:buNone/>
            </a:pPr>
            <a:r>
              <a:rPr lang="en-US" sz="1450" b="1" dirty="0">
                <a:solidFill>
                  <a:srgbClr val="0B1F3A"/>
                </a:solidFill>
                <a:latin typeface="Calibri" pitchFamily="34" charset="0"/>
                <a:ea typeface="Calibri" pitchFamily="34" charset="-122"/>
                <a:cs typeface="Calibri" pitchFamily="34" charset="-120"/>
              </a:rPr>
              <a:t>الخرائط التفاعلية</a:t>
            </a:r>
            <a:endParaRPr lang="en-US" sz="1450" dirty="0"/>
          </a:p>
        </p:txBody>
      </p:sp>
      <p:sp>
        <p:nvSpPr>
          <p:cNvPr id="18" name="Text 16"/>
          <p:cNvSpPr/>
          <p:nvPr/>
        </p:nvSpPr>
        <p:spPr>
          <a:xfrm>
            <a:off x="822960" y="4636008"/>
            <a:ext cx="4892040" cy="1051560"/>
          </a:xfrm>
          <a:prstGeom prst="rect">
            <a:avLst/>
          </a:prstGeom>
          <a:noFill/>
          <a:ln/>
        </p:spPr>
        <p:txBody>
          <a:bodyPr wrap="square" rtlCol="0" anchor="t"/>
          <a:lstStyle/>
          <a:p>
            <a:pPr rtl="1" algn="r" indent="0" marL="0">
              <a:lnSpc>
                <a:spcPct val="120000"/>
              </a:lnSpc>
              <a:buNone/>
            </a:pPr>
            <a:r>
              <a:rPr lang="en-US" sz="1150" dirty="0">
                <a:solidFill>
                  <a:srgbClr val="5B6472"/>
                </a:solidFill>
                <a:latin typeface="Calibri" pitchFamily="34" charset="0"/>
                <a:ea typeface="Calibri" pitchFamily="34" charset="-122"/>
                <a:cs typeface="Calibri" pitchFamily="34" charset="-120"/>
              </a:rPr>
              <a:t>عرض نقطتي الانطلاق والوصول وموقع السائق الحي، بديل مفتوح المصدر دون الحاجة لمفتاح Google Maps مدفوع.</a:t>
            </a:r>
            <a:endParaRPr lang="en-US" sz="1150" dirty="0"/>
          </a:p>
        </p:txBody>
      </p:sp>
      <p:sp>
        <p:nvSpPr>
          <p:cNvPr id="19" name="Shape 17"/>
          <p:cNvSpPr/>
          <p:nvPr/>
        </p:nvSpPr>
        <p:spPr>
          <a:xfrm>
            <a:off x="6217920" y="3886200"/>
            <a:ext cx="5440680" cy="1965960"/>
          </a:xfrm>
          <a:prstGeom prst="roundRect">
            <a:avLst>
              <a:gd name="adj" fmla="val 4186"/>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20" name="Shape 18"/>
          <p:cNvSpPr/>
          <p:nvPr/>
        </p:nvSpPr>
        <p:spPr>
          <a:xfrm>
            <a:off x="9509760" y="4087368"/>
            <a:ext cx="1920240" cy="365760"/>
          </a:xfrm>
          <a:prstGeom prst="roundRect">
            <a:avLst>
              <a:gd name="adj" fmla="val 50000"/>
            </a:avLst>
          </a:prstGeom>
          <a:solidFill>
            <a:srgbClr val="6B7A99"/>
          </a:solidFill>
          <a:ln/>
        </p:spPr>
      </p:sp>
      <p:sp>
        <p:nvSpPr>
          <p:cNvPr id="21" name="Text 19"/>
          <p:cNvSpPr/>
          <p:nvPr/>
        </p:nvSpPr>
        <p:spPr>
          <a:xfrm>
            <a:off x="9509760" y="4087368"/>
            <a:ext cx="1920240" cy="365760"/>
          </a:xfrm>
          <a:prstGeom prst="rect">
            <a:avLst/>
          </a:prstGeom>
          <a:noFill/>
          <a:ln/>
        </p:spPr>
        <p:txBody>
          <a:bodyPr wrap="square"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Authenticated Image Loading</a:t>
            </a:r>
            <a:endParaRPr lang="en-US" sz="950" dirty="0"/>
          </a:p>
        </p:txBody>
      </p:sp>
      <p:sp>
        <p:nvSpPr>
          <p:cNvPr id="22" name="Text 20"/>
          <p:cNvSpPr/>
          <p:nvPr/>
        </p:nvSpPr>
        <p:spPr>
          <a:xfrm>
            <a:off x="6446520" y="4069080"/>
            <a:ext cx="2971800" cy="502920"/>
          </a:xfrm>
          <a:prstGeom prst="rect">
            <a:avLst/>
          </a:prstGeom>
          <a:noFill/>
          <a:ln/>
        </p:spPr>
        <p:txBody>
          <a:bodyPr wrap="square" rtlCol="0" anchor="ctr"/>
          <a:lstStyle/>
          <a:p>
            <a:pPr rtl="1" algn="r" indent="0" marL="0">
              <a:buNone/>
            </a:pPr>
            <a:r>
              <a:rPr lang="en-US" sz="1450" b="1" dirty="0">
                <a:solidFill>
                  <a:srgbClr val="0B1F3A"/>
                </a:solidFill>
                <a:latin typeface="Calibri" pitchFamily="34" charset="0"/>
                <a:ea typeface="Calibri" pitchFamily="34" charset="-122"/>
                <a:cs typeface="Calibri" pitchFamily="34" charset="-120"/>
              </a:rPr>
              <a:t>عرض المستندات الحساسة بأمان</a:t>
            </a:r>
            <a:endParaRPr lang="en-US" sz="1450" dirty="0"/>
          </a:p>
        </p:txBody>
      </p:sp>
      <p:sp>
        <p:nvSpPr>
          <p:cNvPr id="23" name="Text 21"/>
          <p:cNvSpPr/>
          <p:nvPr/>
        </p:nvSpPr>
        <p:spPr>
          <a:xfrm>
            <a:off x="6492240" y="4636008"/>
            <a:ext cx="4892040" cy="1051560"/>
          </a:xfrm>
          <a:prstGeom prst="rect">
            <a:avLst/>
          </a:prstGeom>
          <a:noFill/>
          <a:ln/>
        </p:spPr>
        <p:txBody>
          <a:bodyPr wrap="square" rtlCol="0" anchor="t"/>
          <a:lstStyle/>
          <a:p>
            <a:pPr rtl="1" algn="r" indent="0" marL="0">
              <a:lnSpc>
                <a:spcPct val="120000"/>
              </a:lnSpc>
              <a:buNone/>
            </a:pPr>
            <a:r>
              <a:rPr lang="en-US" sz="1150" dirty="0">
                <a:solidFill>
                  <a:srgbClr val="5B6472"/>
                </a:solidFill>
                <a:latin typeface="Calibri" pitchFamily="34" charset="0"/>
                <a:ea typeface="Calibri" pitchFamily="34" charset="-122"/>
                <a:cs typeface="Calibri" pitchFamily="34" charset="-120"/>
              </a:rPr>
              <a:t>لا رابط عام مباشر — كل صورة مستند تُطلَب برمز Bearer Token خاص بالمستخدم نفسه.</a:t>
            </a:r>
            <a:endParaRPr lang="en-US" sz="1150" dirty="0"/>
          </a:p>
        </p:txBody>
      </p:sp>
      <p:sp>
        <p:nvSpPr>
          <p:cNvPr id="24" name="Text 22"/>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5" name="Text 23"/>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الأمان: من التصميم إلى التنفيذ</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مبادئ أمنية مطبَّقة فعليًا في الكود</a:t>
            </a:r>
            <a:endParaRPr lang="en-US" sz="3000" dirty="0"/>
          </a:p>
        </p:txBody>
      </p:sp>
      <p:sp>
        <p:nvSpPr>
          <p:cNvPr id="4" name="Shape 2"/>
          <p:cNvSpPr/>
          <p:nvPr/>
        </p:nvSpPr>
        <p:spPr>
          <a:xfrm>
            <a:off x="640080" y="1709928"/>
            <a:ext cx="384048" cy="384048"/>
          </a:xfrm>
          <a:prstGeom prst="ellipse">
            <a:avLst/>
          </a:prstGeom>
          <a:solidFill>
            <a:srgbClr val="16213E"/>
          </a:solidFill>
          <a:ln/>
        </p:spPr>
      </p:sp>
      <p:sp>
        <p:nvSpPr>
          <p:cNvPr id="5" name="Text 3"/>
          <p:cNvSpPr/>
          <p:nvPr/>
        </p:nvSpPr>
        <p:spPr>
          <a:xfrm>
            <a:off x="640080" y="170992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34440" y="1636776"/>
            <a:ext cx="10378440" cy="320040"/>
          </a:xfrm>
          <a:prstGeom prst="rect">
            <a:avLst/>
          </a:prstGeom>
          <a:noFill/>
          <a:ln/>
        </p:spPr>
        <p:txBody>
          <a:bodyPr wrap="square" rtlCol="0" anchor="ctr"/>
          <a:lstStyle/>
          <a:p>
            <a:pPr rtl="1" algn="r" indent="0" marL="0">
              <a:buNone/>
            </a:pPr>
            <a:r>
              <a:rPr lang="en-US" sz="1350" b="1" dirty="0">
                <a:solidFill>
                  <a:srgbClr val="0B1F3A"/>
                </a:solidFill>
                <a:latin typeface="Calibri" pitchFamily="34" charset="0"/>
                <a:ea typeface="Calibri" pitchFamily="34" charset="-122"/>
                <a:cs typeface="Calibri" pitchFamily="34" charset="-120"/>
              </a:rPr>
              <a:t>لا ثقة بالعميل (Never Trust the Client)</a:t>
            </a:r>
            <a:endParaRPr lang="en-US" sz="1350" dirty="0"/>
          </a:p>
        </p:txBody>
      </p:sp>
      <p:sp>
        <p:nvSpPr>
          <p:cNvPr id="7" name="Text 5"/>
          <p:cNvSpPr/>
          <p:nvPr/>
        </p:nvSpPr>
        <p:spPr>
          <a:xfrm>
            <a:off x="1234440" y="1947672"/>
            <a:ext cx="10378440" cy="365760"/>
          </a:xfrm>
          <a:prstGeom prst="rect">
            <a:avLst/>
          </a:prstGeom>
          <a:noFill/>
          <a:ln/>
        </p:spPr>
        <p:txBody>
          <a:bodyPr wrap="square" rtlCol="0" anchor="ctr"/>
          <a:lstStyle/>
          <a:p>
            <a:pPr rtl="1" algn="r" indent="0" marL="0">
              <a:buNone/>
            </a:pPr>
            <a:r>
              <a:rPr lang="en-US" sz="1150" dirty="0">
                <a:solidFill>
                  <a:srgbClr val="5B6472"/>
                </a:solidFill>
                <a:latin typeface="Calibri" pitchFamily="34" charset="0"/>
                <a:ea typeface="Calibri" pitchFamily="34" charset="-122"/>
                <a:cs typeface="Calibri" pitchFamily="34" charset="-120"/>
              </a:rPr>
              <a:t>كل سعر وكل صلاحية تُعاد حسابهما والتحقق منهما من طرف الخادم دومًا، بصرف النظر عمّا يرسله التطبيق.</a:t>
            </a:r>
            <a:endParaRPr lang="en-US" sz="1150" dirty="0"/>
          </a:p>
        </p:txBody>
      </p:sp>
      <p:sp>
        <p:nvSpPr>
          <p:cNvPr id="8" name="Shape 6"/>
          <p:cNvSpPr/>
          <p:nvPr/>
        </p:nvSpPr>
        <p:spPr>
          <a:xfrm>
            <a:off x="640080" y="2377440"/>
            <a:ext cx="384048" cy="384048"/>
          </a:xfrm>
          <a:prstGeom prst="ellipse">
            <a:avLst/>
          </a:prstGeom>
          <a:solidFill>
            <a:srgbClr val="16213E"/>
          </a:solidFill>
          <a:ln/>
        </p:spPr>
      </p:sp>
      <p:sp>
        <p:nvSpPr>
          <p:cNvPr id="9" name="Text 7"/>
          <p:cNvSpPr/>
          <p:nvPr/>
        </p:nvSpPr>
        <p:spPr>
          <a:xfrm>
            <a:off x="640080" y="2377440"/>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234440" y="2304288"/>
            <a:ext cx="10378440" cy="320040"/>
          </a:xfrm>
          <a:prstGeom prst="rect">
            <a:avLst/>
          </a:prstGeom>
          <a:noFill/>
          <a:ln/>
        </p:spPr>
        <p:txBody>
          <a:bodyPr wrap="square" rtlCol="0" anchor="ctr"/>
          <a:lstStyle/>
          <a:p>
            <a:pPr rtl="1" algn="r" indent="0" marL="0">
              <a:buNone/>
            </a:pPr>
            <a:r>
              <a:rPr lang="en-US" sz="1350" b="1" dirty="0">
                <a:solidFill>
                  <a:srgbClr val="0B1F3A"/>
                </a:solidFill>
                <a:latin typeface="Calibri" pitchFamily="34" charset="0"/>
                <a:ea typeface="Calibri" pitchFamily="34" charset="-122"/>
                <a:cs typeface="Calibri" pitchFamily="34" charset="-120"/>
              </a:rPr>
              <a:t>منع الوصول غير المصرَّح (IDOR)</a:t>
            </a:r>
            <a:endParaRPr lang="en-US" sz="1350" dirty="0"/>
          </a:p>
        </p:txBody>
      </p:sp>
      <p:sp>
        <p:nvSpPr>
          <p:cNvPr id="11" name="Text 9"/>
          <p:cNvSpPr/>
          <p:nvPr/>
        </p:nvSpPr>
        <p:spPr>
          <a:xfrm>
            <a:off x="1234440" y="2615184"/>
            <a:ext cx="10378440" cy="365760"/>
          </a:xfrm>
          <a:prstGeom prst="rect">
            <a:avLst/>
          </a:prstGeom>
          <a:noFill/>
          <a:ln/>
        </p:spPr>
        <p:txBody>
          <a:bodyPr wrap="square" rtlCol="0" anchor="ctr"/>
          <a:lstStyle/>
          <a:p>
            <a:pPr rtl="1" algn="r" indent="0" marL="0">
              <a:buNone/>
            </a:pPr>
            <a:r>
              <a:rPr lang="en-US" sz="1150" dirty="0">
                <a:solidFill>
                  <a:srgbClr val="5B6472"/>
                </a:solidFill>
                <a:latin typeface="Calibri" pitchFamily="34" charset="0"/>
                <a:ea typeface="Calibri" pitchFamily="34" charset="-122"/>
                <a:cs typeface="Calibri" pitchFamily="34" charset="-120"/>
              </a:rPr>
              <a:t>كل نقطة نهاية تتحقق أن الطالب هو صاحب البيانات فعليًا أو يملك صلاحية إدارية صريحة — لا الاعتماد على معرّف يُرسَل من التطبيق فقط.</a:t>
            </a:r>
            <a:endParaRPr lang="en-US" sz="1150" dirty="0"/>
          </a:p>
        </p:txBody>
      </p:sp>
      <p:sp>
        <p:nvSpPr>
          <p:cNvPr id="12" name="Shape 10"/>
          <p:cNvSpPr/>
          <p:nvPr/>
        </p:nvSpPr>
        <p:spPr>
          <a:xfrm>
            <a:off x="640080" y="3044952"/>
            <a:ext cx="384048" cy="384048"/>
          </a:xfrm>
          <a:prstGeom prst="ellipse">
            <a:avLst/>
          </a:prstGeom>
          <a:solidFill>
            <a:srgbClr val="16213E"/>
          </a:solidFill>
          <a:ln/>
        </p:spPr>
      </p:sp>
      <p:sp>
        <p:nvSpPr>
          <p:cNvPr id="13" name="Text 11"/>
          <p:cNvSpPr/>
          <p:nvPr/>
        </p:nvSpPr>
        <p:spPr>
          <a:xfrm>
            <a:off x="640080" y="3044952"/>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234440" y="2971800"/>
            <a:ext cx="10378440" cy="320040"/>
          </a:xfrm>
          <a:prstGeom prst="rect">
            <a:avLst/>
          </a:prstGeom>
          <a:noFill/>
          <a:ln/>
        </p:spPr>
        <p:txBody>
          <a:bodyPr wrap="square" rtlCol="0" anchor="ctr"/>
          <a:lstStyle/>
          <a:p>
            <a:pPr rtl="1" algn="r" indent="0" marL="0">
              <a:buNone/>
            </a:pPr>
            <a:r>
              <a:rPr lang="en-US" sz="1350" b="1" dirty="0">
                <a:solidFill>
                  <a:srgbClr val="0B1F3A"/>
                </a:solidFill>
                <a:latin typeface="Calibri" pitchFamily="34" charset="0"/>
                <a:ea typeface="Calibri" pitchFamily="34" charset="-122"/>
                <a:cs typeface="Calibri" pitchFamily="34" charset="-120"/>
              </a:rPr>
              <a:t>تخزين خاص للمستندات الحساسة</a:t>
            </a:r>
            <a:endParaRPr lang="en-US" sz="1350" dirty="0"/>
          </a:p>
        </p:txBody>
      </p:sp>
      <p:sp>
        <p:nvSpPr>
          <p:cNvPr id="15" name="Text 13"/>
          <p:cNvSpPr/>
          <p:nvPr/>
        </p:nvSpPr>
        <p:spPr>
          <a:xfrm>
            <a:off x="1234440" y="3282696"/>
            <a:ext cx="10378440" cy="365760"/>
          </a:xfrm>
          <a:prstGeom prst="rect">
            <a:avLst/>
          </a:prstGeom>
          <a:noFill/>
          <a:ln/>
        </p:spPr>
        <p:txBody>
          <a:bodyPr wrap="square" rtlCol="0" anchor="ctr"/>
          <a:lstStyle/>
          <a:p>
            <a:pPr rtl="1" algn="r" indent="0" marL="0">
              <a:buNone/>
            </a:pPr>
            <a:r>
              <a:rPr lang="en-US" sz="1150" dirty="0">
                <a:solidFill>
                  <a:srgbClr val="5B6472"/>
                </a:solidFill>
                <a:latin typeface="Calibri" pitchFamily="34" charset="0"/>
                <a:ea typeface="Calibri" pitchFamily="34" charset="-122"/>
                <a:cs typeface="Calibri" pitchFamily="34" charset="-120"/>
              </a:rPr>
              <a:t>رخص، جوازات، وأدلّة الامتثال نُقلت من التخزين العام إلى قرص خاص، ولا تُعرض إلا عبر طلب مصادَق لكل ملف.</a:t>
            </a:r>
            <a:endParaRPr lang="en-US" sz="1150" dirty="0"/>
          </a:p>
        </p:txBody>
      </p:sp>
      <p:sp>
        <p:nvSpPr>
          <p:cNvPr id="16" name="Shape 14"/>
          <p:cNvSpPr/>
          <p:nvPr/>
        </p:nvSpPr>
        <p:spPr>
          <a:xfrm>
            <a:off x="640080" y="3712464"/>
            <a:ext cx="384048" cy="384048"/>
          </a:xfrm>
          <a:prstGeom prst="ellipse">
            <a:avLst/>
          </a:prstGeom>
          <a:solidFill>
            <a:srgbClr val="16213E"/>
          </a:solidFill>
          <a:ln/>
        </p:spPr>
      </p:sp>
      <p:sp>
        <p:nvSpPr>
          <p:cNvPr id="17" name="Text 15"/>
          <p:cNvSpPr/>
          <p:nvPr/>
        </p:nvSpPr>
        <p:spPr>
          <a:xfrm>
            <a:off x="640080" y="3712464"/>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234440" y="3639312"/>
            <a:ext cx="10378440" cy="320040"/>
          </a:xfrm>
          <a:prstGeom prst="rect">
            <a:avLst/>
          </a:prstGeom>
          <a:noFill/>
          <a:ln/>
        </p:spPr>
        <p:txBody>
          <a:bodyPr wrap="square" rtlCol="0" anchor="ctr"/>
          <a:lstStyle/>
          <a:p>
            <a:pPr rtl="1" algn="r" indent="0" marL="0">
              <a:buNone/>
            </a:pPr>
            <a:r>
              <a:rPr lang="en-US" sz="1350" b="1" dirty="0">
                <a:solidFill>
                  <a:srgbClr val="0B1F3A"/>
                </a:solidFill>
                <a:latin typeface="Calibri" pitchFamily="34" charset="0"/>
                <a:ea typeface="Calibri" pitchFamily="34" charset="-122"/>
                <a:cs typeface="Calibri" pitchFamily="34" charset="-120"/>
              </a:rPr>
              <a:t>دفاع مزدوج (Defense in Depth)</a:t>
            </a:r>
            <a:endParaRPr lang="en-US" sz="1350" dirty="0"/>
          </a:p>
        </p:txBody>
      </p:sp>
      <p:sp>
        <p:nvSpPr>
          <p:cNvPr id="19" name="Text 17"/>
          <p:cNvSpPr/>
          <p:nvPr/>
        </p:nvSpPr>
        <p:spPr>
          <a:xfrm>
            <a:off x="1234440" y="3950208"/>
            <a:ext cx="10378440" cy="365760"/>
          </a:xfrm>
          <a:prstGeom prst="rect">
            <a:avLst/>
          </a:prstGeom>
          <a:noFill/>
          <a:ln/>
        </p:spPr>
        <p:txBody>
          <a:bodyPr wrap="square" rtlCol="0" anchor="ctr"/>
          <a:lstStyle/>
          <a:p>
            <a:pPr rtl="1" algn="r" indent="0" marL="0">
              <a:buNone/>
            </a:pPr>
            <a:r>
              <a:rPr lang="en-US" sz="1150" dirty="0">
                <a:solidFill>
                  <a:srgbClr val="5B6472"/>
                </a:solidFill>
                <a:latin typeface="Calibri" pitchFamily="34" charset="0"/>
                <a:ea typeface="Calibri" pitchFamily="34" charset="-122"/>
                <a:cs typeface="Calibri" pitchFamily="34" charset="-120"/>
              </a:rPr>
              <a:t>قواعد الأهلية الحرجة (كتغطية خط السير، صلاحية المستندات) تُتحقَّق مرتين: مرة في شاشة العروض المتاحة، ومرة عند لحظة القبول الفعلي.</a:t>
            </a:r>
            <a:endParaRPr lang="en-US" sz="1150" dirty="0"/>
          </a:p>
        </p:txBody>
      </p:sp>
      <p:sp>
        <p:nvSpPr>
          <p:cNvPr id="20" name="Shape 18"/>
          <p:cNvSpPr/>
          <p:nvPr/>
        </p:nvSpPr>
        <p:spPr>
          <a:xfrm>
            <a:off x="640080" y="4379976"/>
            <a:ext cx="384048" cy="384048"/>
          </a:xfrm>
          <a:prstGeom prst="ellipse">
            <a:avLst/>
          </a:prstGeom>
          <a:solidFill>
            <a:srgbClr val="16213E"/>
          </a:solidFill>
          <a:ln/>
        </p:spPr>
      </p:sp>
      <p:sp>
        <p:nvSpPr>
          <p:cNvPr id="21" name="Text 19"/>
          <p:cNvSpPr/>
          <p:nvPr/>
        </p:nvSpPr>
        <p:spPr>
          <a:xfrm>
            <a:off x="640080" y="4379976"/>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234440" y="4306824"/>
            <a:ext cx="10378440" cy="320040"/>
          </a:xfrm>
          <a:prstGeom prst="rect">
            <a:avLst/>
          </a:prstGeom>
          <a:noFill/>
          <a:ln/>
        </p:spPr>
        <p:txBody>
          <a:bodyPr wrap="square" rtlCol="0" anchor="ctr"/>
          <a:lstStyle/>
          <a:p>
            <a:pPr rtl="1" algn="r" indent="0" marL="0">
              <a:buNone/>
            </a:pPr>
            <a:r>
              <a:rPr lang="en-US" sz="1350" b="1" dirty="0">
                <a:solidFill>
                  <a:srgbClr val="0B1F3A"/>
                </a:solidFill>
                <a:latin typeface="Calibri" pitchFamily="34" charset="0"/>
                <a:ea typeface="Calibri" pitchFamily="34" charset="-122"/>
                <a:cs typeface="Calibri" pitchFamily="34" charset="-120"/>
              </a:rPr>
              <a:t>رقابة مزدوجة على المال (Dual Control)</a:t>
            </a:r>
            <a:endParaRPr lang="en-US" sz="1350" dirty="0"/>
          </a:p>
        </p:txBody>
      </p:sp>
      <p:sp>
        <p:nvSpPr>
          <p:cNvPr id="23" name="Text 21"/>
          <p:cNvSpPr/>
          <p:nvPr/>
        </p:nvSpPr>
        <p:spPr>
          <a:xfrm>
            <a:off x="1234440" y="4617720"/>
            <a:ext cx="10378440" cy="365760"/>
          </a:xfrm>
          <a:prstGeom prst="rect">
            <a:avLst/>
          </a:prstGeom>
          <a:noFill/>
          <a:ln/>
        </p:spPr>
        <p:txBody>
          <a:bodyPr wrap="square" rtlCol="0" anchor="ctr"/>
          <a:lstStyle/>
          <a:p>
            <a:pPr rtl="1" algn="r" indent="0" marL="0">
              <a:buNone/>
            </a:pPr>
            <a:r>
              <a:rPr lang="en-US" sz="1150" dirty="0">
                <a:solidFill>
                  <a:srgbClr val="5B6472"/>
                </a:solidFill>
                <a:latin typeface="Calibri" pitchFamily="34" charset="0"/>
                <a:ea typeface="Calibri" pitchFamily="34" charset="-122"/>
                <a:cs typeface="Calibri" pitchFamily="34" charset="-120"/>
              </a:rPr>
              <a:t>أي تعديل مالي يدوي يقترحه مسؤول مالي يجب أن يعتمده Super Admin منفصل قبل أن يؤثر فعليًا على أي رصيد.</a:t>
            </a:r>
            <a:endParaRPr lang="en-US" sz="1150" dirty="0"/>
          </a:p>
        </p:txBody>
      </p:sp>
      <p:sp>
        <p:nvSpPr>
          <p:cNvPr id="24" name="Shape 22"/>
          <p:cNvSpPr/>
          <p:nvPr/>
        </p:nvSpPr>
        <p:spPr>
          <a:xfrm>
            <a:off x="640080" y="5047488"/>
            <a:ext cx="384048" cy="384048"/>
          </a:xfrm>
          <a:prstGeom prst="ellipse">
            <a:avLst/>
          </a:prstGeom>
          <a:solidFill>
            <a:srgbClr val="16213E"/>
          </a:solidFill>
          <a:ln/>
        </p:spPr>
      </p:sp>
      <p:sp>
        <p:nvSpPr>
          <p:cNvPr id="25" name="Text 23"/>
          <p:cNvSpPr/>
          <p:nvPr/>
        </p:nvSpPr>
        <p:spPr>
          <a:xfrm>
            <a:off x="640080" y="5047488"/>
            <a:ext cx="384048" cy="384048"/>
          </a:xfrm>
          <a:prstGeom prst="rect">
            <a:avLst/>
          </a:prstGeom>
          <a:noFill/>
          <a:ln/>
        </p:spPr>
        <p:txBody>
          <a:bodyPr wrap="square" rtlCol="0" anchor="ctr"/>
          <a:lstStyle/>
          <a:p>
            <a:pPr algn="ctr" indent="0" marL="0">
              <a:buNone/>
            </a:pPr>
            <a:r>
              <a:rPr lang="en-US" sz="1600" b="1" dirty="0">
                <a:solidFill>
                  <a:srgbClr val="D4AF37"/>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1234440" y="4974336"/>
            <a:ext cx="10378440" cy="320040"/>
          </a:xfrm>
          <a:prstGeom prst="rect">
            <a:avLst/>
          </a:prstGeom>
          <a:noFill/>
          <a:ln/>
        </p:spPr>
        <p:txBody>
          <a:bodyPr wrap="square" rtlCol="0" anchor="ctr"/>
          <a:lstStyle/>
          <a:p>
            <a:pPr rtl="1" algn="r" indent="0" marL="0">
              <a:buNone/>
            </a:pPr>
            <a:r>
              <a:rPr lang="en-US" sz="1350" b="1" dirty="0">
                <a:solidFill>
                  <a:srgbClr val="0B1F3A"/>
                </a:solidFill>
                <a:latin typeface="Calibri" pitchFamily="34" charset="0"/>
                <a:ea typeface="Calibri" pitchFamily="34" charset="-122"/>
                <a:cs typeface="Calibri" pitchFamily="34" charset="-120"/>
              </a:rPr>
              <a:t>منع تسابق العمليات (Race Conditions)</a:t>
            </a:r>
            <a:endParaRPr lang="en-US" sz="1350" dirty="0"/>
          </a:p>
        </p:txBody>
      </p:sp>
      <p:sp>
        <p:nvSpPr>
          <p:cNvPr id="27" name="Text 25"/>
          <p:cNvSpPr/>
          <p:nvPr/>
        </p:nvSpPr>
        <p:spPr>
          <a:xfrm>
            <a:off x="1234440" y="5285232"/>
            <a:ext cx="10378440" cy="365760"/>
          </a:xfrm>
          <a:prstGeom prst="rect">
            <a:avLst/>
          </a:prstGeom>
          <a:noFill/>
          <a:ln/>
        </p:spPr>
        <p:txBody>
          <a:bodyPr wrap="square" rtlCol="0" anchor="ctr"/>
          <a:lstStyle/>
          <a:p>
            <a:pPr rtl="1" algn="r" indent="0" marL="0">
              <a:buNone/>
            </a:pPr>
            <a:r>
              <a:rPr lang="en-US" sz="1150" dirty="0">
                <a:solidFill>
                  <a:srgbClr val="5B6472"/>
                </a:solidFill>
                <a:latin typeface="Calibri" pitchFamily="34" charset="0"/>
                <a:ea typeface="Calibri" pitchFamily="34" charset="-122"/>
                <a:cs typeface="Calibri" pitchFamily="34" charset="-120"/>
              </a:rPr>
              <a:t>قفل صفوف قاعدة البيانات أثناء العمليات المالية المتزامنة (إنشاء عروض، تأكيد تسليم) يمنع الخصم أو الدفع المزدوج.</a:t>
            </a:r>
            <a:endParaRPr lang="en-US" sz="1150" dirty="0"/>
          </a:p>
        </p:txBody>
      </p:sp>
      <p:sp>
        <p:nvSpPr>
          <p:cNvPr id="28" name="Text 26"/>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9" name="Text 27"/>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الجودة والإنجازات</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التحقق من صحة النظام وأبرز ما تحقق</a:t>
            </a:r>
            <a:endParaRPr lang="en-US" sz="3000" dirty="0"/>
          </a:p>
        </p:txBody>
      </p:sp>
      <p:sp>
        <p:nvSpPr>
          <p:cNvPr id="4" name="Shape 2"/>
          <p:cNvSpPr/>
          <p:nvPr/>
        </p:nvSpPr>
        <p:spPr>
          <a:xfrm>
            <a:off x="548640" y="1691640"/>
            <a:ext cx="2651760" cy="1554480"/>
          </a:xfrm>
          <a:prstGeom prst="roundRect">
            <a:avLst>
              <a:gd name="adj" fmla="val 5294"/>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5" name="Text 3"/>
          <p:cNvSpPr/>
          <p:nvPr/>
        </p:nvSpPr>
        <p:spPr>
          <a:xfrm>
            <a:off x="548640" y="1783080"/>
            <a:ext cx="2651760" cy="777240"/>
          </a:xfrm>
          <a:prstGeom prst="rect">
            <a:avLst/>
          </a:prstGeom>
          <a:noFill/>
          <a:ln/>
        </p:spPr>
        <p:txBody>
          <a:bodyPr wrap="square" rtlCol="0" anchor="ctr"/>
          <a:lstStyle/>
          <a:p>
            <a:pPr algn="ctr" indent="0" marL="0">
              <a:buNone/>
            </a:pPr>
            <a:r>
              <a:rPr lang="en-US" sz="3800" b="1" dirty="0">
                <a:solidFill>
                  <a:srgbClr val="D4AF37"/>
                </a:solidFill>
                <a:latin typeface="Cambria" pitchFamily="34" charset="0"/>
                <a:ea typeface="Cambria" pitchFamily="34" charset="-122"/>
                <a:cs typeface="Cambria" pitchFamily="34" charset="-120"/>
              </a:rPr>
              <a:t>79</a:t>
            </a:r>
            <a:endParaRPr lang="en-US" sz="3800" dirty="0"/>
          </a:p>
        </p:txBody>
      </p:sp>
      <p:sp>
        <p:nvSpPr>
          <p:cNvPr id="6" name="Text 4"/>
          <p:cNvSpPr/>
          <p:nvPr/>
        </p:nvSpPr>
        <p:spPr>
          <a:xfrm>
            <a:off x="685800" y="2560320"/>
            <a:ext cx="2377440" cy="548640"/>
          </a:xfrm>
          <a:prstGeom prst="rect">
            <a:avLst/>
          </a:prstGeom>
          <a:noFill/>
          <a:ln/>
        </p:spPr>
        <p:txBody>
          <a:bodyPr wrap="square" rtlCol="0" anchor="ctr"/>
          <a:lstStyle/>
          <a:p>
            <a:pPr rtl="1" algn="ctr" indent="0" marL="0">
              <a:buNone/>
            </a:pPr>
            <a:r>
              <a:rPr lang="en-US" sz="1100" dirty="0">
                <a:solidFill>
                  <a:srgbClr val="FFFFFF"/>
                </a:solidFill>
                <a:latin typeface="Calibri" pitchFamily="34" charset="0"/>
                <a:ea typeface="Calibri" pitchFamily="34" charset="-122"/>
                <a:cs typeface="Calibri" pitchFamily="34" charset="-120"/>
              </a:rPr>
              <a:t>اختبار آلي</a:t>
            </a:r>
            <a:endParaRPr lang="en-US" sz="1100" dirty="0"/>
          </a:p>
          <a:p>
            <a:pPr rtl="1" algn="ctr" indent="0" marL="0">
              <a:buNone/>
            </a:pPr>
            <a:r>
              <a:rPr lang="en-US" sz="1100" dirty="0">
                <a:solidFill>
                  <a:srgbClr val="FFFFFF"/>
                </a:solidFill>
                <a:latin typeface="Calibri" pitchFamily="34" charset="0"/>
                <a:ea typeface="Calibri" pitchFamily="34" charset="-122"/>
                <a:cs typeface="Calibri" pitchFamily="34" charset="-120"/>
              </a:rPr>
              <a:t>ناجح (PHPUnit)</a:t>
            </a:r>
            <a:endParaRPr lang="en-US" sz="1100" dirty="0"/>
          </a:p>
        </p:txBody>
      </p:sp>
      <p:sp>
        <p:nvSpPr>
          <p:cNvPr id="7" name="Shape 5"/>
          <p:cNvSpPr/>
          <p:nvPr/>
        </p:nvSpPr>
        <p:spPr>
          <a:xfrm>
            <a:off x="3383280" y="1691640"/>
            <a:ext cx="2651760" cy="1554480"/>
          </a:xfrm>
          <a:prstGeom prst="roundRect">
            <a:avLst>
              <a:gd name="adj" fmla="val 5294"/>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8" name="Text 6"/>
          <p:cNvSpPr/>
          <p:nvPr/>
        </p:nvSpPr>
        <p:spPr>
          <a:xfrm>
            <a:off x="3383280" y="1783080"/>
            <a:ext cx="2651760" cy="777240"/>
          </a:xfrm>
          <a:prstGeom prst="rect">
            <a:avLst/>
          </a:prstGeom>
          <a:noFill/>
          <a:ln/>
        </p:spPr>
        <p:txBody>
          <a:bodyPr wrap="square" rtlCol="0" anchor="ctr"/>
          <a:lstStyle/>
          <a:p>
            <a:pPr algn="ctr" indent="0" marL="0">
              <a:buNone/>
            </a:pPr>
            <a:r>
              <a:rPr lang="en-US" sz="3800" b="1" dirty="0">
                <a:solidFill>
                  <a:srgbClr val="D4AF37"/>
                </a:solidFill>
                <a:latin typeface="Cambria" pitchFamily="34" charset="0"/>
                <a:ea typeface="Cambria" pitchFamily="34" charset="-122"/>
                <a:cs typeface="Cambria" pitchFamily="34" charset="-120"/>
              </a:rPr>
              <a:t>90</a:t>
            </a:r>
            <a:endParaRPr lang="en-US" sz="3800" dirty="0"/>
          </a:p>
        </p:txBody>
      </p:sp>
      <p:sp>
        <p:nvSpPr>
          <p:cNvPr id="9" name="Text 7"/>
          <p:cNvSpPr/>
          <p:nvPr/>
        </p:nvSpPr>
        <p:spPr>
          <a:xfrm>
            <a:off x="3520440" y="2560320"/>
            <a:ext cx="2377440" cy="548640"/>
          </a:xfrm>
          <a:prstGeom prst="rect">
            <a:avLst/>
          </a:prstGeom>
          <a:noFill/>
          <a:ln/>
        </p:spPr>
        <p:txBody>
          <a:bodyPr wrap="square" rtlCol="0" anchor="ctr"/>
          <a:lstStyle/>
          <a:p>
            <a:pPr rtl="1" algn="ctr" indent="0" marL="0">
              <a:buNone/>
            </a:pPr>
            <a:r>
              <a:rPr lang="en-US" sz="1100" dirty="0">
                <a:solidFill>
                  <a:srgbClr val="FFFFFF"/>
                </a:solidFill>
                <a:latin typeface="Calibri" pitchFamily="34" charset="0"/>
                <a:ea typeface="Calibri" pitchFamily="34" charset="-122"/>
                <a:cs typeface="Calibri" pitchFamily="34" charset="-120"/>
              </a:rPr>
              <a:t>شاشة Flutter</a:t>
            </a:r>
            <a:endParaRPr lang="en-US" sz="1100" dirty="0"/>
          </a:p>
          <a:p>
            <a:pPr rtl="1" algn="ctr" indent="0" marL="0">
              <a:buNone/>
            </a:pPr>
            <a:r>
              <a:rPr lang="en-US" sz="1100" dirty="0">
                <a:solidFill>
                  <a:srgbClr val="FFFFFF"/>
                </a:solidFill>
                <a:latin typeface="Calibri" pitchFamily="34" charset="0"/>
                <a:ea typeface="Calibri" pitchFamily="34" charset="-122"/>
                <a:cs typeface="Calibri" pitchFamily="34" charset="-120"/>
              </a:rPr>
              <a:t>مصنّفة حسب الدور</a:t>
            </a:r>
            <a:endParaRPr lang="en-US" sz="1100" dirty="0"/>
          </a:p>
        </p:txBody>
      </p:sp>
      <p:sp>
        <p:nvSpPr>
          <p:cNvPr id="10" name="Shape 8"/>
          <p:cNvSpPr/>
          <p:nvPr/>
        </p:nvSpPr>
        <p:spPr>
          <a:xfrm>
            <a:off x="6217920" y="1691640"/>
            <a:ext cx="2651760" cy="1554480"/>
          </a:xfrm>
          <a:prstGeom prst="roundRect">
            <a:avLst>
              <a:gd name="adj" fmla="val 5294"/>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11" name="Text 9"/>
          <p:cNvSpPr/>
          <p:nvPr/>
        </p:nvSpPr>
        <p:spPr>
          <a:xfrm>
            <a:off x="6217920" y="1783080"/>
            <a:ext cx="2651760" cy="777240"/>
          </a:xfrm>
          <a:prstGeom prst="rect">
            <a:avLst/>
          </a:prstGeom>
          <a:noFill/>
          <a:ln/>
        </p:spPr>
        <p:txBody>
          <a:bodyPr wrap="square" rtlCol="0" anchor="ctr"/>
          <a:lstStyle/>
          <a:p>
            <a:pPr algn="ctr" indent="0" marL="0">
              <a:buNone/>
            </a:pPr>
            <a:r>
              <a:rPr lang="en-US" sz="3800" b="1" dirty="0">
                <a:solidFill>
                  <a:srgbClr val="D4AF37"/>
                </a:solidFill>
                <a:latin typeface="Cambria" pitchFamily="34" charset="0"/>
                <a:ea typeface="Cambria" pitchFamily="34" charset="-122"/>
                <a:cs typeface="Cambria" pitchFamily="34" charset="-120"/>
              </a:rPr>
              <a:t>3</a:t>
            </a:r>
            <a:endParaRPr lang="en-US" sz="3800" dirty="0"/>
          </a:p>
        </p:txBody>
      </p:sp>
      <p:sp>
        <p:nvSpPr>
          <p:cNvPr id="12" name="Text 10"/>
          <p:cNvSpPr/>
          <p:nvPr/>
        </p:nvSpPr>
        <p:spPr>
          <a:xfrm>
            <a:off x="6355080" y="2560320"/>
            <a:ext cx="2377440" cy="548640"/>
          </a:xfrm>
          <a:prstGeom prst="rect">
            <a:avLst/>
          </a:prstGeom>
          <a:noFill/>
          <a:ln/>
        </p:spPr>
        <p:txBody>
          <a:bodyPr wrap="square" rtlCol="0" anchor="ctr"/>
          <a:lstStyle/>
          <a:p>
            <a:pPr rtl="1" algn="ctr" indent="0" marL="0">
              <a:buNone/>
            </a:pPr>
            <a:r>
              <a:rPr lang="en-US" sz="1100" dirty="0">
                <a:solidFill>
                  <a:srgbClr val="FFFFFF"/>
                </a:solidFill>
                <a:latin typeface="Calibri" pitchFamily="34" charset="0"/>
                <a:ea typeface="Calibri" pitchFamily="34" charset="-122"/>
                <a:cs typeface="Calibri" pitchFamily="34" charset="-120"/>
              </a:rPr>
              <a:t>أدوار مستخدمين</a:t>
            </a:r>
            <a:endParaRPr lang="en-US" sz="1100" dirty="0"/>
          </a:p>
          <a:p>
            <a:pPr rtl="1" algn="ctr" indent="0" marL="0">
              <a:buNone/>
            </a:pPr>
            <a:r>
              <a:rPr lang="en-US" sz="1100" dirty="0">
                <a:solidFill>
                  <a:srgbClr val="FFFFFF"/>
                </a:solidFill>
                <a:latin typeface="Calibri" pitchFamily="34" charset="0"/>
                <a:ea typeface="Calibri" pitchFamily="34" charset="-122"/>
                <a:cs typeface="Calibri" pitchFamily="34" charset="-120"/>
              </a:rPr>
              <a:t>مدعومة بالكامل</a:t>
            </a:r>
            <a:endParaRPr lang="en-US" sz="1100" dirty="0"/>
          </a:p>
        </p:txBody>
      </p:sp>
      <p:sp>
        <p:nvSpPr>
          <p:cNvPr id="13" name="Shape 11"/>
          <p:cNvSpPr/>
          <p:nvPr/>
        </p:nvSpPr>
        <p:spPr>
          <a:xfrm>
            <a:off x="9052560" y="1691640"/>
            <a:ext cx="2651760" cy="1554480"/>
          </a:xfrm>
          <a:prstGeom prst="roundRect">
            <a:avLst>
              <a:gd name="adj" fmla="val 5294"/>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14" name="Text 12"/>
          <p:cNvSpPr/>
          <p:nvPr/>
        </p:nvSpPr>
        <p:spPr>
          <a:xfrm>
            <a:off x="9052560" y="1783080"/>
            <a:ext cx="2651760" cy="777240"/>
          </a:xfrm>
          <a:prstGeom prst="rect">
            <a:avLst/>
          </a:prstGeom>
          <a:noFill/>
          <a:ln/>
        </p:spPr>
        <p:txBody>
          <a:bodyPr wrap="square" rtlCol="0" anchor="ctr"/>
          <a:lstStyle/>
          <a:p>
            <a:pPr algn="ctr" indent="0" marL="0">
              <a:buNone/>
            </a:pPr>
            <a:r>
              <a:rPr lang="en-US" sz="3800" b="1" dirty="0">
                <a:solidFill>
                  <a:srgbClr val="D4AF37"/>
                </a:solidFill>
                <a:latin typeface="Cambria" pitchFamily="34" charset="0"/>
                <a:ea typeface="Cambria" pitchFamily="34" charset="-122"/>
                <a:cs typeface="Cambria" pitchFamily="34" charset="-120"/>
              </a:rPr>
              <a:t>100%</a:t>
            </a:r>
            <a:endParaRPr lang="en-US" sz="3800" dirty="0"/>
          </a:p>
        </p:txBody>
      </p:sp>
      <p:sp>
        <p:nvSpPr>
          <p:cNvPr id="15" name="Text 13"/>
          <p:cNvSpPr/>
          <p:nvPr/>
        </p:nvSpPr>
        <p:spPr>
          <a:xfrm>
            <a:off x="9189720" y="2560320"/>
            <a:ext cx="2377440" cy="548640"/>
          </a:xfrm>
          <a:prstGeom prst="rect">
            <a:avLst/>
          </a:prstGeom>
          <a:noFill/>
          <a:ln/>
        </p:spPr>
        <p:txBody>
          <a:bodyPr wrap="square" rtlCol="0" anchor="ctr"/>
          <a:lstStyle/>
          <a:p>
            <a:pPr rtl="1" algn="ctr" indent="0" marL="0">
              <a:buNone/>
            </a:pPr>
            <a:r>
              <a:rPr lang="en-US" sz="1100" dirty="0">
                <a:solidFill>
                  <a:srgbClr val="FFFFFF"/>
                </a:solidFill>
                <a:latin typeface="Calibri" pitchFamily="34" charset="0"/>
                <a:ea typeface="Calibri" pitchFamily="34" charset="-122"/>
                <a:cs typeface="Calibri" pitchFamily="34" charset="-120"/>
              </a:rPr>
              <a:t>من التسعير</a:t>
            </a:r>
            <a:endParaRPr lang="en-US" sz="1100" dirty="0"/>
          </a:p>
          <a:p>
            <a:pPr rtl="1" algn="ctr" indent="0" marL="0">
              <a:buNone/>
            </a:pPr>
            <a:r>
              <a:rPr lang="en-US" sz="1100" dirty="0">
                <a:solidFill>
                  <a:srgbClr val="FFFFFF"/>
                </a:solidFill>
                <a:latin typeface="Calibri" pitchFamily="34" charset="0"/>
                <a:ea typeface="Calibri" pitchFamily="34" charset="-122"/>
                <a:cs typeface="Calibri" pitchFamily="34" charset="-120"/>
              </a:rPr>
              <a:t>آلي أو شبه آلي</a:t>
            </a:r>
            <a:endParaRPr lang="en-US" sz="1100" dirty="0"/>
          </a:p>
        </p:txBody>
      </p:sp>
      <p:sp>
        <p:nvSpPr>
          <p:cNvPr id="16" name="Text 14"/>
          <p:cNvSpPr/>
          <p:nvPr/>
        </p:nvSpPr>
        <p:spPr>
          <a:xfrm>
            <a:off x="548640" y="3520440"/>
            <a:ext cx="11109960" cy="365760"/>
          </a:xfrm>
          <a:prstGeom prst="rect">
            <a:avLst/>
          </a:prstGeom>
          <a:noFill/>
          <a:ln/>
        </p:spPr>
        <p:txBody>
          <a:bodyPr wrap="square" rtlCol="0" anchor="ctr"/>
          <a:lstStyle/>
          <a:p>
            <a:pPr rtl="1" algn="r" indent="0" marL="0">
              <a:buNone/>
            </a:pPr>
            <a:r>
              <a:rPr lang="en-US" sz="1500" b="1" dirty="0">
                <a:solidFill>
                  <a:srgbClr val="0B1F3A"/>
                </a:solidFill>
                <a:latin typeface="Calibri" pitchFamily="34" charset="0"/>
                <a:ea typeface="Calibri" pitchFamily="34" charset="-122"/>
                <a:cs typeface="Calibri" pitchFamily="34" charset="-120"/>
              </a:rPr>
              <a:t>أبرز الإنجازات التقنية</a:t>
            </a:r>
            <a:endParaRPr lang="en-US" sz="1500" dirty="0"/>
          </a:p>
        </p:txBody>
      </p:sp>
      <p:sp>
        <p:nvSpPr>
          <p:cNvPr id="17" name="Shape 15"/>
          <p:cNvSpPr/>
          <p:nvPr/>
        </p:nvSpPr>
        <p:spPr>
          <a:xfrm>
            <a:off x="640080" y="4005072"/>
            <a:ext cx="146304" cy="146304"/>
          </a:xfrm>
          <a:prstGeom prst="roundRect">
            <a:avLst>
              <a:gd name="adj" fmla="val 50000"/>
            </a:avLst>
          </a:prstGeom>
          <a:solidFill>
            <a:srgbClr val="D4AF37"/>
          </a:solidFill>
          <a:ln/>
        </p:spPr>
      </p:sp>
      <p:sp>
        <p:nvSpPr>
          <p:cNvPr id="18" name="Text 16"/>
          <p:cNvSpPr/>
          <p:nvPr/>
        </p:nvSpPr>
        <p:spPr>
          <a:xfrm>
            <a:off x="914400" y="3877056"/>
            <a:ext cx="10744200" cy="457200"/>
          </a:xfrm>
          <a:prstGeom prst="rect">
            <a:avLst/>
          </a:prstGeom>
          <a:noFill/>
          <a:ln/>
        </p:spPr>
        <p:txBody>
          <a:bodyPr wrap="square" rtlCol="0" anchor="t"/>
          <a:lstStyle/>
          <a:p>
            <a:pPr rtl="1" algn="r" indent="0" marL="0">
              <a:buNone/>
            </a:pPr>
            <a:r>
              <a:rPr lang="en-US" sz="1250" dirty="0">
                <a:solidFill>
                  <a:srgbClr val="14161A"/>
                </a:solidFill>
                <a:latin typeface="Calibri" pitchFamily="34" charset="0"/>
                <a:ea typeface="Calibri" pitchFamily="34" charset="-122"/>
                <a:cs typeface="Calibri" pitchFamily="34" charset="-120"/>
              </a:rPr>
              <a:t>اكتشاف وإصلاح خلل إنتاجي حقيقي في ربط جدول التسعير الاحتياطي (FallbackPricing) قبل أي تأثير فعلي على المستخدمين.</a:t>
            </a:r>
            <a:endParaRPr lang="en-US" sz="1250" dirty="0"/>
          </a:p>
        </p:txBody>
      </p:sp>
      <p:sp>
        <p:nvSpPr>
          <p:cNvPr id="19" name="Shape 17"/>
          <p:cNvSpPr/>
          <p:nvPr/>
        </p:nvSpPr>
        <p:spPr>
          <a:xfrm>
            <a:off x="640080" y="4507992"/>
            <a:ext cx="146304" cy="146304"/>
          </a:xfrm>
          <a:prstGeom prst="roundRect">
            <a:avLst>
              <a:gd name="adj" fmla="val 50000"/>
            </a:avLst>
          </a:prstGeom>
          <a:solidFill>
            <a:srgbClr val="D4AF37"/>
          </a:solidFill>
          <a:ln/>
        </p:spPr>
      </p:sp>
      <p:sp>
        <p:nvSpPr>
          <p:cNvPr id="20" name="Text 18"/>
          <p:cNvSpPr/>
          <p:nvPr/>
        </p:nvSpPr>
        <p:spPr>
          <a:xfrm>
            <a:off x="914400" y="4379976"/>
            <a:ext cx="10744200" cy="457200"/>
          </a:xfrm>
          <a:prstGeom prst="rect">
            <a:avLst/>
          </a:prstGeom>
          <a:noFill/>
          <a:ln/>
        </p:spPr>
        <p:txBody>
          <a:bodyPr wrap="square" rtlCol="0" anchor="t"/>
          <a:lstStyle/>
          <a:p>
            <a:pPr rtl="1" algn="r" indent="0" marL="0">
              <a:buNone/>
            </a:pPr>
            <a:r>
              <a:rPr lang="en-US" sz="1250" dirty="0">
                <a:solidFill>
                  <a:srgbClr val="14161A"/>
                </a:solidFill>
                <a:latin typeface="Calibri" pitchFamily="34" charset="0"/>
                <a:ea typeface="Calibri" pitchFamily="34" charset="-122"/>
                <a:cs typeface="Calibri" pitchFamily="34" charset="-120"/>
              </a:rPr>
              <a:t>بناء مجموعة اختبارات آلية شاملة (Feature Tests) تغطي القواعد المالية، الامتثال، ودورة حياة الشحنة الكاملة.</a:t>
            </a:r>
            <a:endParaRPr lang="en-US" sz="1250" dirty="0"/>
          </a:p>
        </p:txBody>
      </p:sp>
      <p:sp>
        <p:nvSpPr>
          <p:cNvPr id="21" name="Shape 19"/>
          <p:cNvSpPr/>
          <p:nvPr/>
        </p:nvSpPr>
        <p:spPr>
          <a:xfrm>
            <a:off x="640080" y="5010912"/>
            <a:ext cx="146304" cy="146304"/>
          </a:xfrm>
          <a:prstGeom prst="roundRect">
            <a:avLst>
              <a:gd name="adj" fmla="val 50000"/>
            </a:avLst>
          </a:prstGeom>
          <a:solidFill>
            <a:srgbClr val="D4AF37"/>
          </a:solidFill>
          <a:ln/>
        </p:spPr>
      </p:sp>
      <p:sp>
        <p:nvSpPr>
          <p:cNvPr id="22" name="Text 20"/>
          <p:cNvSpPr/>
          <p:nvPr/>
        </p:nvSpPr>
        <p:spPr>
          <a:xfrm>
            <a:off x="914400" y="4882896"/>
            <a:ext cx="10744200" cy="457200"/>
          </a:xfrm>
          <a:prstGeom prst="rect">
            <a:avLst/>
          </a:prstGeom>
          <a:noFill/>
          <a:ln/>
        </p:spPr>
        <p:txBody>
          <a:bodyPr wrap="square" rtlCol="0" anchor="t"/>
          <a:lstStyle/>
          <a:p>
            <a:pPr rtl="1" algn="r" indent="0" marL="0">
              <a:buNone/>
            </a:pPr>
            <a:r>
              <a:rPr lang="en-US" sz="1250" dirty="0">
                <a:solidFill>
                  <a:srgbClr val="14161A"/>
                </a:solidFill>
                <a:latin typeface="Calibri" pitchFamily="34" charset="0"/>
                <a:ea typeface="Calibri" pitchFamily="34" charset="-122"/>
                <a:cs typeface="Calibri" pitchFamily="34" charset="-120"/>
              </a:rPr>
              <a:t>تدقيق أمني شامل لكل نقاط الوصول للمستندات الحساسة ونقل تخزينها إلى قرص خاص محمي.</a:t>
            </a:r>
            <a:endParaRPr lang="en-US" sz="1250" dirty="0"/>
          </a:p>
        </p:txBody>
      </p:sp>
      <p:sp>
        <p:nvSpPr>
          <p:cNvPr id="23" name="Shape 21"/>
          <p:cNvSpPr/>
          <p:nvPr/>
        </p:nvSpPr>
        <p:spPr>
          <a:xfrm>
            <a:off x="640080" y="5513832"/>
            <a:ext cx="146304" cy="146304"/>
          </a:xfrm>
          <a:prstGeom prst="roundRect">
            <a:avLst>
              <a:gd name="adj" fmla="val 50000"/>
            </a:avLst>
          </a:prstGeom>
          <a:solidFill>
            <a:srgbClr val="D4AF37"/>
          </a:solidFill>
          <a:ln/>
        </p:spPr>
      </p:sp>
      <p:sp>
        <p:nvSpPr>
          <p:cNvPr id="24" name="Text 22"/>
          <p:cNvSpPr/>
          <p:nvPr/>
        </p:nvSpPr>
        <p:spPr>
          <a:xfrm>
            <a:off x="914400" y="5385816"/>
            <a:ext cx="10744200" cy="457200"/>
          </a:xfrm>
          <a:prstGeom prst="rect">
            <a:avLst/>
          </a:prstGeom>
          <a:noFill/>
          <a:ln/>
        </p:spPr>
        <p:txBody>
          <a:bodyPr wrap="square" rtlCol="0" anchor="t"/>
          <a:lstStyle/>
          <a:p>
            <a:pPr rtl="1" algn="r" indent="0" marL="0">
              <a:buNone/>
            </a:pPr>
            <a:r>
              <a:rPr lang="en-US" sz="1250" dirty="0">
                <a:solidFill>
                  <a:srgbClr val="14161A"/>
                </a:solidFill>
                <a:latin typeface="Calibri" pitchFamily="34" charset="0"/>
                <a:ea typeface="Calibri" pitchFamily="34" charset="-122"/>
                <a:cs typeface="Calibri" pitchFamily="34" charset="-120"/>
              </a:rPr>
              <a:t>توثيق فني نظيف واحترافي لكل من الكود الخلفي وتطبيق Flutter، جاهز للتسليم النهائي.</a:t>
            </a:r>
            <a:endParaRPr lang="en-US" sz="1250" dirty="0"/>
          </a:p>
        </p:txBody>
      </p:sp>
      <p:sp>
        <p:nvSpPr>
          <p:cNvPr id="25" name="Text 23"/>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rtlCol="0" anchor="ctr"/>
          <a:lstStyle/>
          <a:p>
            <a:pPr rtl="1" algn="r" indent="0" marL="0">
              <a:buNone/>
            </a:pPr>
            <a:r>
              <a:rPr lang="en-US" sz="1250" b="1" spc="100" kern="0" dirty="0">
                <a:solidFill>
                  <a:srgbClr val="B8962E"/>
                </a:solidFill>
                <a:latin typeface="Calibri" pitchFamily="34" charset="0"/>
                <a:ea typeface="Calibri" pitchFamily="34" charset="-122"/>
                <a:cs typeface="Calibri" pitchFamily="34" charset="-120"/>
              </a:rPr>
              <a:t>التحديات والعمل المستقبلي</a:t>
            </a:r>
            <a:endParaRPr lang="en-US" sz="1250" dirty="0"/>
          </a:p>
        </p:txBody>
      </p:sp>
      <p:sp>
        <p:nvSpPr>
          <p:cNvPr id="3" name="Text 1"/>
          <p:cNvSpPr/>
          <p:nvPr/>
        </p:nvSpPr>
        <p:spPr>
          <a:xfrm>
            <a:off x="548640" y="621792"/>
            <a:ext cx="11094415" cy="658368"/>
          </a:xfrm>
          <a:prstGeom prst="rect">
            <a:avLst/>
          </a:prstGeom>
          <a:noFill/>
          <a:ln/>
        </p:spPr>
        <p:txBody>
          <a:bodyPr wrap="square" rtlCol="0" anchor="ctr"/>
          <a:lstStyle/>
          <a:p>
            <a:pPr rtl="1" algn="r" indent="0" marL="0">
              <a:buNone/>
            </a:pPr>
            <a:r>
              <a:rPr lang="en-US" sz="3000" b="1" dirty="0">
                <a:solidFill>
                  <a:srgbClr val="0B1F3A"/>
                </a:solidFill>
                <a:latin typeface="Cambria" pitchFamily="34" charset="0"/>
                <a:ea typeface="Cambria" pitchFamily="34" charset="-122"/>
                <a:cs typeface="Cambria" pitchFamily="34" charset="-120"/>
              </a:rPr>
              <a:t>ماذا واجهنا، وماذا نطمح لتطويره لاحقًا</a:t>
            </a:r>
            <a:endParaRPr lang="en-US" sz="3000" dirty="0"/>
          </a:p>
        </p:txBody>
      </p:sp>
      <p:sp>
        <p:nvSpPr>
          <p:cNvPr id="4" name="Shape 2"/>
          <p:cNvSpPr/>
          <p:nvPr/>
        </p:nvSpPr>
        <p:spPr>
          <a:xfrm>
            <a:off x="548640" y="1691640"/>
            <a:ext cx="5440680" cy="4069080"/>
          </a:xfrm>
          <a:prstGeom prst="roundRect">
            <a:avLst>
              <a:gd name="adj" fmla="val 2022"/>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5" name="Shape 3"/>
          <p:cNvSpPr/>
          <p:nvPr/>
        </p:nvSpPr>
        <p:spPr>
          <a:xfrm>
            <a:off x="548640" y="1691640"/>
            <a:ext cx="5440680" cy="566928"/>
          </a:xfrm>
          <a:prstGeom prst="roundRect">
            <a:avLst>
              <a:gd name="adj" fmla="val 14516"/>
            </a:avLst>
          </a:prstGeom>
          <a:solidFill>
            <a:srgbClr val="C0392B"/>
          </a:solidFill>
          <a:ln/>
        </p:spPr>
      </p:sp>
      <p:sp>
        <p:nvSpPr>
          <p:cNvPr id="6" name="Text 4"/>
          <p:cNvSpPr/>
          <p:nvPr/>
        </p:nvSpPr>
        <p:spPr>
          <a:xfrm>
            <a:off x="548640" y="1691640"/>
            <a:ext cx="5440680" cy="566928"/>
          </a:xfrm>
          <a:prstGeom prst="rect">
            <a:avLst/>
          </a:prstGeom>
          <a:noFill/>
          <a:ln/>
        </p:spPr>
        <p:txBody>
          <a:bodyPr wrap="square" rtlCol="0" anchor="ctr"/>
          <a:lstStyle/>
          <a:p>
            <a:pPr rtl="1" algn="ctr" indent="0" marL="0">
              <a:buNone/>
            </a:pPr>
            <a:r>
              <a:rPr lang="en-US" sz="1500" b="1" dirty="0">
                <a:solidFill>
                  <a:srgbClr val="FFFFFF"/>
                </a:solidFill>
                <a:latin typeface="Calibri" pitchFamily="34" charset="0"/>
                <a:ea typeface="Calibri" pitchFamily="34" charset="-122"/>
                <a:cs typeface="Calibri" pitchFamily="34" charset="-120"/>
              </a:rPr>
              <a:t>أبرز التحديات التقنية</a:t>
            </a:r>
            <a:endParaRPr lang="en-US" sz="1500" dirty="0"/>
          </a:p>
        </p:txBody>
      </p:sp>
      <p:sp>
        <p:nvSpPr>
          <p:cNvPr id="7" name="Text 5"/>
          <p:cNvSpPr/>
          <p:nvPr/>
        </p:nvSpPr>
        <p:spPr>
          <a:xfrm>
            <a:off x="822960" y="2423160"/>
            <a:ext cx="27432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143000" y="239572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منع تسابق العمليات المالية المتزامنة (Race Conditions) على رصيد الشركة الواحدة.</a:t>
            </a:r>
            <a:endParaRPr lang="en-US" sz="1150" dirty="0"/>
          </a:p>
        </p:txBody>
      </p:sp>
      <p:sp>
        <p:nvSpPr>
          <p:cNvPr id="9" name="Text 7"/>
          <p:cNvSpPr/>
          <p:nvPr/>
        </p:nvSpPr>
        <p:spPr>
          <a:xfrm>
            <a:off x="822960" y="3246120"/>
            <a:ext cx="27432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143000" y="321868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الحفاظ على تتبع GPS حي فعّال رغم قيود أنظمة الموبايل الصارمة على العمل بالخلفية.</a:t>
            </a:r>
            <a:endParaRPr lang="en-US" sz="1150" dirty="0"/>
          </a:p>
        </p:txBody>
      </p:sp>
      <p:sp>
        <p:nvSpPr>
          <p:cNvPr id="11" name="Text 9"/>
          <p:cNvSpPr/>
          <p:nvPr/>
        </p:nvSpPr>
        <p:spPr>
          <a:xfrm>
            <a:off x="822960" y="4069080"/>
            <a:ext cx="27432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143000" y="404164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تصميم خوارزمية مطابقة تفصل بدقة بين الأهلية الحرجة والتفضيل النسبي دون تعقيد مفرط.</a:t>
            </a:r>
            <a:endParaRPr lang="en-US" sz="1150" dirty="0"/>
          </a:p>
        </p:txBody>
      </p:sp>
      <p:sp>
        <p:nvSpPr>
          <p:cNvPr id="13" name="Text 11"/>
          <p:cNvSpPr/>
          <p:nvPr/>
        </p:nvSpPr>
        <p:spPr>
          <a:xfrm>
            <a:off x="822960" y="4892040"/>
            <a:ext cx="274320" cy="457200"/>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1143000" y="486460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ضمان اتساق قواعد الامتثال بين الرحلات الداخلية والخارجية دون تكرار المنطق.</a:t>
            </a:r>
            <a:endParaRPr lang="en-US" sz="1150" dirty="0"/>
          </a:p>
        </p:txBody>
      </p:sp>
      <p:sp>
        <p:nvSpPr>
          <p:cNvPr id="15" name="Shape 13"/>
          <p:cNvSpPr/>
          <p:nvPr/>
        </p:nvSpPr>
        <p:spPr>
          <a:xfrm>
            <a:off x="6217920" y="1691640"/>
            <a:ext cx="5440680" cy="4069080"/>
          </a:xfrm>
          <a:prstGeom prst="roundRect">
            <a:avLst>
              <a:gd name="adj" fmla="val 2022"/>
            </a:avLst>
          </a:prstGeom>
          <a:solidFill>
            <a:srgbClr val="FFFFFF"/>
          </a:solidFill>
          <a:ln w="12700">
            <a:solidFill>
              <a:srgbClr val="E3E5EA"/>
            </a:solidFill>
            <a:prstDash val="solid"/>
          </a:ln>
          <a:effectLst>
            <a:outerShdw sx="100000" sy="100000" kx="0" ky="0" algn="bl" rotWithShape="0" blurRad="127000" dist="38100" dir="5400000">
              <a:srgbClr val="8A96A8">
                <a:alpha val="22000"/>
              </a:srgbClr>
            </a:outerShdw>
          </a:effectLst>
        </p:spPr>
      </p:sp>
      <p:sp>
        <p:nvSpPr>
          <p:cNvPr id="16" name="Shape 14"/>
          <p:cNvSpPr/>
          <p:nvPr/>
        </p:nvSpPr>
        <p:spPr>
          <a:xfrm>
            <a:off x="6217920" y="1691640"/>
            <a:ext cx="5440680" cy="566928"/>
          </a:xfrm>
          <a:prstGeom prst="roundRect">
            <a:avLst>
              <a:gd name="adj" fmla="val 14516"/>
            </a:avLst>
          </a:prstGeom>
          <a:solidFill>
            <a:srgbClr val="16A34A"/>
          </a:solidFill>
          <a:ln/>
        </p:spPr>
      </p:sp>
      <p:sp>
        <p:nvSpPr>
          <p:cNvPr id="17" name="Text 15"/>
          <p:cNvSpPr/>
          <p:nvPr/>
        </p:nvSpPr>
        <p:spPr>
          <a:xfrm>
            <a:off x="6217920" y="1691640"/>
            <a:ext cx="5440680" cy="566928"/>
          </a:xfrm>
          <a:prstGeom prst="rect">
            <a:avLst/>
          </a:prstGeom>
          <a:noFill/>
          <a:ln/>
        </p:spPr>
        <p:txBody>
          <a:bodyPr wrap="square" rtlCol="0" anchor="ctr"/>
          <a:lstStyle/>
          <a:p>
            <a:pPr rtl="1" algn="ctr" indent="0" marL="0">
              <a:buNone/>
            </a:pPr>
            <a:r>
              <a:rPr lang="en-US" sz="1500" b="1" dirty="0">
                <a:solidFill>
                  <a:srgbClr val="FFFFFF"/>
                </a:solidFill>
                <a:latin typeface="Calibri" pitchFamily="34" charset="0"/>
                <a:ea typeface="Calibri" pitchFamily="34" charset="-122"/>
                <a:cs typeface="Calibri" pitchFamily="34" charset="-120"/>
              </a:rPr>
              <a:t>العمل المستقبلي</a:t>
            </a:r>
            <a:endParaRPr lang="en-US" sz="1500" dirty="0"/>
          </a:p>
        </p:txBody>
      </p:sp>
      <p:sp>
        <p:nvSpPr>
          <p:cNvPr id="18" name="Text 16"/>
          <p:cNvSpPr/>
          <p:nvPr/>
        </p:nvSpPr>
        <p:spPr>
          <a:xfrm>
            <a:off x="6492240" y="2423160"/>
            <a:ext cx="274320" cy="457200"/>
          </a:xfrm>
          <a:prstGeom prst="rect">
            <a:avLst/>
          </a:prstGeom>
          <a:noFill/>
          <a:ln/>
        </p:spPr>
        <p:txBody>
          <a:bodyPr wrap="square" rtlCol="0" anchor="ct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6812280" y="239572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استبدال مسافة Haversine بزمن طريق فعلي عبر خدمة توجيه (Routing API) حقيقية.</a:t>
            </a:r>
            <a:endParaRPr lang="en-US" sz="1150" dirty="0"/>
          </a:p>
        </p:txBody>
      </p:sp>
      <p:sp>
        <p:nvSpPr>
          <p:cNvPr id="20" name="Text 18"/>
          <p:cNvSpPr/>
          <p:nvPr/>
        </p:nvSpPr>
        <p:spPr>
          <a:xfrm>
            <a:off x="6492240" y="3246120"/>
            <a:ext cx="274320" cy="457200"/>
          </a:xfrm>
          <a:prstGeom prst="rect">
            <a:avLst/>
          </a:prstGeom>
          <a:noFill/>
          <a:ln/>
        </p:spPr>
        <p:txBody>
          <a:bodyPr wrap="square" rtlCol="0" anchor="ct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6812280" y="321868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دعم رفع وعرض مستندات PDF مباشرة داخل التطبيق دون الاقتصار على الصور.</a:t>
            </a:r>
            <a:endParaRPr lang="en-US" sz="1150" dirty="0"/>
          </a:p>
        </p:txBody>
      </p:sp>
      <p:sp>
        <p:nvSpPr>
          <p:cNvPr id="22" name="Text 20"/>
          <p:cNvSpPr/>
          <p:nvPr/>
        </p:nvSpPr>
        <p:spPr>
          <a:xfrm>
            <a:off x="6492240" y="4069080"/>
            <a:ext cx="274320" cy="457200"/>
          </a:xfrm>
          <a:prstGeom prst="rect">
            <a:avLst/>
          </a:prstGeom>
          <a:noFill/>
          <a:ln/>
        </p:spPr>
        <p:txBody>
          <a:bodyPr wrap="square" rtlCol="0" anchor="ct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812280" y="404164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تعلّم آلي بسيط من بيانات استجابة السائقين لتحسين أوزان الترتيب تلقائيًا مع الوقت.</a:t>
            </a:r>
            <a:endParaRPr lang="en-US" sz="1150" dirty="0"/>
          </a:p>
        </p:txBody>
      </p:sp>
      <p:sp>
        <p:nvSpPr>
          <p:cNvPr id="24" name="Text 22"/>
          <p:cNvSpPr/>
          <p:nvPr/>
        </p:nvSpPr>
        <p:spPr>
          <a:xfrm>
            <a:off x="6492240" y="4892040"/>
            <a:ext cx="274320" cy="457200"/>
          </a:xfrm>
          <a:prstGeom prst="rect">
            <a:avLst/>
          </a:prstGeom>
          <a:noFill/>
          <a:ln/>
        </p:spPr>
        <p:txBody>
          <a:bodyPr wrap="square" rtlCol="0" anchor="ct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812280" y="4864608"/>
            <a:ext cx="4617720" cy="685800"/>
          </a:xfrm>
          <a:prstGeom prst="rect">
            <a:avLst/>
          </a:prstGeom>
          <a:noFill/>
          <a:ln/>
        </p:spPr>
        <p:txBody>
          <a:bodyPr wrap="square" rtlCol="0" anchor="t"/>
          <a:lstStyle/>
          <a:p>
            <a:pPr rtl="1" algn="r" indent="0" marL="0">
              <a:buNone/>
            </a:pPr>
            <a:r>
              <a:rPr lang="en-US" sz="1150" dirty="0">
                <a:solidFill>
                  <a:srgbClr val="14161A"/>
                </a:solidFill>
                <a:latin typeface="Calibri" pitchFamily="34" charset="0"/>
                <a:ea typeface="Calibri" pitchFamily="34" charset="-122"/>
                <a:cs typeface="Calibri" pitchFamily="34" charset="-120"/>
              </a:rPr>
              <a:t>لوحات تقارير تحليلية أعمق للإدارة (اتجاهات الأسعار، أداء السائقين عبر الزمن).</a:t>
            </a:r>
            <a:endParaRPr lang="en-US" sz="1150" dirty="0"/>
          </a:p>
        </p:txBody>
      </p:sp>
      <p:sp>
        <p:nvSpPr>
          <p:cNvPr id="26" name="Text 24"/>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27" name="Text 25"/>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p:nvPr/>
        </p:nvSpPr>
        <p:spPr>
          <a:xfrm>
            <a:off x="548640" y="2331720"/>
            <a:ext cx="11094415" cy="822960"/>
          </a:xfrm>
          <a:prstGeom prst="rect">
            <a:avLst/>
          </a:prstGeom>
          <a:noFill/>
          <a:ln/>
        </p:spPr>
        <p:txBody>
          <a:bodyPr wrap="square" rtlCol="0" anchor="ctr"/>
          <a:lstStyle/>
          <a:p>
            <a:pPr rtl="1" algn="ctr" indent="0" marL="0">
              <a:buNone/>
            </a:pPr>
            <a:r>
              <a:rPr lang="en-US" sz="4000" b="1" dirty="0">
                <a:solidFill>
                  <a:srgbClr val="FFFFFF"/>
                </a:solidFill>
                <a:latin typeface="Cambria" pitchFamily="34" charset="0"/>
                <a:ea typeface="Cambria" pitchFamily="34" charset="-122"/>
                <a:cs typeface="Cambria" pitchFamily="34" charset="-120"/>
              </a:rPr>
              <a:t>شكرًا لحسن استماعكم</a:t>
            </a:r>
            <a:endParaRPr lang="en-US" sz="4000" dirty="0"/>
          </a:p>
        </p:txBody>
      </p:sp>
      <p:sp>
        <p:nvSpPr>
          <p:cNvPr id="4" name="Shape 2"/>
          <p:cNvSpPr/>
          <p:nvPr/>
        </p:nvSpPr>
        <p:spPr>
          <a:xfrm>
            <a:off x="5272888" y="3246120"/>
            <a:ext cx="1645920" cy="0"/>
          </a:xfrm>
          <a:prstGeom prst="line">
            <a:avLst/>
          </a:prstGeom>
          <a:noFill/>
          <a:ln w="25400">
            <a:solidFill>
              <a:srgbClr val="D4AF37"/>
            </a:solidFill>
            <a:prstDash val="solid"/>
          </a:ln>
        </p:spPr>
      </p:sp>
      <p:sp>
        <p:nvSpPr>
          <p:cNvPr id="5" name="Text 3"/>
          <p:cNvSpPr/>
          <p:nvPr/>
        </p:nvSpPr>
        <p:spPr>
          <a:xfrm>
            <a:off x="548640" y="3429000"/>
            <a:ext cx="11094415" cy="457200"/>
          </a:xfrm>
          <a:prstGeom prst="rect">
            <a:avLst/>
          </a:prstGeom>
          <a:noFill/>
          <a:ln/>
        </p:spPr>
        <p:txBody>
          <a:bodyPr wrap="square" rtlCol="0" anchor="ctr"/>
          <a:lstStyle/>
          <a:p>
            <a:pPr rtl="1" algn="ctr" indent="0" marL="0">
              <a:buNone/>
            </a:pPr>
            <a:r>
              <a:rPr lang="en-US" sz="1600" dirty="0">
                <a:solidFill>
                  <a:srgbClr val="D4AF37"/>
                </a:solidFill>
                <a:latin typeface="Calibri" pitchFamily="34" charset="0"/>
                <a:ea typeface="Calibri" pitchFamily="34" charset="-122"/>
                <a:cs typeface="Calibri" pitchFamily="34" charset="-120"/>
              </a:rPr>
              <a:t>والآن نرحّب بأسئلة واستفسارات لجنة المناقشة الموقّرة</a:t>
            </a:r>
            <a:endParaRPr lang="en-US" sz="1600" dirty="0"/>
          </a:p>
        </p:txBody>
      </p:sp>
      <p:sp>
        <p:nvSpPr>
          <p:cNvPr id="6" name="Shape 4"/>
          <p:cNvSpPr/>
          <p:nvPr/>
        </p:nvSpPr>
        <p:spPr>
          <a:xfrm>
            <a:off x="2804008" y="4297680"/>
            <a:ext cx="6583680" cy="1005840"/>
          </a:xfrm>
          <a:prstGeom prst="roundRect">
            <a:avLst>
              <a:gd name="adj" fmla="val 8182"/>
            </a:avLst>
          </a:prstGeom>
          <a:solidFill>
            <a:srgbClr val="16213E"/>
          </a:solidFill>
          <a:ln w="12700">
            <a:solidFill>
              <a:srgbClr val="16213E"/>
            </a:solidFill>
            <a:prstDash val="solid"/>
          </a:ln>
          <a:effectLst>
            <a:outerShdw sx="100000" sy="100000" kx="0" ky="0" algn="bl" rotWithShape="0" blurRad="127000" dist="38100" dir="5400000">
              <a:srgbClr val="8A96A8">
                <a:alpha val="22000"/>
              </a:srgbClr>
            </a:outerShdw>
          </a:effectLst>
        </p:spPr>
      </p:sp>
      <p:sp>
        <p:nvSpPr>
          <p:cNvPr id="7" name="Text 5"/>
          <p:cNvSpPr/>
          <p:nvPr/>
        </p:nvSpPr>
        <p:spPr>
          <a:xfrm>
            <a:off x="2986888" y="4297680"/>
            <a:ext cx="6217920" cy="1005840"/>
          </a:xfrm>
          <a:prstGeom prst="rect">
            <a:avLst/>
          </a:prstGeom>
          <a:noFill/>
          <a:ln/>
        </p:spPr>
        <p:txBody>
          <a:bodyPr wrap="square" rtlCol="0" anchor="ctr"/>
          <a:lstStyle/>
          <a:p>
            <a:pPr rtl="1" algn="ctr" indent="0" marL="0">
              <a:buNone/>
            </a:pPr>
            <a:r>
              <a:rPr lang="en-US" sz="1300" b="1" dirty="0">
                <a:solidFill>
                  <a:srgbClr val="FFFFFF"/>
                </a:solidFill>
                <a:latin typeface="Calibri" pitchFamily="34" charset="0"/>
                <a:ea typeface="Calibri" pitchFamily="34" charset="-122"/>
                <a:cs typeface="Calibri" pitchFamily="34" charset="-120"/>
              </a:rPr>
              <a:t>نظام إدارة الشحن الذكي (FMS)   —   محمد نورالدين الحموي  &amp;  محمد مصطفى الزعبي</a:t>
            </a:r>
            <a:endParaRPr lang="en-US" sz="1300" dirty="0"/>
          </a:p>
        </p:txBody>
      </p:sp>
      <p:sp>
        <p:nvSpPr>
          <p:cNvPr id="8" name="Text 6"/>
          <p:cNvSpPr/>
          <p:nvPr/>
        </p:nvSpPr>
        <p:spPr>
          <a:xfrm>
            <a:off x="457200" y="6473952"/>
            <a:ext cx="10637215" cy="274320"/>
          </a:xfrm>
          <a:prstGeom prst="rect">
            <a:avLst/>
          </a:prstGeom>
          <a:noFill/>
          <a:ln/>
        </p:spPr>
        <p:txBody>
          <a:bodyPr wrap="square" rtlCol="0" anchor="ctr"/>
          <a:lstStyle/>
          <a:p>
            <a:pPr rtl="1" algn="r" indent="0" marL="0">
              <a:buNone/>
            </a:pPr>
            <a:r>
              <a:rPr lang="en-US" sz="900" dirty="0">
                <a:solidFill>
                  <a:srgbClr val="AEB6C4"/>
                </a:solidFill>
                <a:latin typeface="Calibri" pitchFamily="34" charset="0"/>
                <a:ea typeface="Calibri" pitchFamily="34" charset="-122"/>
                <a:cs typeface="Calibri" pitchFamily="34" charset="-120"/>
              </a:rPr>
              <a:t>نظام إدارة الشحن الذكي (FMS) — جامعة دمشق، كلية الهندسة المعلوماتية</a:t>
            </a:r>
            <a:endParaRPr lang="en-US" sz="900" dirty="0"/>
          </a:p>
        </p:txBody>
      </p:sp>
      <p:sp>
        <p:nvSpPr>
          <p:cNvPr id="9" name="Text 7"/>
          <p:cNvSpPr/>
          <p:nvPr/>
        </p:nvSpPr>
        <p:spPr>
          <a:xfrm>
            <a:off x="11277295" y="6473952"/>
            <a:ext cx="457200" cy="274320"/>
          </a:xfrm>
          <a:prstGeom prst="rect">
            <a:avLst/>
          </a:prstGeom>
          <a:noFill/>
          <a:ln/>
        </p:spPr>
        <p:txBody>
          <a:bodyPr wrap="square" rtlCol="0" anchor="ctr"/>
          <a:lstStyle/>
          <a:p>
            <a:pPr algn="ctr" indent="0" marL="0">
              <a:buNone/>
            </a:pPr>
            <a:r>
              <a:rPr lang="en-US" sz="900" dirty="0">
                <a:solidFill>
                  <a:srgbClr val="AEB6C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2026-08-21T06:34:14Z</dcterms:created>
  <dcterms:modified xsi:type="dcterms:W3CDTF">2026-08-21T06:34:14Z</dcterms:modified>
</cp:coreProperties>
</file>